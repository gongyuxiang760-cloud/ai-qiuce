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274320"/>
            <a:ext cx="4114800" cy="1097280"/>
          </a:xfrm>
          <a:prstGeom prst="rect">
            <a:avLst/>
          </a:prstGeom>
          <a:noFill/>
        </p:spPr>
        <p:txBody>
          <a:bodyPr wrap="square" anchor="t">
            <a:spAutoFit/>
          </a:bodyPr>
          <a:lstStyle/>
          <a:p>
            <a:pPr algn="ctr"/>
            <a:r>
              <a:rPr sz="7200" b="1">
                <a:solidFill>
                  <a:srgbClr val="D0DCF0"/>
                </a:solidFill>
                <a:latin typeface="微软雅黑"/>
                <a:ea typeface="微软雅黑"/>
              </a:rPr>
              <a:t>202X</a:t>
            </a:r>
          </a:p>
        </p:txBody>
      </p:sp>
      <p:sp>
        <p:nvSpPr>
          <p:cNvPr id="4" name="TextBox 3"/>
          <p:cNvSpPr txBox="1"/>
          <p:nvPr/>
        </p:nvSpPr>
        <p:spPr>
          <a:xfrm>
            <a:off x="1828800" y="502920"/>
            <a:ext cx="8503920" cy="731520"/>
          </a:xfrm>
          <a:prstGeom prst="rect">
            <a:avLst/>
          </a:prstGeom>
          <a:noFill/>
        </p:spPr>
        <p:txBody>
          <a:bodyPr wrap="square" anchor="t">
            <a:spAutoFit/>
          </a:bodyPr>
          <a:lstStyle/>
          <a:p>
            <a:pPr algn="ctr"/>
            <a:r>
              <a:rPr sz="3600" b="1">
                <a:solidFill>
                  <a:srgbClr val="2E7D32"/>
                </a:solidFill>
                <a:latin typeface="微软雅黑"/>
                <a:ea typeface="微软雅黑"/>
              </a:rPr>
              <a:t>循证为护  通肺康固</a:t>
            </a:r>
          </a:p>
        </p:txBody>
      </p:sp>
      <p:sp>
        <p:nvSpPr>
          <p:cNvPr id="5" name="TextBox 4"/>
          <p:cNvSpPr txBox="1"/>
          <p:nvPr/>
        </p:nvSpPr>
        <p:spPr>
          <a:xfrm>
            <a:off x="1828800" y="1234440"/>
            <a:ext cx="8503920" cy="411480"/>
          </a:xfrm>
          <a:prstGeom prst="rect">
            <a:avLst/>
          </a:prstGeom>
          <a:noFill/>
        </p:spPr>
        <p:txBody>
          <a:bodyPr wrap="square" anchor="t">
            <a:spAutoFit/>
          </a:bodyPr>
          <a:lstStyle/>
          <a:p>
            <a:pPr algn="ctr"/>
            <a:r>
              <a:rPr sz="1800" b="1">
                <a:solidFill>
                  <a:srgbClr val="D32F2F"/>
                </a:solidFill>
                <a:latin typeface="微软雅黑"/>
                <a:ea typeface="微软雅黑"/>
              </a:rPr>
              <a:t>·基于高级健康评估·</a:t>
            </a:r>
          </a:p>
        </p:txBody>
      </p:sp>
      <p:sp>
        <p:nvSpPr>
          <p:cNvPr id="6" name="Rectangle 5"/>
          <p:cNvSpPr/>
          <p:nvPr/>
        </p:nvSpPr>
        <p:spPr>
          <a:xfrm>
            <a:off x="0" y="1920240"/>
            <a:ext cx="12191695" cy="23774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48840"/>
            <a:ext cx="10332720" cy="640080"/>
          </a:xfrm>
          <a:prstGeom prst="rect">
            <a:avLst/>
          </a:prstGeom>
          <a:noFill/>
        </p:spPr>
        <p:txBody>
          <a:bodyPr wrap="square" anchor="t">
            <a:spAutoFit/>
          </a:bodyPr>
          <a:lstStyle/>
          <a:p>
            <a:pPr algn="ctr"/>
            <a:r>
              <a:rPr sz="3200" b="1">
                <a:solidFill>
                  <a:srgbClr val="FFFFFF"/>
                </a:solidFill>
                <a:latin typeface="微软雅黑"/>
                <a:ea typeface="微软雅黑"/>
              </a:rPr>
              <a:t>一例慢性阻塞性肺疾病患者</a:t>
            </a:r>
          </a:p>
        </p:txBody>
      </p:sp>
      <p:sp>
        <p:nvSpPr>
          <p:cNvPr id="8" name="TextBox 7"/>
          <p:cNvSpPr txBox="1"/>
          <p:nvPr/>
        </p:nvSpPr>
        <p:spPr>
          <a:xfrm>
            <a:off x="914400" y="2788920"/>
            <a:ext cx="10332720" cy="548640"/>
          </a:xfrm>
          <a:prstGeom prst="rect">
            <a:avLst/>
          </a:prstGeom>
          <a:noFill/>
        </p:spPr>
        <p:txBody>
          <a:bodyPr wrap="square" anchor="t">
            <a:spAutoFit/>
          </a:bodyPr>
          <a:lstStyle/>
          <a:p>
            <a:pPr algn="ctr"/>
            <a:r>
              <a:rPr sz="3200" b="1">
                <a:solidFill>
                  <a:srgbClr val="FFFFFF"/>
                </a:solidFill>
                <a:latin typeface="微软雅黑"/>
                <a:ea typeface="微软雅黑"/>
              </a:rPr>
              <a:t>的个案护理</a:t>
            </a:r>
          </a:p>
        </p:txBody>
      </p:sp>
      <p:sp>
        <p:nvSpPr>
          <p:cNvPr id="9" name="Rounded Rectangle 8"/>
          <p:cNvSpPr/>
          <p:nvPr/>
        </p:nvSpPr>
        <p:spPr>
          <a:xfrm>
            <a:off x="2926080" y="3520440"/>
            <a:ext cx="292608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3520440"/>
            <a:ext cx="2926080" cy="411480"/>
          </a:xfrm>
          <a:prstGeom prst="rect">
            <a:avLst/>
          </a:prstGeom>
          <a:noFill/>
        </p:spPr>
        <p:txBody>
          <a:bodyPr wrap="square" anchor="ctr">
            <a:spAutoFit/>
          </a:bodyPr>
          <a:lstStyle/>
          <a:p>
            <a:pPr algn="ctr"/>
            <a:r>
              <a:rPr sz="1300" b="1">
                <a:solidFill>
                  <a:srgbClr val="1A1A1A"/>
                </a:solidFill>
                <a:latin typeface="微软雅黑"/>
                <a:ea typeface="微软雅黑"/>
              </a:rPr>
              <a:t>汇报人：李小护 PPT</a:t>
            </a:r>
          </a:p>
        </p:txBody>
      </p:sp>
      <p:sp>
        <p:nvSpPr>
          <p:cNvPr id="11" name="Rounded Rectangle 10"/>
          <p:cNvSpPr/>
          <p:nvPr/>
        </p:nvSpPr>
        <p:spPr>
          <a:xfrm>
            <a:off x="6217920" y="3520440"/>
            <a:ext cx="2926080"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3520440"/>
            <a:ext cx="2926080" cy="411480"/>
          </a:xfrm>
          <a:prstGeom prst="rect">
            <a:avLst/>
          </a:prstGeom>
          <a:noFill/>
        </p:spPr>
        <p:txBody>
          <a:bodyPr wrap="square" anchor="ctr">
            <a:spAutoFit/>
          </a:bodyPr>
          <a:lstStyle/>
          <a:p>
            <a:pPr algn="ctr"/>
            <a:r>
              <a:rPr sz="1300" b="1">
                <a:solidFill>
                  <a:srgbClr val="1A1A1A"/>
                </a:solidFill>
                <a:latin typeface="微软雅黑"/>
                <a:ea typeface="微软雅黑"/>
              </a:rPr>
              <a:t>时间：202X.XX.XX</a:t>
            </a:r>
          </a:p>
        </p:txBody>
      </p:sp>
      <p:sp>
        <p:nvSpPr>
          <p:cNvPr id="13" name="Rectangle 12"/>
          <p:cNvSpPr/>
          <p:nvPr/>
        </p:nvSpPr>
        <p:spPr>
          <a:xfrm>
            <a:off x="0" y="4572000"/>
            <a:ext cx="12191695" cy="2286000"/>
          </a:xfrm>
          <a:prstGeom prst="rect">
            <a:avLst/>
          </a:prstGeom>
          <a:solidFill>
            <a:srgbClr val="B8C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5760720"/>
            <a:ext cx="822960" cy="1097280"/>
          </a:xfrm>
          <a:prstGeom prst="rect">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 y="5486400"/>
            <a:ext cx="822960" cy="1371600"/>
          </a:xfrm>
          <a:prstGeom prst="rect">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103120" y="5943600"/>
            <a:ext cx="822960" cy="914400"/>
          </a:xfrm>
          <a:prstGeom prst="rect">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0" y="5577840"/>
            <a:ext cx="822960" cy="1280160"/>
          </a:xfrm>
          <a:prstGeom prst="rect">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5852160"/>
            <a:ext cx="822960" cy="1005840"/>
          </a:xfrm>
          <a:prstGeom prst="rect">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0" y="5394960"/>
            <a:ext cx="822960" cy="1463040"/>
          </a:xfrm>
          <a:prstGeom prst="rect">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75120" y="5760720"/>
            <a:ext cx="822960" cy="1097280"/>
          </a:xfrm>
          <a:prstGeom prst="rect">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63840" y="5486400"/>
            <a:ext cx="822960" cy="1371600"/>
          </a:xfrm>
          <a:prstGeom prst="rect">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5852160"/>
            <a:ext cx="822960" cy="1005840"/>
          </a:xfrm>
          <a:prstGeom prst="rect">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424160" y="5669280"/>
            <a:ext cx="822960" cy="1188720"/>
          </a:xfrm>
          <a:prstGeom prst="rect">
            <a:avLst/>
          </a:prstGeom>
          <a:solidFill>
            <a:srgbClr val="3D5A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492240"/>
            <a:ext cx="10972800" cy="274320"/>
          </a:xfrm>
          <a:prstGeom prst="rect">
            <a:avLst/>
          </a:prstGeom>
          <a:noFill/>
        </p:spPr>
        <p:txBody>
          <a:bodyPr wrap="square" anchor="t">
            <a:spAutoFit/>
          </a:bodyPr>
          <a:lstStyle/>
          <a:p>
            <a:pPr algn="ctr"/>
            <a:r>
              <a:rPr sz="1100" b="0">
                <a:solidFill>
                  <a:srgbClr val="FFFFFF"/>
                </a:solidFill>
                <a:latin typeface="微软雅黑"/>
                <a:ea typeface="微软雅黑"/>
              </a:rPr>
              <a:t>护理个案汇报  ·  高级健康评估  ·  多重风险管控</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457200"/>
            <a:ext cx="3474720" cy="347472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548640" cy="2011680"/>
          </a:xfrm>
          <a:prstGeom prst="rect">
            <a:avLst/>
          </a:prstGeom>
          <a:noFill/>
        </p:spPr>
        <p:txBody>
          <a:bodyPr wrap="square" anchor="t">
            <a:spAutoFit/>
          </a:bodyPr>
          <a:lstStyle/>
          <a:p>
            <a:pPr algn="ctr"/>
            <a:r>
              <a:rPr sz="1400" b="1">
                <a:solidFill>
                  <a:srgbClr val="FFFFFF"/>
                </a:solidFill>
                <a:latin typeface="微软雅黑"/>
                <a:ea typeface="微软雅黑"/>
              </a:rPr>
              <a:t>CONTENTS</a:t>
            </a:r>
          </a:p>
        </p:txBody>
      </p:sp>
      <p:sp>
        <p:nvSpPr>
          <p:cNvPr id="6" name="TextBox 5"/>
          <p:cNvSpPr txBox="1"/>
          <p:nvPr/>
        </p:nvSpPr>
        <p:spPr>
          <a:xfrm>
            <a:off x="1188720" y="1463040"/>
            <a:ext cx="2377440" cy="1371600"/>
          </a:xfrm>
          <a:prstGeom prst="rect">
            <a:avLst/>
          </a:prstGeom>
          <a:noFill/>
        </p:spPr>
        <p:txBody>
          <a:bodyPr wrap="square" anchor="t">
            <a:spAutoFit/>
          </a:bodyPr>
          <a:lstStyle/>
          <a:p>
            <a:pPr algn="ctr"/>
            <a:r>
              <a:rPr sz="5400" b="1">
                <a:solidFill>
                  <a:srgbClr val="FFFFFF"/>
                </a:solidFill>
                <a:latin typeface="微软雅黑"/>
                <a:ea typeface="微软雅黑"/>
              </a:rPr>
              <a:t>目录</a:t>
            </a:r>
          </a:p>
        </p:txBody>
      </p:sp>
      <p:sp>
        <p:nvSpPr>
          <p:cNvPr id="7" name="Rounded Rectangle 6"/>
          <p:cNvSpPr/>
          <p:nvPr/>
        </p:nvSpPr>
        <p:spPr>
          <a:xfrm>
            <a:off x="4754880" y="548640"/>
            <a:ext cx="777240" cy="77724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548640"/>
            <a:ext cx="777240" cy="777240"/>
          </a:xfrm>
          <a:prstGeom prst="rect">
            <a:avLst/>
          </a:prstGeom>
          <a:noFill/>
        </p:spPr>
        <p:txBody>
          <a:bodyPr wrap="square" anchor="ctr">
            <a:spAutoFit/>
          </a:bodyPr>
          <a:lstStyle/>
          <a:p>
            <a:pPr algn="ctr"/>
            <a:r>
              <a:rPr sz="2200" b="1">
                <a:solidFill>
                  <a:srgbClr val="1E3A8A"/>
                </a:solidFill>
                <a:latin typeface="微软雅黑"/>
                <a:ea typeface="微软雅黑"/>
              </a:rPr>
              <a:t>01</a:t>
            </a:r>
          </a:p>
        </p:txBody>
      </p:sp>
      <p:sp>
        <p:nvSpPr>
          <p:cNvPr id="9" name="TextBox 8"/>
          <p:cNvSpPr txBox="1"/>
          <p:nvPr/>
        </p:nvSpPr>
        <p:spPr>
          <a:xfrm>
            <a:off x="5760720" y="594360"/>
            <a:ext cx="5486400" cy="411480"/>
          </a:xfrm>
          <a:prstGeom prst="rect">
            <a:avLst/>
          </a:prstGeom>
          <a:noFill/>
        </p:spPr>
        <p:txBody>
          <a:bodyPr wrap="square" anchor="t">
            <a:spAutoFit/>
          </a:bodyPr>
          <a:lstStyle/>
          <a:p>
            <a:pPr algn="l"/>
            <a:r>
              <a:rPr sz="2600" b="1">
                <a:solidFill>
                  <a:srgbClr val="1A1A1A"/>
                </a:solidFill>
                <a:latin typeface="微软雅黑"/>
                <a:ea typeface="微软雅黑"/>
              </a:rPr>
              <a:t>前言背景</a:t>
            </a:r>
          </a:p>
        </p:txBody>
      </p:sp>
      <p:sp>
        <p:nvSpPr>
          <p:cNvPr id="10" name="TextBox 9"/>
          <p:cNvSpPr txBox="1"/>
          <p:nvPr/>
        </p:nvSpPr>
        <p:spPr>
          <a:xfrm>
            <a:off x="5760720" y="1005840"/>
            <a:ext cx="5486400" cy="320040"/>
          </a:xfrm>
          <a:prstGeom prst="rect">
            <a:avLst/>
          </a:prstGeom>
          <a:noFill/>
        </p:spPr>
        <p:txBody>
          <a:bodyPr wrap="square" anchor="t">
            <a:spAutoFit/>
          </a:bodyPr>
          <a:lstStyle/>
          <a:p>
            <a:pPr algn="l"/>
            <a:r>
              <a:rPr sz="1200" b="0">
                <a:solidFill>
                  <a:srgbClr val="90A0B0"/>
                </a:solidFill>
                <a:latin typeface="微软雅黑"/>
                <a:ea typeface="微软雅黑"/>
              </a:rPr>
              <a:t>Background of the Preface</a:t>
            </a:r>
          </a:p>
        </p:txBody>
      </p:sp>
      <p:sp>
        <p:nvSpPr>
          <p:cNvPr id="11" name="Rectangle 10"/>
          <p:cNvSpPr/>
          <p:nvPr/>
        </p:nvSpPr>
        <p:spPr>
          <a:xfrm>
            <a:off x="5760720" y="1463040"/>
            <a:ext cx="5029200" cy="13716"/>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754880" y="1600200"/>
            <a:ext cx="777240" cy="77724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0" y="1600200"/>
            <a:ext cx="777240" cy="777240"/>
          </a:xfrm>
          <a:prstGeom prst="rect">
            <a:avLst/>
          </a:prstGeom>
          <a:noFill/>
        </p:spPr>
        <p:txBody>
          <a:bodyPr wrap="square" anchor="ctr">
            <a:spAutoFit/>
          </a:bodyPr>
          <a:lstStyle/>
          <a:p>
            <a:pPr algn="ctr"/>
            <a:r>
              <a:rPr sz="2200" b="1">
                <a:solidFill>
                  <a:srgbClr val="1E3A8A"/>
                </a:solidFill>
                <a:latin typeface="微软雅黑"/>
                <a:ea typeface="微软雅黑"/>
              </a:rPr>
              <a:t>02</a:t>
            </a:r>
          </a:p>
        </p:txBody>
      </p:sp>
      <p:sp>
        <p:nvSpPr>
          <p:cNvPr id="14" name="TextBox 13"/>
          <p:cNvSpPr txBox="1"/>
          <p:nvPr/>
        </p:nvSpPr>
        <p:spPr>
          <a:xfrm>
            <a:off x="5760720" y="1645920"/>
            <a:ext cx="5486400" cy="411480"/>
          </a:xfrm>
          <a:prstGeom prst="rect">
            <a:avLst/>
          </a:prstGeom>
          <a:noFill/>
        </p:spPr>
        <p:txBody>
          <a:bodyPr wrap="square" anchor="t">
            <a:spAutoFit/>
          </a:bodyPr>
          <a:lstStyle/>
          <a:p>
            <a:pPr algn="l"/>
            <a:r>
              <a:rPr sz="2600" b="1">
                <a:solidFill>
                  <a:srgbClr val="1A1A1A"/>
                </a:solidFill>
                <a:latin typeface="微软雅黑"/>
                <a:ea typeface="微软雅黑"/>
              </a:rPr>
              <a:t>病例介绍</a:t>
            </a:r>
          </a:p>
        </p:txBody>
      </p:sp>
      <p:sp>
        <p:nvSpPr>
          <p:cNvPr id="15" name="TextBox 14"/>
          <p:cNvSpPr txBox="1"/>
          <p:nvPr/>
        </p:nvSpPr>
        <p:spPr>
          <a:xfrm>
            <a:off x="5760720" y="2057400"/>
            <a:ext cx="5486400" cy="320040"/>
          </a:xfrm>
          <a:prstGeom prst="rect">
            <a:avLst/>
          </a:prstGeom>
          <a:noFill/>
        </p:spPr>
        <p:txBody>
          <a:bodyPr wrap="square" anchor="t">
            <a:spAutoFit/>
          </a:bodyPr>
          <a:lstStyle/>
          <a:p>
            <a:pPr algn="l"/>
            <a:r>
              <a:rPr sz="1200" b="0">
                <a:solidFill>
                  <a:srgbClr val="90A0B0"/>
                </a:solidFill>
                <a:latin typeface="微软雅黑"/>
                <a:ea typeface="微软雅黑"/>
              </a:rPr>
              <a:t>Case introduction</a:t>
            </a:r>
          </a:p>
        </p:txBody>
      </p:sp>
      <p:sp>
        <p:nvSpPr>
          <p:cNvPr id="16" name="Rectangle 15"/>
          <p:cNvSpPr/>
          <p:nvPr/>
        </p:nvSpPr>
        <p:spPr>
          <a:xfrm>
            <a:off x="5760720" y="2514600"/>
            <a:ext cx="5029200" cy="13716"/>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54880" y="2651760"/>
            <a:ext cx="777240" cy="77724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2651760"/>
            <a:ext cx="777240" cy="777240"/>
          </a:xfrm>
          <a:prstGeom prst="rect">
            <a:avLst/>
          </a:prstGeom>
          <a:noFill/>
        </p:spPr>
        <p:txBody>
          <a:bodyPr wrap="square" anchor="ctr">
            <a:spAutoFit/>
          </a:bodyPr>
          <a:lstStyle/>
          <a:p>
            <a:pPr algn="ctr"/>
            <a:r>
              <a:rPr sz="2200" b="1">
                <a:solidFill>
                  <a:srgbClr val="1E3A8A"/>
                </a:solidFill>
                <a:latin typeface="微软雅黑"/>
                <a:ea typeface="微软雅黑"/>
              </a:rPr>
              <a:t>03</a:t>
            </a:r>
          </a:p>
        </p:txBody>
      </p:sp>
      <p:sp>
        <p:nvSpPr>
          <p:cNvPr id="19" name="TextBox 18"/>
          <p:cNvSpPr txBox="1"/>
          <p:nvPr/>
        </p:nvSpPr>
        <p:spPr>
          <a:xfrm>
            <a:off x="5760720" y="2697480"/>
            <a:ext cx="5486400" cy="411480"/>
          </a:xfrm>
          <a:prstGeom prst="rect">
            <a:avLst/>
          </a:prstGeom>
          <a:noFill/>
        </p:spPr>
        <p:txBody>
          <a:bodyPr wrap="square" anchor="t">
            <a:spAutoFit/>
          </a:bodyPr>
          <a:lstStyle/>
          <a:p>
            <a:pPr algn="l"/>
            <a:r>
              <a:rPr sz="2600" b="1">
                <a:solidFill>
                  <a:srgbClr val="1A1A1A"/>
                </a:solidFill>
                <a:latin typeface="微软雅黑"/>
                <a:ea typeface="微软雅黑"/>
              </a:rPr>
              <a:t>护理过程</a:t>
            </a:r>
          </a:p>
        </p:txBody>
      </p:sp>
      <p:sp>
        <p:nvSpPr>
          <p:cNvPr id="20" name="TextBox 19"/>
          <p:cNvSpPr txBox="1"/>
          <p:nvPr/>
        </p:nvSpPr>
        <p:spPr>
          <a:xfrm>
            <a:off x="5760720" y="3108960"/>
            <a:ext cx="5486400" cy="320040"/>
          </a:xfrm>
          <a:prstGeom prst="rect">
            <a:avLst/>
          </a:prstGeom>
          <a:noFill/>
        </p:spPr>
        <p:txBody>
          <a:bodyPr wrap="square" anchor="t">
            <a:spAutoFit/>
          </a:bodyPr>
          <a:lstStyle/>
          <a:p>
            <a:pPr algn="l"/>
            <a:r>
              <a:rPr sz="1200" b="0">
                <a:solidFill>
                  <a:srgbClr val="90A0B0"/>
                </a:solidFill>
                <a:latin typeface="微软雅黑"/>
                <a:ea typeface="微软雅黑"/>
              </a:rPr>
              <a:t>Nursing process</a:t>
            </a:r>
          </a:p>
        </p:txBody>
      </p:sp>
      <p:sp>
        <p:nvSpPr>
          <p:cNvPr id="21" name="Rectangle 20"/>
          <p:cNvSpPr/>
          <p:nvPr/>
        </p:nvSpPr>
        <p:spPr>
          <a:xfrm>
            <a:off x="5760720" y="3566160"/>
            <a:ext cx="5029200" cy="13716"/>
          </a:xfrm>
          <a:prstGeom prst="rect">
            <a:avLst/>
          </a:prstGeom>
          <a:solidFill>
            <a:srgbClr val="D0D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754880" y="3703319"/>
            <a:ext cx="777240" cy="77724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0" y="3703319"/>
            <a:ext cx="777240" cy="777240"/>
          </a:xfrm>
          <a:prstGeom prst="rect">
            <a:avLst/>
          </a:prstGeom>
          <a:noFill/>
        </p:spPr>
        <p:txBody>
          <a:bodyPr wrap="square" anchor="ctr">
            <a:spAutoFit/>
          </a:bodyPr>
          <a:lstStyle/>
          <a:p>
            <a:pPr algn="ctr"/>
            <a:r>
              <a:rPr sz="2200" b="1">
                <a:solidFill>
                  <a:srgbClr val="1E3A8A"/>
                </a:solidFill>
                <a:latin typeface="微软雅黑"/>
                <a:ea typeface="微软雅黑"/>
              </a:rPr>
              <a:t>04</a:t>
            </a:r>
          </a:p>
        </p:txBody>
      </p:sp>
      <p:sp>
        <p:nvSpPr>
          <p:cNvPr id="24" name="TextBox 23"/>
          <p:cNvSpPr txBox="1"/>
          <p:nvPr/>
        </p:nvSpPr>
        <p:spPr>
          <a:xfrm>
            <a:off x="5760720" y="3749039"/>
            <a:ext cx="5486400" cy="411480"/>
          </a:xfrm>
          <a:prstGeom prst="rect">
            <a:avLst/>
          </a:prstGeom>
          <a:noFill/>
        </p:spPr>
        <p:txBody>
          <a:bodyPr wrap="square" anchor="t">
            <a:spAutoFit/>
          </a:bodyPr>
          <a:lstStyle/>
          <a:p>
            <a:pPr algn="l"/>
            <a:r>
              <a:rPr sz="2600" b="1">
                <a:solidFill>
                  <a:srgbClr val="1A1A1A"/>
                </a:solidFill>
                <a:latin typeface="微软雅黑"/>
                <a:ea typeface="微软雅黑"/>
              </a:rPr>
              <a:t>总结展望</a:t>
            </a:r>
          </a:p>
        </p:txBody>
      </p:sp>
      <p:sp>
        <p:nvSpPr>
          <p:cNvPr id="25" name="TextBox 24"/>
          <p:cNvSpPr txBox="1"/>
          <p:nvPr/>
        </p:nvSpPr>
        <p:spPr>
          <a:xfrm>
            <a:off x="5760720" y="4160519"/>
            <a:ext cx="5486400" cy="320040"/>
          </a:xfrm>
          <a:prstGeom prst="rect">
            <a:avLst/>
          </a:prstGeom>
          <a:noFill/>
        </p:spPr>
        <p:txBody>
          <a:bodyPr wrap="square" anchor="t">
            <a:spAutoFit/>
          </a:bodyPr>
          <a:lstStyle/>
          <a:p>
            <a:pPr algn="l"/>
            <a:r>
              <a:rPr sz="1200" b="0">
                <a:solidFill>
                  <a:srgbClr val="90A0B0"/>
                </a:solidFill>
                <a:latin typeface="微软雅黑"/>
                <a:ea typeface="微软雅黑"/>
              </a:rPr>
              <a:t>Summary and Outlook</a:t>
            </a:r>
          </a:p>
        </p:txBody>
      </p:sp>
      <p:sp>
        <p:nvSpPr>
          <p:cNvPr id="26" name="Rectangle 25"/>
          <p:cNvSpPr/>
          <p:nvPr/>
        </p:nvSpPr>
        <p:spPr>
          <a:xfrm>
            <a:off x="0" y="5029200"/>
            <a:ext cx="12191695" cy="1828800"/>
          </a:xfrm>
          <a:prstGeom prst="rect">
            <a:avLst/>
          </a:prstGeom>
          <a:solidFill>
            <a:srgbClr val="B8C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5760720"/>
            <a:ext cx="822960" cy="109728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97280" y="5486400"/>
            <a:ext cx="822960" cy="137160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103120" y="5943600"/>
            <a:ext cx="822960" cy="91440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00400" y="5577840"/>
            <a:ext cx="822960" cy="128016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89120" y="5852160"/>
            <a:ext cx="822960" cy="100584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0" y="5394960"/>
            <a:ext cx="822960" cy="146304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675120" y="5760720"/>
            <a:ext cx="822960" cy="109728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863840" y="5486400"/>
            <a:ext cx="822960" cy="137160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44000" y="5852160"/>
            <a:ext cx="822960" cy="100584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424160" y="5669280"/>
            <a:ext cx="822960" cy="118872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疾病介绍</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前言背景</a:t>
            </a:r>
          </a:p>
        </p:txBody>
      </p:sp>
      <p:sp>
        <p:nvSpPr>
          <p:cNvPr id="6" name="Rectangle 5"/>
          <p:cNvSpPr/>
          <p:nvPr/>
        </p:nvSpPr>
        <p:spPr>
          <a:xfrm>
            <a:off x="598932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9" name="Rectangle 8"/>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护理过程</a:t>
            </a: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365760" y="914400"/>
            <a:ext cx="11430000" cy="1234440"/>
          </a:xfrm>
          <a:prstGeom prst="roundRect">
            <a:avLst/>
          </a:prstGeom>
          <a:solidFill>
            <a:srgbClr val="F5F8FC"/>
          </a:solidFill>
          <a:ln w="19050">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005840"/>
            <a:ext cx="11064240" cy="1051560"/>
          </a:xfrm>
          <a:prstGeom prst="rect">
            <a:avLst/>
          </a:prstGeom>
          <a:noFill/>
        </p:spPr>
        <p:txBody>
          <a:bodyPr wrap="square" anchor="t">
            <a:spAutoFit/>
          </a:bodyPr>
          <a:lstStyle/>
          <a:p>
            <a:pPr algn="l"/>
            <a:r>
              <a:rPr sz="1300" b="0">
                <a:solidFill>
                  <a:srgbClr val="1A1A1A"/>
                </a:solidFill>
                <a:latin typeface="微软雅黑"/>
                <a:ea typeface="微软雅黑"/>
              </a:rPr>
              <a:t/>
            </a:r>
            <a:r>
              <a:rPr sz="1300" b="0">
                <a:solidFill>
                  <a:srgbClr val="1A1A1A"/>
                </a:solidFill>
                <a:latin typeface="微软雅黑"/>
                <a:ea typeface="微软雅黑"/>
              </a:rPr>
              <a:t>▶  慢性阻塞性肺疾病（COPD）是一种以持续性呼吸道症状和气流受限为特征的慢性肺部疾病，其气流受限通常呈进行性发展，与</a:t>
            </a:r>
            <a:r>
              <a:rPr sz="1300" b="1">
                <a:solidFill>
                  <a:srgbClr val="D32F2F"/>
                </a:solidFill>
                <a:latin typeface="微软雅黑"/>
                <a:ea typeface="微软雅黑"/>
              </a:rPr>
              <a:t>慢性支气管炎</a:t>
            </a:r>
            <a:r>
              <a:rPr sz="1300" b="0">
                <a:solidFill>
                  <a:srgbClr val="1A1A1A"/>
                </a:solidFill>
                <a:latin typeface="微软雅黑"/>
                <a:ea typeface="微软雅黑"/>
              </a:rPr>
              <a:t>和</a:t>
            </a:r>
            <a:r>
              <a:rPr sz="1300" b="1">
                <a:solidFill>
                  <a:srgbClr val="D32F2F"/>
                </a:solidFill>
                <a:latin typeface="微软雅黑"/>
                <a:ea typeface="微软雅黑"/>
              </a:rPr>
              <a:t>肺气肿</a:t>
            </a:r>
            <a:r>
              <a:rPr sz="1300" b="0">
                <a:solidFill>
                  <a:srgbClr val="1A1A1A"/>
                </a:solidFill>
                <a:latin typeface="微软雅黑"/>
                <a:ea typeface="微软雅黑"/>
              </a:rPr>
              <a:t>密切相关。</a:t>
            </a:r>
          </a:p>
          <a:p>
            <a:pPr algn="l">
              <a:spcBef>
                <a:spcPts val="800"/>
              </a:spcBef>
              <a:spcAft>
                <a:spcPts val="400"/>
              </a:spcAft>
            </a:pPr>
            <a:r>
              <a:rPr sz="1300" b="0">
                <a:solidFill>
                  <a:srgbClr val="1A1A1A"/>
                </a:solidFill>
                <a:latin typeface="微软雅黑"/>
                <a:ea typeface="微软雅黑"/>
              </a:rPr>
              <a:t>▶  COPD是全球范围内导致死亡和致残的主要原因之一，严重影响患者的生活质量[1]。</a:t>
            </a:r>
          </a:p>
        </p:txBody>
      </p:sp>
      <p:sp>
        <p:nvSpPr>
          <p:cNvPr id="15" name="Rounded Rectangle 14"/>
          <p:cNvSpPr/>
          <p:nvPr/>
        </p:nvSpPr>
        <p:spPr>
          <a:xfrm>
            <a:off x="365760" y="2331720"/>
            <a:ext cx="5577840" cy="2148840"/>
          </a:xfrm>
          <a:prstGeom prst="roundRect">
            <a:avLst/>
          </a:prstGeom>
          <a:solidFill>
            <a:srgbClr val="FFFFFF"/>
          </a:solidFill>
          <a:ln w="15875">
            <a:solidFill>
              <a:srgbClr val="C5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423160"/>
            <a:ext cx="5212080" cy="365760"/>
          </a:xfrm>
          <a:prstGeom prst="rect">
            <a:avLst/>
          </a:prstGeom>
          <a:noFill/>
        </p:spPr>
        <p:txBody>
          <a:bodyPr wrap="square" anchor="t">
            <a:spAutoFit/>
          </a:bodyPr>
          <a:lstStyle/>
          <a:p>
            <a:pPr algn="l"/>
            <a:r>
              <a:rPr sz="1600" b="1">
                <a:solidFill>
                  <a:srgbClr val="2E5BB9"/>
                </a:solidFill>
                <a:latin typeface="微软雅黑"/>
                <a:ea typeface="微软雅黑"/>
              </a:rPr>
              <a:t>COPD的典型症状</a:t>
            </a:r>
          </a:p>
        </p:txBody>
      </p:sp>
      <p:sp>
        <p:nvSpPr>
          <p:cNvPr id="17" name="Rounded Rectangle 16"/>
          <p:cNvSpPr/>
          <p:nvPr/>
        </p:nvSpPr>
        <p:spPr>
          <a:xfrm>
            <a:off x="640080" y="2926080"/>
            <a:ext cx="1143000" cy="36576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2926080"/>
            <a:ext cx="1143000" cy="365760"/>
          </a:xfrm>
          <a:prstGeom prst="rect">
            <a:avLst/>
          </a:prstGeom>
          <a:noFill/>
        </p:spPr>
        <p:txBody>
          <a:bodyPr wrap="square" anchor="ctr">
            <a:spAutoFit/>
          </a:bodyPr>
          <a:lstStyle/>
          <a:p>
            <a:pPr algn="ctr"/>
            <a:r>
              <a:rPr sz="1200" b="1">
                <a:solidFill>
                  <a:srgbClr val="1E3A8A"/>
                </a:solidFill>
                <a:latin typeface="微软雅黑"/>
                <a:ea typeface="微软雅黑"/>
              </a:rPr>
              <a:t>呼吸困难</a:t>
            </a:r>
          </a:p>
        </p:txBody>
      </p:sp>
      <p:sp>
        <p:nvSpPr>
          <p:cNvPr id="19" name="Rounded Rectangle 18"/>
          <p:cNvSpPr/>
          <p:nvPr/>
        </p:nvSpPr>
        <p:spPr>
          <a:xfrm>
            <a:off x="1920240" y="2926080"/>
            <a:ext cx="1143000" cy="36576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920240" y="2926080"/>
            <a:ext cx="1143000" cy="365760"/>
          </a:xfrm>
          <a:prstGeom prst="rect">
            <a:avLst/>
          </a:prstGeom>
          <a:noFill/>
        </p:spPr>
        <p:txBody>
          <a:bodyPr wrap="square" anchor="ctr">
            <a:spAutoFit/>
          </a:bodyPr>
          <a:lstStyle/>
          <a:p>
            <a:pPr algn="ctr"/>
            <a:r>
              <a:rPr sz="1200" b="1">
                <a:solidFill>
                  <a:srgbClr val="1E3A8A"/>
                </a:solidFill>
                <a:latin typeface="微软雅黑"/>
                <a:ea typeface="微软雅黑"/>
              </a:rPr>
              <a:t>慢性咳嗽</a:t>
            </a:r>
          </a:p>
        </p:txBody>
      </p:sp>
      <p:sp>
        <p:nvSpPr>
          <p:cNvPr id="21" name="Rounded Rectangle 20"/>
          <p:cNvSpPr/>
          <p:nvPr/>
        </p:nvSpPr>
        <p:spPr>
          <a:xfrm>
            <a:off x="3200400" y="2926080"/>
            <a:ext cx="1143000" cy="36576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0" y="2926080"/>
            <a:ext cx="1143000" cy="365760"/>
          </a:xfrm>
          <a:prstGeom prst="rect">
            <a:avLst/>
          </a:prstGeom>
          <a:noFill/>
        </p:spPr>
        <p:txBody>
          <a:bodyPr wrap="square" anchor="ctr">
            <a:spAutoFit/>
          </a:bodyPr>
          <a:lstStyle/>
          <a:p>
            <a:pPr algn="ctr"/>
            <a:r>
              <a:rPr sz="1200" b="1">
                <a:solidFill>
                  <a:srgbClr val="1E3A8A"/>
                </a:solidFill>
                <a:latin typeface="微软雅黑"/>
                <a:ea typeface="微软雅黑"/>
              </a:rPr>
              <a:t>咳痰</a:t>
            </a:r>
          </a:p>
        </p:txBody>
      </p:sp>
      <p:sp>
        <p:nvSpPr>
          <p:cNvPr id="23" name="Rounded Rectangle 22"/>
          <p:cNvSpPr/>
          <p:nvPr/>
        </p:nvSpPr>
        <p:spPr>
          <a:xfrm>
            <a:off x="4480559" y="2926080"/>
            <a:ext cx="1143000" cy="36576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59" y="2926080"/>
            <a:ext cx="1143000" cy="365760"/>
          </a:xfrm>
          <a:prstGeom prst="rect">
            <a:avLst/>
          </a:prstGeom>
          <a:noFill/>
        </p:spPr>
        <p:txBody>
          <a:bodyPr wrap="square" anchor="ctr">
            <a:spAutoFit/>
          </a:bodyPr>
          <a:lstStyle/>
          <a:p>
            <a:pPr algn="ctr"/>
            <a:r>
              <a:rPr sz="1200" b="1">
                <a:solidFill>
                  <a:srgbClr val="1E3A8A"/>
                </a:solidFill>
                <a:latin typeface="微软雅黑"/>
                <a:ea typeface="微软雅黑"/>
              </a:rPr>
              <a:t>气短</a:t>
            </a:r>
          </a:p>
        </p:txBody>
      </p:sp>
      <p:sp>
        <p:nvSpPr>
          <p:cNvPr id="25" name="Oval 24"/>
          <p:cNvSpPr/>
          <p:nvPr/>
        </p:nvSpPr>
        <p:spPr>
          <a:xfrm>
            <a:off x="822960" y="3520440"/>
            <a:ext cx="777240" cy="777240"/>
          </a:xfrm>
          <a:prstGeom prst="ellipse">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657600"/>
            <a:ext cx="777240" cy="502920"/>
          </a:xfrm>
          <a:prstGeom prst="rect">
            <a:avLst/>
          </a:prstGeom>
          <a:noFill/>
        </p:spPr>
        <p:txBody>
          <a:bodyPr wrap="square" anchor="t">
            <a:spAutoFit/>
          </a:bodyPr>
          <a:lstStyle/>
          <a:p>
            <a:pPr algn="ctr"/>
            <a:r>
              <a:rPr sz="1100" b="1">
                <a:solidFill>
                  <a:srgbClr val="1E3A8A"/>
                </a:solidFill>
                <a:latin typeface="微软雅黑"/>
                <a:ea typeface="微软雅黑"/>
              </a:rPr>
              <a:t>胸闷</a:t>
            </a:r>
          </a:p>
        </p:txBody>
      </p:sp>
      <p:sp>
        <p:nvSpPr>
          <p:cNvPr id="27" name="Oval 26"/>
          <p:cNvSpPr/>
          <p:nvPr/>
        </p:nvSpPr>
        <p:spPr>
          <a:xfrm>
            <a:off x="2103120" y="3520440"/>
            <a:ext cx="777240" cy="777240"/>
          </a:xfrm>
          <a:prstGeom prst="ellipse">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03120" y="3657600"/>
            <a:ext cx="777240" cy="502920"/>
          </a:xfrm>
          <a:prstGeom prst="rect">
            <a:avLst/>
          </a:prstGeom>
          <a:noFill/>
        </p:spPr>
        <p:txBody>
          <a:bodyPr wrap="square" anchor="t">
            <a:spAutoFit/>
          </a:bodyPr>
          <a:lstStyle/>
          <a:p>
            <a:pPr algn="ctr"/>
            <a:r>
              <a:rPr sz="1100" b="1">
                <a:solidFill>
                  <a:srgbClr val="1E3A8A"/>
                </a:solidFill>
                <a:latin typeface="微软雅黑"/>
                <a:ea typeface="微软雅黑"/>
              </a:rPr>
              <a:t>咳嗽</a:t>
            </a:r>
          </a:p>
        </p:txBody>
      </p:sp>
      <p:sp>
        <p:nvSpPr>
          <p:cNvPr id="29" name="Oval 28"/>
          <p:cNvSpPr/>
          <p:nvPr/>
        </p:nvSpPr>
        <p:spPr>
          <a:xfrm>
            <a:off x="3383280" y="3520440"/>
            <a:ext cx="777240" cy="777240"/>
          </a:xfrm>
          <a:prstGeom prst="ellipse">
            <a:avLst/>
          </a:prstGeom>
          <a:solidFill>
            <a:srgbClr val="BBD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83280" y="3657600"/>
            <a:ext cx="777240" cy="502920"/>
          </a:xfrm>
          <a:prstGeom prst="rect">
            <a:avLst/>
          </a:prstGeom>
          <a:noFill/>
        </p:spPr>
        <p:txBody>
          <a:bodyPr wrap="square" anchor="t">
            <a:spAutoFit/>
          </a:bodyPr>
          <a:lstStyle/>
          <a:p>
            <a:pPr algn="ctr"/>
            <a:r>
              <a:rPr sz="1100" b="1">
                <a:solidFill>
                  <a:srgbClr val="1E3A8A"/>
                </a:solidFill>
                <a:latin typeface="微软雅黑"/>
                <a:ea typeface="微软雅黑"/>
              </a:rPr>
              <a:t>咳痰</a:t>
            </a:r>
          </a:p>
        </p:txBody>
      </p:sp>
      <p:sp>
        <p:nvSpPr>
          <p:cNvPr id="31" name="Oval 30"/>
          <p:cNvSpPr/>
          <p:nvPr/>
        </p:nvSpPr>
        <p:spPr>
          <a:xfrm>
            <a:off x="4663439" y="3520440"/>
            <a:ext cx="777240" cy="777240"/>
          </a:xfrm>
          <a:prstGeom prst="ellipse">
            <a:avLst/>
          </a:prstGeom>
          <a:solidFill>
            <a:srgbClr val="FF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63439" y="3657600"/>
            <a:ext cx="777240" cy="502920"/>
          </a:xfrm>
          <a:prstGeom prst="rect">
            <a:avLst/>
          </a:prstGeom>
          <a:noFill/>
        </p:spPr>
        <p:txBody>
          <a:bodyPr wrap="square" anchor="t">
            <a:spAutoFit/>
          </a:bodyPr>
          <a:lstStyle/>
          <a:p>
            <a:pPr algn="ctr"/>
            <a:r>
              <a:rPr sz="1100" b="1">
                <a:solidFill>
                  <a:srgbClr val="1E3A8A"/>
                </a:solidFill>
                <a:latin typeface="微软雅黑"/>
                <a:ea typeface="微软雅黑"/>
              </a:rPr>
              <a:t>气促</a:t>
            </a:r>
          </a:p>
        </p:txBody>
      </p:sp>
      <p:sp>
        <p:nvSpPr>
          <p:cNvPr id="33" name="Rounded Rectangle 32"/>
          <p:cNvSpPr/>
          <p:nvPr/>
        </p:nvSpPr>
        <p:spPr>
          <a:xfrm>
            <a:off x="6217920" y="2331720"/>
            <a:ext cx="5577840" cy="2148840"/>
          </a:xfrm>
          <a:prstGeom prst="roundRect">
            <a:avLst/>
          </a:prstGeom>
          <a:solidFill>
            <a:srgbClr val="FFFFFF"/>
          </a:solidFill>
          <a:ln w="15875">
            <a:solidFill>
              <a:srgbClr val="C5D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2423160"/>
            <a:ext cx="5212080" cy="365760"/>
          </a:xfrm>
          <a:prstGeom prst="rect">
            <a:avLst/>
          </a:prstGeom>
          <a:noFill/>
        </p:spPr>
        <p:txBody>
          <a:bodyPr wrap="square" anchor="t">
            <a:spAutoFit/>
          </a:bodyPr>
          <a:lstStyle/>
          <a:p>
            <a:pPr algn="l"/>
            <a:r>
              <a:rPr sz="1600" b="1">
                <a:solidFill>
                  <a:srgbClr val="2E5BB9"/>
                </a:solidFill>
                <a:latin typeface="微软雅黑"/>
                <a:ea typeface="微软雅黑"/>
              </a:rPr>
              <a:t>COPD的其他诱因</a:t>
            </a:r>
          </a:p>
        </p:txBody>
      </p:sp>
      <p:sp>
        <p:nvSpPr>
          <p:cNvPr id="35" name="Oval 34"/>
          <p:cNvSpPr/>
          <p:nvPr/>
        </p:nvSpPr>
        <p:spPr>
          <a:xfrm>
            <a:off x="6675120" y="3017520"/>
            <a:ext cx="1097280" cy="1097280"/>
          </a:xfrm>
          <a:prstGeom prst="ellipse">
            <a:avLst/>
          </a:prstGeom>
          <a:solidFill>
            <a:srgbClr val="F8B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37960" y="4160520"/>
            <a:ext cx="1371600" cy="274320"/>
          </a:xfrm>
          <a:prstGeom prst="rect">
            <a:avLst/>
          </a:prstGeom>
          <a:noFill/>
        </p:spPr>
        <p:txBody>
          <a:bodyPr wrap="square" anchor="t">
            <a:spAutoFit/>
          </a:bodyPr>
          <a:lstStyle/>
          <a:p>
            <a:pPr algn="ctr"/>
            <a:r>
              <a:rPr sz="1200" b="1">
                <a:solidFill>
                  <a:srgbClr val="1E3A8A"/>
                </a:solidFill>
                <a:latin typeface="微软雅黑"/>
                <a:ea typeface="微软雅黑"/>
              </a:rPr>
              <a:t>过敏原刺激</a:t>
            </a:r>
          </a:p>
        </p:txBody>
      </p:sp>
      <p:sp>
        <p:nvSpPr>
          <p:cNvPr id="37" name="Oval 36"/>
          <p:cNvSpPr/>
          <p:nvPr/>
        </p:nvSpPr>
        <p:spPr>
          <a:xfrm>
            <a:off x="8366760" y="3017520"/>
            <a:ext cx="1097280" cy="1097280"/>
          </a:xfrm>
          <a:prstGeom prst="ellipse">
            <a:avLst/>
          </a:prstGeom>
          <a:solidFill>
            <a:srgbClr val="B3E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0" y="4160520"/>
            <a:ext cx="1371600" cy="274320"/>
          </a:xfrm>
          <a:prstGeom prst="rect">
            <a:avLst/>
          </a:prstGeom>
          <a:noFill/>
        </p:spPr>
        <p:txBody>
          <a:bodyPr wrap="square" anchor="t">
            <a:spAutoFit/>
          </a:bodyPr>
          <a:lstStyle/>
          <a:p>
            <a:pPr algn="ctr"/>
            <a:r>
              <a:rPr sz="1200" b="1">
                <a:solidFill>
                  <a:srgbClr val="1E3A8A"/>
                </a:solidFill>
                <a:latin typeface="微软雅黑"/>
                <a:ea typeface="微软雅黑"/>
              </a:rPr>
              <a:t>年龄增长</a:t>
            </a:r>
          </a:p>
        </p:txBody>
      </p:sp>
      <p:sp>
        <p:nvSpPr>
          <p:cNvPr id="39" name="Oval 38"/>
          <p:cNvSpPr/>
          <p:nvPr/>
        </p:nvSpPr>
        <p:spPr>
          <a:xfrm>
            <a:off x="10058400" y="3017520"/>
            <a:ext cx="1097280" cy="1097280"/>
          </a:xfrm>
          <a:prstGeom prst="ellipse">
            <a:avLst/>
          </a:prstGeom>
          <a:solidFill>
            <a:srgbClr val="DCED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921240" y="4160520"/>
            <a:ext cx="1371600" cy="274320"/>
          </a:xfrm>
          <a:prstGeom prst="rect">
            <a:avLst/>
          </a:prstGeom>
          <a:noFill/>
        </p:spPr>
        <p:txBody>
          <a:bodyPr wrap="square" anchor="t">
            <a:spAutoFit/>
          </a:bodyPr>
          <a:lstStyle/>
          <a:p>
            <a:pPr algn="ctr"/>
            <a:r>
              <a:rPr sz="1200" b="1">
                <a:solidFill>
                  <a:srgbClr val="1E3A8A"/>
                </a:solidFill>
                <a:latin typeface="微软雅黑"/>
                <a:ea typeface="微软雅黑"/>
              </a:rPr>
              <a:t>内分泌失调</a:t>
            </a:r>
          </a:p>
        </p:txBody>
      </p:sp>
      <p:sp>
        <p:nvSpPr>
          <p:cNvPr id="41" name="Rounded Rectangle 40"/>
          <p:cNvSpPr/>
          <p:nvPr/>
        </p:nvSpPr>
        <p:spPr>
          <a:xfrm>
            <a:off x="365760" y="4663440"/>
            <a:ext cx="11430000" cy="1554480"/>
          </a:xfrm>
          <a:prstGeom prst="roundRect">
            <a:avLst/>
          </a:prstGeom>
          <a:solidFill>
            <a:srgbClr val="F5F8FC"/>
          </a:solidFill>
          <a:ln w="19050">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0080" y="4892040"/>
            <a:ext cx="1005840" cy="1005840"/>
          </a:xfrm>
          <a:prstGeom prst="ellipse">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5120640"/>
            <a:ext cx="1005840" cy="548640"/>
          </a:xfrm>
          <a:prstGeom prst="rect">
            <a:avLst/>
          </a:prstGeom>
          <a:noFill/>
        </p:spPr>
        <p:txBody>
          <a:bodyPr wrap="square" anchor="t">
            <a:spAutoFit/>
          </a:bodyPr>
          <a:lstStyle/>
          <a:p>
            <a:pPr algn="ctr"/>
            <a:r>
              <a:rPr sz="1600" b="1">
                <a:solidFill>
                  <a:srgbClr val="FFFFFF"/>
                </a:solidFill>
                <a:latin typeface="微软雅黑"/>
                <a:ea typeface="微软雅黑"/>
              </a:rPr>
              <a:t>禁烟</a:t>
            </a:r>
          </a:p>
        </p:txBody>
      </p:sp>
      <p:sp>
        <p:nvSpPr>
          <p:cNvPr id="44" name="TextBox 43"/>
          <p:cNvSpPr txBox="1"/>
          <p:nvPr/>
        </p:nvSpPr>
        <p:spPr>
          <a:xfrm>
            <a:off x="1828800" y="4800600"/>
            <a:ext cx="4572000" cy="320040"/>
          </a:xfrm>
          <a:prstGeom prst="rect">
            <a:avLst/>
          </a:prstGeom>
          <a:noFill/>
        </p:spPr>
        <p:txBody>
          <a:bodyPr wrap="square" anchor="t">
            <a:spAutoFit/>
          </a:bodyPr>
          <a:lstStyle/>
          <a:p>
            <a:pPr algn="l"/>
            <a:r>
              <a:rPr sz="1400" b="1">
                <a:solidFill>
                  <a:srgbClr val="1A1A1A"/>
                </a:solidFill>
                <a:latin typeface="微软雅黑"/>
                <a:ea typeface="微软雅黑"/>
              </a:rPr>
              <a:t>吸烟是最主要的危险因素</a:t>
            </a:r>
          </a:p>
        </p:txBody>
      </p:sp>
      <p:sp>
        <p:nvSpPr>
          <p:cNvPr id="45" name="TextBox 44"/>
          <p:cNvSpPr txBox="1"/>
          <p:nvPr/>
        </p:nvSpPr>
        <p:spPr>
          <a:xfrm>
            <a:off x="1828800" y="5138928"/>
            <a:ext cx="3840480" cy="256032"/>
          </a:xfrm>
          <a:prstGeom prst="rect">
            <a:avLst/>
          </a:prstGeom>
          <a:noFill/>
        </p:spPr>
        <p:txBody>
          <a:bodyPr wrap="square" anchor="t">
            <a:spAutoFit/>
          </a:bodyPr>
          <a:lstStyle/>
          <a:p>
            <a:pPr algn="l"/>
            <a:r>
              <a:rPr sz="1100" b="0">
                <a:solidFill>
                  <a:srgbClr val="4A5568"/>
                </a:solidFill>
                <a:latin typeface="微软雅黑"/>
                <a:ea typeface="微软雅黑"/>
              </a:rPr>
              <a:t>吸烟史</a:t>
            </a:r>
          </a:p>
        </p:txBody>
      </p:sp>
      <p:sp>
        <p:nvSpPr>
          <p:cNvPr id="46" name="Rounded Rectangle 45"/>
          <p:cNvSpPr/>
          <p:nvPr/>
        </p:nvSpPr>
        <p:spPr>
          <a:xfrm>
            <a:off x="1828800" y="5394960"/>
            <a:ext cx="3840480" cy="256032"/>
          </a:xfrm>
          <a:prstGeom prst="roundRect">
            <a:avLst/>
          </a:prstGeom>
          <a:solidFill>
            <a:srgbClr val="E0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828800" y="5394960"/>
            <a:ext cx="3456432" cy="256032"/>
          </a:xfrm>
          <a:prstGeom prst="round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760720" y="5321808"/>
            <a:ext cx="731520" cy="347472"/>
          </a:xfrm>
          <a:prstGeom prst="rect">
            <a:avLst/>
          </a:prstGeom>
          <a:noFill/>
        </p:spPr>
        <p:txBody>
          <a:bodyPr wrap="square" anchor="ctr">
            <a:spAutoFit/>
          </a:bodyPr>
          <a:lstStyle/>
          <a:p>
            <a:pPr algn="l"/>
            <a:r>
              <a:rPr sz="1400" b="1">
                <a:solidFill>
                  <a:srgbClr val="D32F2F"/>
                </a:solidFill>
                <a:latin typeface="微软雅黑"/>
                <a:ea typeface="微软雅黑"/>
              </a:rPr>
              <a:t>90%</a:t>
            </a:r>
          </a:p>
        </p:txBody>
      </p:sp>
      <p:sp>
        <p:nvSpPr>
          <p:cNvPr id="49" name="Rounded Rectangle 48"/>
          <p:cNvSpPr/>
          <p:nvPr/>
        </p:nvSpPr>
        <p:spPr>
          <a:xfrm>
            <a:off x="6858000" y="4937760"/>
            <a:ext cx="2103120" cy="38404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0" y="4937760"/>
            <a:ext cx="2103120" cy="384048"/>
          </a:xfrm>
          <a:prstGeom prst="rect">
            <a:avLst/>
          </a:prstGeom>
          <a:noFill/>
        </p:spPr>
        <p:txBody>
          <a:bodyPr wrap="square" anchor="ctr">
            <a:spAutoFit/>
          </a:bodyPr>
          <a:lstStyle/>
          <a:p>
            <a:pPr algn="ctr"/>
            <a:r>
              <a:rPr sz="1200" b="1">
                <a:solidFill>
                  <a:srgbClr val="1E3A8A"/>
                </a:solidFill>
                <a:latin typeface="微软雅黑"/>
                <a:ea typeface="微软雅黑"/>
              </a:rPr>
              <a:t>空气污染</a:t>
            </a:r>
          </a:p>
        </p:txBody>
      </p:sp>
      <p:sp>
        <p:nvSpPr>
          <p:cNvPr id="51" name="Rounded Rectangle 50"/>
          <p:cNvSpPr/>
          <p:nvPr/>
        </p:nvSpPr>
        <p:spPr>
          <a:xfrm>
            <a:off x="9144000" y="4937760"/>
            <a:ext cx="2103120" cy="38404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44000" y="4937760"/>
            <a:ext cx="2103120" cy="384048"/>
          </a:xfrm>
          <a:prstGeom prst="rect">
            <a:avLst/>
          </a:prstGeom>
          <a:noFill/>
        </p:spPr>
        <p:txBody>
          <a:bodyPr wrap="square" anchor="ctr">
            <a:spAutoFit/>
          </a:bodyPr>
          <a:lstStyle/>
          <a:p>
            <a:pPr algn="ctr"/>
            <a:r>
              <a:rPr sz="1200" b="1">
                <a:solidFill>
                  <a:srgbClr val="1E3A8A"/>
                </a:solidFill>
                <a:latin typeface="微软雅黑"/>
                <a:ea typeface="微软雅黑"/>
              </a:rPr>
              <a:t>遗传因素</a:t>
            </a:r>
          </a:p>
        </p:txBody>
      </p:sp>
      <p:sp>
        <p:nvSpPr>
          <p:cNvPr id="53" name="Rounded Rectangle 52"/>
          <p:cNvSpPr/>
          <p:nvPr/>
        </p:nvSpPr>
        <p:spPr>
          <a:xfrm>
            <a:off x="6858000" y="5440680"/>
            <a:ext cx="2103120" cy="38404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58000" y="5440680"/>
            <a:ext cx="2103120" cy="384048"/>
          </a:xfrm>
          <a:prstGeom prst="rect">
            <a:avLst/>
          </a:prstGeom>
          <a:noFill/>
        </p:spPr>
        <p:txBody>
          <a:bodyPr wrap="square" anchor="ctr">
            <a:spAutoFit/>
          </a:bodyPr>
          <a:lstStyle/>
          <a:p>
            <a:pPr algn="ctr"/>
            <a:r>
              <a:rPr sz="1200" b="1">
                <a:solidFill>
                  <a:srgbClr val="1E3A8A"/>
                </a:solidFill>
                <a:latin typeface="微软雅黑"/>
                <a:ea typeface="微软雅黑"/>
              </a:rPr>
              <a:t>职业暴露</a:t>
            </a:r>
          </a:p>
        </p:txBody>
      </p:sp>
      <p:sp>
        <p:nvSpPr>
          <p:cNvPr id="55" name="Rounded Rectangle 54"/>
          <p:cNvSpPr/>
          <p:nvPr/>
        </p:nvSpPr>
        <p:spPr>
          <a:xfrm>
            <a:off x="9144000" y="5440680"/>
            <a:ext cx="2103120" cy="384048"/>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0" y="5440680"/>
            <a:ext cx="2103120" cy="384048"/>
          </a:xfrm>
          <a:prstGeom prst="rect">
            <a:avLst/>
          </a:prstGeom>
          <a:noFill/>
        </p:spPr>
        <p:txBody>
          <a:bodyPr wrap="square" anchor="ctr">
            <a:spAutoFit/>
          </a:bodyPr>
          <a:lstStyle/>
          <a:p>
            <a:pPr algn="ctr"/>
            <a:r>
              <a:rPr sz="1200" b="1">
                <a:solidFill>
                  <a:srgbClr val="1E3A8A"/>
                </a:solidFill>
                <a:latin typeface="微软雅黑"/>
                <a:ea typeface="微软雅黑"/>
              </a:rPr>
              <a:t>呼吸道感染</a:t>
            </a:r>
          </a:p>
        </p:txBody>
      </p:sp>
      <p:sp>
        <p:nvSpPr>
          <p:cNvPr id="57" name="TextBox 56"/>
          <p:cNvSpPr txBox="1"/>
          <p:nvPr/>
        </p:nvSpPr>
        <p:spPr>
          <a:xfrm>
            <a:off x="365760" y="6446520"/>
            <a:ext cx="11430000" cy="365760"/>
          </a:xfrm>
          <a:prstGeom prst="rect">
            <a:avLst/>
          </a:prstGeom>
          <a:noFill/>
        </p:spPr>
        <p:txBody>
          <a:bodyPr wrap="square" anchor="t">
            <a:spAutoFit/>
          </a:bodyPr>
          <a:lstStyle/>
          <a:p>
            <a:pPr algn="l"/>
            <a:r>
              <a:rPr sz="900" b="0">
                <a:solidFill>
                  <a:srgbClr val="90A0B0"/>
                </a:solidFill>
                <a:latin typeface="微软雅黑"/>
                <a:ea typeface="微软雅黑"/>
              </a:rPr>
              <a:t>[1]毛冰佳等.海南医学,2025,36(6):883-888  [3]赵丹丹等.全科护理,2025,23(1):134-137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疾病介绍</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前言背景</a:t>
            </a:r>
          </a:p>
        </p:txBody>
      </p:sp>
      <p:sp>
        <p:nvSpPr>
          <p:cNvPr id="6" name="Rectangle 5"/>
          <p:cNvSpPr/>
          <p:nvPr/>
        </p:nvSpPr>
        <p:spPr>
          <a:xfrm>
            <a:off x="598932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9" name="Rectangle 8"/>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护理过程</a:t>
            </a: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365760" y="914400"/>
            <a:ext cx="11430000" cy="1417320"/>
          </a:xfrm>
          <a:prstGeom prst="roundRect">
            <a:avLst/>
          </a:prstGeom>
          <a:solidFill>
            <a:srgbClr val="F5F8FC"/>
          </a:solidFill>
          <a:ln w="19050">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960120"/>
            <a:ext cx="11064240" cy="777240"/>
          </a:xfrm>
          <a:prstGeom prst="rect">
            <a:avLst/>
          </a:prstGeom>
          <a:noFill/>
        </p:spPr>
        <p:txBody>
          <a:bodyPr wrap="square" anchor="t">
            <a:spAutoFit/>
          </a:bodyPr>
          <a:lstStyle/>
          <a:p>
            <a:pPr algn="l"/>
            <a:r>
              <a:rPr sz="1300" b="0">
                <a:solidFill>
                  <a:srgbClr val="1A1A1A"/>
                </a:solidFill>
                <a:latin typeface="微软雅黑"/>
                <a:ea typeface="微软雅黑"/>
              </a:rPr>
              <a:t>COPD是全球四大慢性疾病之一，位列世界三大死因；根据WHO数据，全球约有3亿人患有COPD，其中约70%的患者未被诊断。在中国，COPD的患病率约为10%，且呈逐年上升趋势[2]。</a:t>
            </a:r>
          </a:p>
        </p:txBody>
      </p:sp>
      <p:sp>
        <p:nvSpPr>
          <p:cNvPr id="15" name="TextBox 14"/>
          <p:cNvSpPr txBox="1"/>
          <p:nvPr/>
        </p:nvSpPr>
        <p:spPr>
          <a:xfrm>
            <a:off x="731520" y="1664208"/>
            <a:ext cx="4114800" cy="256032"/>
          </a:xfrm>
          <a:prstGeom prst="rect">
            <a:avLst/>
          </a:prstGeom>
          <a:noFill/>
        </p:spPr>
        <p:txBody>
          <a:bodyPr wrap="square" anchor="t">
            <a:spAutoFit/>
          </a:bodyPr>
          <a:lstStyle/>
          <a:p>
            <a:pPr algn="l"/>
            <a:r>
              <a:rPr sz="1100" b="0">
                <a:solidFill>
                  <a:srgbClr val="4A5568"/>
                </a:solidFill>
                <a:latin typeface="微软雅黑"/>
                <a:ea typeface="微软雅黑"/>
              </a:rPr>
              <a:t>未被诊断</a:t>
            </a:r>
          </a:p>
        </p:txBody>
      </p:sp>
      <p:sp>
        <p:nvSpPr>
          <p:cNvPr id="16" name="Rounded Rectangle 15"/>
          <p:cNvSpPr/>
          <p:nvPr/>
        </p:nvSpPr>
        <p:spPr>
          <a:xfrm>
            <a:off x="731520" y="1920240"/>
            <a:ext cx="4114800" cy="201168"/>
          </a:xfrm>
          <a:prstGeom prst="roundRect">
            <a:avLst/>
          </a:prstGeom>
          <a:solidFill>
            <a:srgbClr val="E0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1920240"/>
            <a:ext cx="2880360" cy="201168"/>
          </a:xfrm>
          <a:prstGeom prst="round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0" y="1847088"/>
            <a:ext cx="731520" cy="292608"/>
          </a:xfrm>
          <a:prstGeom prst="rect">
            <a:avLst/>
          </a:prstGeom>
          <a:noFill/>
        </p:spPr>
        <p:txBody>
          <a:bodyPr wrap="square" anchor="ctr">
            <a:spAutoFit/>
          </a:bodyPr>
          <a:lstStyle/>
          <a:p>
            <a:pPr algn="l"/>
            <a:r>
              <a:rPr sz="1400" b="1">
                <a:solidFill>
                  <a:srgbClr val="D32F2F"/>
                </a:solidFill>
                <a:latin typeface="微软雅黑"/>
                <a:ea typeface="微软雅黑"/>
              </a:rPr>
              <a:t>70%</a:t>
            </a:r>
          </a:p>
        </p:txBody>
      </p:sp>
      <p:sp>
        <p:nvSpPr>
          <p:cNvPr id="19" name="TextBox 18"/>
          <p:cNvSpPr txBox="1"/>
          <p:nvPr/>
        </p:nvSpPr>
        <p:spPr>
          <a:xfrm>
            <a:off x="6400800" y="1664208"/>
            <a:ext cx="4114800" cy="256032"/>
          </a:xfrm>
          <a:prstGeom prst="rect">
            <a:avLst/>
          </a:prstGeom>
          <a:noFill/>
        </p:spPr>
        <p:txBody>
          <a:bodyPr wrap="square" anchor="t">
            <a:spAutoFit/>
          </a:bodyPr>
          <a:lstStyle/>
          <a:p>
            <a:pPr algn="l"/>
            <a:r>
              <a:rPr sz="1100" b="0">
                <a:solidFill>
                  <a:srgbClr val="4A5568"/>
                </a:solidFill>
                <a:latin typeface="微软雅黑"/>
                <a:ea typeface="微软雅黑"/>
              </a:rPr>
              <a:t>中国COPD的患病率</a:t>
            </a:r>
          </a:p>
        </p:txBody>
      </p:sp>
      <p:sp>
        <p:nvSpPr>
          <p:cNvPr id="20" name="Rounded Rectangle 19"/>
          <p:cNvSpPr/>
          <p:nvPr/>
        </p:nvSpPr>
        <p:spPr>
          <a:xfrm>
            <a:off x="6400800" y="1920240"/>
            <a:ext cx="4114800" cy="201168"/>
          </a:xfrm>
          <a:prstGeom prst="roundRect">
            <a:avLst/>
          </a:prstGeom>
          <a:solidFill>
            <a:srgbClr val="E0E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0" y="1920240"/>
            <a:ext cx="411480" cy="201168"/>
          </a:xfrm>
          <a:prstGeom prst="round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07040" y="1847088"/>
            <a:ext cx="731520" cy="292608"/>
          </a:xfrm>
          <a:prstGeom prst="rect">
            <a:avLst/>
          </a:prstGeom>
          <a:noFill/>
        </p:spPr>
        <p:txBody>
          <a:bodyPr wrap="square" anchor="ctr">
            <a:spAutoFit/>
          </a:bodyPr>
          <a:lstStyle/>
          <a:p>
            <a:pPr algn="l"/>
            <a:r>
              <a:rPr sz="1400" b="1">
                <a:solidFill>
                  <a:srgbClr val="D32F2F"/>
                </a:solidFill>
                <a:latin typeface="微软雅黑"/>
                <a:ea typeface="微软雅黑"/>
              </a:rPr>
              <a:t>10%</a:t>
            </a:r>
          </a:p>
        </p:txBody>
      </p:sp>
      <p:sp>
        <p:nvSpPr>
          <p:cNvPr id="23" name="Rectangle 22"/>
          <p:cNvSpPr/>
          <p:nvPr/>
        </p:nvSpPr>
        <p:spPr>
          <a:xfrm>
            <a:off x="365760" y="2606040"/>
            <a:ext cx="5669280" cy="38404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2606040"/>
            <a:ext cx="1645920" cy="384048"/>
          </a:xfrm>
          <a:prstGeom prst="rect">
            <a:avLst/>
          </a:prstGeom>
          <a:noFill/>
        </p:spPr>
        <p:txBody>
          <a:bodyPr wrap="square" anchor="ctr">
            <a:spAutoFit/>
          </a:bodyPr>
          <a:lstStyle/>
          <a:p>
            <a:pPr algn="ctr"/>
            <a:r>
              <a:rPr sz="1200" b="1">
                <a:solidFill>
                  <a:srgbClr val="FFFFFF"/>
                </a:solidFill>
                <a:latin typeface="微软雅黑"/>
                <a:ea typeface="微软雅黑"/>
              </a:rPr>
              <a:t>地区</a:t>
            </a:r>
          </a:p>
        </p:txBody>
      </p:sp>
      <p:sp>
        <p:nvSpPr>
          <p:cNvPr id="25" name="TextBox 24"/>
          <p:cNvSpPr txBox="1"/>
          <p:nvPr/>
        </p:nvSpPr>
        <p:spPr>
          <a:xfrm>
            <a:off x="2011680" y="2606040"/>
            <a:ext cx="4023360" cy="384048"/>
          </a:xfrm>
          <a:prstGeom prst="rect">
            <a:avLst/>
          </a:prstGeom>
          <a:noFill/>
        </p:spPr>
        <p:txBody>
          <a:bodyPr wrap="square" anchor="ctr">
            <a:spAutoFit/>
          </a:bodyPr>
          <a:lstStyle/>
          <a:p>
            <a:pPr algn="ctr"/>
            <a:r>
              <a:rPr sz="1200" b="1">
                <a:solidFill>
                  <a:srgbClr val="FFFFFF"/>
                </a:solidFill>
                <a:latin typeface="微软雅黑"/>
                <a:ea typeface="微软雅黑"/>
              </a:rPr>
              <a:t>患病率特点</a:t>
            </a:r>
          </a:p>
        </p:txBody>
      </p:sp>
      <p:sp>
        <p:nvSpPr>
          <p:cNvPr id="26" name="Rectangle 25"/>
          <p:cNvSpPr/>
          <p:nvPr/>
        </p:nvSpPr>
        <p:spPr>
          <a:xfrm>
            <a:off x="365760" y="2990088"/>
            <a:ext cx="5669280" cy="384048"/>
          </a:xfrm>
          <a:prstGeom prst="rect">
            <a:avLst/>
          </a:prstGeom>
          <a:solidFill>
            <a:srgbClr val="E8F0FE"/>
          </a:solidFill>
          <a:ln w="9525">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2990088"/>
            <a:ext cx="1645920" cy="384048"/>
          </a:xfrm>
          <a:prstGeom prst="rect">
            <a:avLst/>
          </a:prstGeom>
          <a:noFill/>
        </p:spPr>
        <p:txBody>
          <a:bodyPr wrap="square" anchor="ctr">
            <a:spAutoFit/>
          </a:bodyPr>
          <a:lstStyle/>
          <a:p>
            <a:pPr algn="ctr"/>
            <a:r>
              <a:rPr sz="1100" b="1">
                <a:solidFill>
                  <a:srgbClr val="1E3A8A"/>
                </a:solidFill>
                <a:latin typeface="微软雅黑"/>
                <a:ea typeface="微软雅黑"/>
              </a:rPr>
              <a:t>非洲</a:t>
            </a:r>
          </a:p>
        </p:txBody>
      </p:sp>
      <p:sp>
        <p:nvSpPr>
          <p:cNvPr id="28" name="TextBox 27"/>
          <p:cNvSpPr txBox="1"/>
          <p:nvPr/>
        </p:nvSpPr>
        <p:spPr>
          <a:xfrm>
            <a:off x="2011680" y="2990088"/>
            <a:ext cx="4023360" cy="384048"/>
          </a:xfrm>
          <a:prstGeom prst="rect">
            <a:avLst/>
          </a:prstGeom>
          <a:noFill/>
        </p:spPr>
        <p:txBody>
          <a:bodyPr wrap="square" anchor="ctr">
            <a:spAutoFit/>
          </a:bodyPr>
          <a:lstStyle/>
          <a:p>
            <a:pPr algn="l"/>
            <a:r>
              <a:rPr sz="1100" b="0">
                <a:solidFill>
                  <a:srgbClr val="1A1A1A"/>
                </a:solidFill>
                <a:latin typeface="微软雅黑"/>
                <a:ea typeface="微软雅黑"/>
              </a:rPr>
              <a:t>最高(13.9%)，西南部为热点区</a:t>
            </a:r>
          </a:p>
        </p:txBody>
      </p:sp>
      <p:sp>
        <p:nvSpPr>
          <p:cNvPr id="29" name="Rectangle 28"/>
          <p:cNvSpPr/>
          <p:nvPr/>
        </p:nvSpPr>
        <p:spPr>
          <a:xfrm>
            <a:off x="365760" y="3374136"/>
            <a:ext cx="5669280" cy="384048"/>
          </a:xfrm>
          <a:prstGeom prst="rect">
            <a:avLst/>
          </a:prstGeom>
          <a:solidFill>
            <a:srgbClr val="FFFFFF"/>
          </a:solidFill>
          <a:ln w="9525">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3374136"/>
            <a:ext cx="1645920" cy="384048"/>
          </a:xfrm>
          <a:prstGeom prst="rect">
            <a:avLst/>
          </a:prstGeom>
          <a:noFill/>
        </p:spPr>
        <p:txBody>
          <a:bodyPr wrap="square" anchor="ctr">
            <a:spAutoFit/>
          </a:bodyPr>
          <a:lstStyle/>
          <a:p>
            <a:pPr algn="ctr"/>
            <a:r>
              <a:rPr sz="1100" b="1">
                <a:solidFill>
                  <a:srgbClr val="1E3A8A"/>
                </a:solidFill>
                <a:latin typeface="微软雅黑"/>
                <a:ea typeface="微软雅黑"/>
              </a:rPr>
              <a:t>美洲</a:t>
            </a:r>
          </a:p>
        </p:txBody>
      </p:sp>
      <p:sp>
        <p:nvSpPr>
          <p:cNvPr id="31" name="TextBox 30"/>
          <p:cNvSpPr txBox="1"/>
          <p:nvPr/>
        </p:nvSpPr>
        <p:spPr>
          <a:xfrm>
            <a:off x="2011680" y="3374136"/>
            <a:ext cx="4023360" cy="384048"/>
          </a:xfrm>
          <a:prstGeom prst="rect">
            <a:avLst/>
          </a:prstGeom>
          <a:noFill/>
        </p:spPr>
        <p:txBody>
          <a:bodyPr wrap="square" anchor="ctr">
            <a:spAutoFit/>
          </a:bodyPr>
          <a:lstStyle/>
          <a:p>
            <a:pPr algn="l"/>
            <a:r>
              <a:rPr sz="1100" b="0">
                <a:solidFill>
                  <a:srgbClr val="1A1A1A"/>
                </a:solidFill>
                <a:latin typeface="微软雅黑"/>
                <a:ea typeface="微软雅黑"/>
              </a:rPr>
              <a:t>近年稳定在14.5%左右</a:t>
            </a:r>
          </a:p>
        </p:txBody>
      </p:sp>
      <p:sp>
        <p:nvSpPr>
          <p:cNvPr id="32" name="Rectangle 31"/>
          <p:cNvSpPr/>
          <p:nvPr/>
        </p:nvSpPr>
        <p:spPr>
          <a:xfrm>
            <a:off x="365760" y="3758184"/>
            <a:ext cx="5669280" cy="384048"/>
          </a:xfrm>
          <a:prstGeom prst="rect">
            <a:avLst/>
          </a:prstGeom>
          <a:solidFill>
            <a:srgbClr val="E8F0FE"/>
          </a:solidFill>
          <a:ln w="9525">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3758184"/>
            <a:ext cx="1645920" cy="384048"/>
          </a:xfrm>
          <a:prstGeom prst="rect">
            <a:avLst/>
          </a:prstGeom>
          <a:noFill/>
        </p:spPr>
        <p:txBody>
          <a:bodyPr wrap="square" anchor="ctr">
            <a:spAutoFit/>
          </a:bodyPr>
          <a:lstStyle/>
          <a:p>
            <a:pPr algn="ctr"/>
            <a:r>
              <a:rPr sz="1100" b="1">
                <a:solidFill>
                  <a:srgbClr val="1E3A8A"/>
                </a:solidFill>
                <a:latin typeface="微软雅黑"/>
                <a:ea typeface="微软雅黑"/>
              </a:rPr>
              <a:t>欧洲</a:t>
            </a:r>
          </a:p>
        </p:txBody>
      </p:sp>
      <p:sp>
        <p:nvSpPr>
          <p:cNvPr id="34" name="TextBox 33"/>
          <p:cNvSpPr txBox="1"/>
          <p:nvPr/>
        </p:nvSpPr>
        <p:spPr>
          <a:xfrm>
            <a:off x="2011680" y="3758184"/>
            <a:ext cx="4023360" cy="384048"/>
          </a:xfrm>
          <a:prstGeom prst="rect">
            <a:avLst/>
          </a:prstGeom>
          <a:noFill/>
        </p:spPr>
        <p:txBody>
          <a:bodyPr wrap="square" anchor="ctr">
            <a:spAutoFit/>
          </a:bodyPr>
          <a:lstStyle/>
          <a:p>
            <a:pPr algn="l"/>
            <a:r>
              <a:rPr sz="1100" b="0">
                <a:solidFill>
                  <a:srgbClr val="1A1A1A"/>
                </a:solidFill>
                <a:latin typeface="微软雅黑"/>
                <a:ea typeface="微软雅黑"/>
              </a:rPr>
              <a:t>12.4%，东欧平原为高发区</a:t>
            </a:r>
          </a:p>
        </p:txBody>
      </p:sp>
      <p:sp>
        <p:nvSpPr>
          <p:cNvPr id="35" name="Rectangle 34"/>
          <p:cNvSpPr/>
          <p:nvPr/>
        </p:nvSpPr>
        <p:spPr>
          <a:xfrm>
            <a:off x="365760" y="4142232"/>
            <a:ext cx="5669280" cy="384048"/>
          </a:xfrm>
          <a:prstGeom prst="rect">
            <a:avLst/>
          </a:prstGeom>
          <a:solidFill>
            <a:srgbClr val="FFFFFF"/>
          </a:solidFill>
          <a:ln w="9525">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4142232"/>
            <a:ext cx="1645920" cy="384048"/>
          </a:xfrm>
          <a:prstGeom prst="rect">
            <a:avLst/>
          </a:prstGeom>
          <a:noFill/>
        </p:spPr>
        <p:txBody>
          <a:bodyPr wrap="square" anchor="ctr">
            <a:spAutoFit/>
          </a:bodyPr>
          <a:lstStyle/>
          <a:p>
            <a:pPr algn="ctr"/>
            <a:r>
              <a:rPr sz="1100" b="1">
                <a:solidFill>
                  <a:srgbClr val="1E3A8A"/>
                </a:solidFill>
                <a:latin typeface="微软雅黑"/>
                <a:ea typeface="微软雅黑"/>
              </a:rPr>
              <a:t>东南亚/西太平洋</a:t>
            </a:r>
          </a:p>
        </p:txBody>
      </p:sp>
      <p:sp>
        <p:nvSpPr>
          <p:cNvPr id="37" name="TextBox 36"/>
          <p:cNvSpPr txBox="1"/>
          <p:nvPr/>
        </p:nvSpPr>
        <p:spPr>
          <a:xfrm>
            <a:off x="2011680" y="4142232"/>
            <a:ext cx="4023360" cy="384048"/>
          </a:xfrm>
          <a:prstGeom prst="rect">
            <a:avLst/>
          </a:prstGeom>
          <a:noFill/>
        </p:spPr>
        <p:txBody>
          <a:bodyPr wrap="square" anchor="ctr">
            <a:spAutoFit/>
          </a:bodyPr>
          <a:lstStyle/>
          <a:p>
            <a:pPr algn="l"/>
            <a:r>
              <a:rPr sz="1100" b="0">
                <a:solidFill>
                  <a:srgbClr val="1A1A1A"/>
                </a:solidFill>
                <a:latin typeface="微软雅黑"/>
                <a:ea typeface="微软雅黑"/>
              </a:rPr>
              <a:t>最低(8.8%~9.7%)但中国、印度负担沉重</a:t>
            </a:r>
          </a:p>
        </p:txBody>
      </p:sp>
      <p:sp>
        <p:nvSpPr>
          <p:cNvPr id="38" name="Oval 37"/>
          <p:cNvSpPr/>
          <p:nvPr/>
        </p:nvSpPr>
        <p:spPr>
          <a:xfrm>
            <a:off x="640080" y="4754880"/>
            <a:ext cx="1371600" cy="1371600"/>
          </a:xfrm>
          <a:prstGeom prst="ellipse">
            <a:avLst/>
          </a:prstGeom>
          <a:solidFill>
            <a:srgbClr val="FFFFFF"/>
          </a:solidFill>
          <a:ln w="3175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074920"/>
            <a:ext cx="1371600" cy="457200"/>
          </a:xfrm>
          <a:prstGeom prst="rect">
            <a:avLst/>
          </a:prstGeom>
          <a:noFill/>
        </p:spPr>
        <p:txBody>
          <a:bodyPr wrap="square" anchor="t">
            <a:spAutoFit/>
          </a:bodyPr>
          <a:lstStyle/>
          <a:p>
            <a:pPr algn="ctr"/>
            <a:r>
              <a:rPr sz="2200" b="1">
                <a:solidFill>
                  <a:srgbClr val="D32F2F"/>
                </a:solidFill>
                <a:latin typeface="微软雅黑"/>
                <a:ea typeface="微软雅黑"/>
              </a:rPr>
              <a:t>13.6%</a:t>
            </a:r>
          </a:p>
        </p:txBody>
      </p:sp>
      <p:sp>
        <p:nvSpPr>
          <p:cNvPr id="40" name="TextBox 39"/>
          <p:cNvSpPr txBox="1"/>
          <p:nvPr/>
        </p:nvSpPr>
        <p:spPr>
          <a:xfrm>
            <a:off x="457200" y="6172200"/>
            <a:ext cx="1828800" cy="320040"/>
          </a:xfrm>
          <a:prstGeom prst="rect">
            <a:avLst/>
          </a:prstGeom>
          <a:noFill/>
        </p:spPr>
        <p:txBody>
          <a:bodyPr wrap="square" anchor="t">
            <a:spAutoFit/>
          </a:bodyPr>
          <a:lstStyle/>
          <a:p>
            <a:pPr algn="ctr"/>
            <a:r>
              <a:rPr sz="1000" b="0">
                <a:solidFill>
                  <a:srgbClr val="4A5568"/>
                </a:solidFill>
                <a:latin typeface="微软雅黑"/>
                <a:ea typeface="微软雅黑"/>
              </a:rPr>
              <a:t>中国40岁以上人群患病率</a:t>
            </a:r>
          </a:p>
        </p:txBody>
      </p:sp>
      <p:sp>
        <p:nvSpPr>
          <p:cNvPr id="41" name="Oval 40"/>
          <p:cNvSpPr/>
          <p:nvPr/>
        </p:nvSpPr>
        <p:spPr>
          <a:xfrm>
            <a:off x="3200400" y="4754880"/>
            <a:ext cx="1371600" cy="1371600"/>
          </a:xfrm>
          <a:prstGeom prst="ellipse">
            <a:avLst/>
          </a:prstGeom>
          <a:solidFill>
            <a:srgbClr val="FFFFFF"/>
          </a:solidFill>
          <a:ln w="3175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00400" y="5074920"/>
            <a:ext cx="1371600" cy="457200"/>
          </a:xfrm>
          <a:prstGeom prst="rect">
            <a:avLst/>
          </a:prstGeom>
          <a:noFill/>
        </p:spPr>
        <p:txBody>
          <a:bodyPr wrap="square" anchor="t">
            <a:spAutoFit/>
          </a:bodyPr>
          <a:lstStyle/>
          <a:p>
            <a:pPr algn="ctr"/>
            <a:r>
              <a:rPr sz="2200" b="1">
                <a:solidFill>
                  <a:srgbClr val="D32F2F"/>
                </a:solidFill>
                <a:latin typeface="微软雅黑"/>
                <a:ea typeface="微软雅黑"/>
              </a:rPr>
              <a:t>8.6%</a:t>
            </a:r>
          </a:p>
        </p:txBody>
      </p:sp>
      <p:sp>
        <p:nvSpPr>
          <p:cNvPr id="43" name="TextBox 42"/>
          <p:cNvSpPr txBox="1"/>
          <p:nvPr/>
        </p:nvSpPr>
        <p:spPr>
          <a:xfrm>
            <a:off x="3017520" y="6172200"/>
            <a:ext cx="1828800" cy="320040"/>
          </a:xfrm>
          <a:prstGeom prst="rect">
            <a:avLst/>
          </a:prstGeom>
          <a:noFill/>
        </p:spPr>
        <p:txBody>
          <a:bodyPr wrap="square" anchor="t">
            <a:spAutoFit/>
          </a:bodyPr>
          <a:lstStyle/>
          <a:p>
            <a:pPr algn="ctr"/>
            <a:r>
              <a:rPr sz="1000" b="0">
                <a:solidFill>
                  <a:srgbClr val="4A5568"/>
                </a:solidFill>
                <a:latin typeface="微软雅黑"/>
                <a:ea typeface="微软雅黑"/>
              </a:rPr>
              <a:t>20岁以上人群总体患病率</a:t>
            </a:r>
          </a:p>
        </p:txBody>
      </p:sp>
      <p:sp>
        <p:nvSpPr>
          <p:cNvPr id="44" name="Rounded Rectangle 43"/>
          <p:cNvSpPr/>
          <p:nvPr/>
        </p:nvSpPr>
        <p:spPr>
          <a:xfrm>
            <a:off x="6400800" y="2606040"/>
            <a:ext cx="5394960" cy="352044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83680" y="2743200"/>
            <a:ext cx="5029200" cy="365760"/>
          </a:xfrm>
          <a:prstGeom prst="rect">
            <a:avLst/>
          </a:prstGeom>
          <a:noFill/>
        </p:spPr>
        <p:txBody>
          <a:bodyPr wrap="square" anchor="t">
            <a:spAutoFit/>
          </a:bodyPr>
          <a:lstStyle/>
          <a:p>
            <a:pPr algn="l"/>
            <a:r>
              <a:rPr sz="1400" b="1">
                <a:solidFill>
                  <a:srgbClr val="1E3A8A"/>
                </a:solidFill>
                <a:latin typeface="微软雅黑"/>
                <a:ea typeface="微软雅黑"/>
              </a:rPr>
              <a:t>全球疾病负担概览（矢量示意）</a:t>
            </a:r>
          </a:p>
        </p:txBody>
      </p:sp>
      <p:sp>
        <p:nvSpPr>
          <p:cNvPr id="46" name="Rounded Rectangle 45"/>
          <p:cNvSpPr/>
          <p:nvPr/>
        </p:nvSpPr>
        <p:spPr>
          <a:xfrm>
            <a:off x="6766560" y="3246120"/>
            <a:ext cx="2194560" cy="457200"/>
          </a:xfrm>
          <a:prstGeom prst="roundRect">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766560" y="3246120"/>
            <a:ext cx="2194560" cy="457200"/>
          </a:xfrm>
          <a:prstGeom prst="rect">
            <a:avLst/>
          </a:prstGeom>
          <a:noFill/>
        </p:spPr>
        <p:txBody>
          <a:bodyPr wrap="square" anchor="ctr">
            <a:spAutoFit/>
          </a:bodyPr>
          <a:lstStyle/>
          <a:p>
            <a:pPr algn="ctr"/>
            <a:r>
              <a:rPr sz="1200" b="1">
                <a:solidFill>
                  <a:srgbClr val="D32F2F"/>
                </a:solidFill>
                <a:latin typeface="微软雅黑"/>
                <a:ea typeface="微软雅黑"/>
              </a:rPr>
              <a:t>非洲 13.9%</a:t>
            </a:r>
          </a:p>
        </p:txBody>
      </p:sp>
      <p:sp>
        <p:nvSpPr>
          <p:cNvPr id="48" name="Rounded Rectangle 47"/>
          <p:cNvSpPr/>
          <p:nvPr/>
        </p:nvSpPr>
        <p:spPr>
          <a:xfrm>
            <a:off x="9144000" y="3246120"/>
            <a:ext cx="2194560" cy="457200"/>
          </a:xfrm>
          <a:prstGeom prst="roundRect">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0" y="3246120"/>
            <a:ext cx="2194560" cy="457200"/>
          </a:xfrm>
          <a:prstGeom prst="rect">
            <a:avLst/>
          </a:prstGeom>
          <a:noFill/>
        </p:spPr>
        <p:txBody>
          <a:bodyPr wrap="square" anchor="ctr">
            <a:spAutoFit/>
          </a:bodyPr>
          <a:lstStyle/>
          <a:p>
            <a:pPr algn="ctr"/>
            <a:r>
              <a:rPr sz="1200" b="1">
                <a:solidFill>
                  <a:srgbClr val="D32F2F"/>
                </a:solidFill>
                <a:latin typeface="微软雅黑"/>
                <a:ea typeface="微软雅黑"/>
              </a:rPr>
              <a:t>美洲 14.5%</a:t>
            </a:r>
          </a:p>
        </p:txBody>
      </p:sp>
      <p:sp>
        <p:nvSpPr>
          <p:cNvPr id="50" name="Rounded Rectangle 49"/>
          <p:cNvSpPr/>
          <p:nvPr/>
        </p:nvSpPr>
        <p:spPr>
          <a:xfrm>
            <a:off x="6766560" y="3886200"/>
            <a:ext cx="2194560" cy="457200"/>
          </a:xfrm>
          <a:prstGeom prst="roundRect">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766560" y="3886200"/>
            <a:ext cx="2194560" cy="457200"/>
          </a:xfrm>
          <a:prstGeom prst="rect">
            <a:avLst/>
          </a:prstGeom>
          <a:noFill/>
        </p:spPr>
        <p:txBody>
          <a:bodyPr wrap="square" anchor="ctr">
            <a:spAutoFit/>
          </a:bodyPr>
          <a:lstStyle/>
          <a:p>
            <a:pPr algn="ctr"/>
            <a:r>
              <a:rPr sz="1200" b="1">
                <a:solidFill>
                  <a:srgbClr val="D32F2F"/>
                </a:solidFill>
                <a:latin typeface="微软雅黑"/>
                <a:ea typeface="微软雅黑"/>
              </a:rPr>
              <a:t>欧洲 12.4%</a:t>
            </a:r>
          </a:p>
        </p:txBody>
      </p:sp>
      <p:sp>
        <p:nvSpPr>
          <p:cNvPr id="52" name="Rounded Rectangle 51"/>
          <p:cNvSpPr/>
          <p:nvPr/>
        </p:nvSpPr>
        <p:spPr>
          <a:xfrm>
            <a:off x="9144000" y="3886200"/>
            <a:ext cx="2194560" cy="457200"/>
          </a:xfrm>
          <a:prstGeom prst="roundRect">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44000" y="3886200"/>
            <a:ext cx="2194560" cy="457200"/>
          </a:xfrm>
          <a:prstGeom prst="rect">
            <a:avLst/>
          </a:prstGeom>
          <a:noFill/>
        </p:spPr>
        <p:txBody>
          <a:bodyPr wrap="square" anchor="ctr">
            <a:spAutoFit/>
          </a:bodyPr>
          <a:lstStyle/>
          <a:p>
            <a:pPr algn="ctr"/>
            <a:r>
              <a:rPr sz="1200" b="1">
                <a:solidFill>
                  <a:srgbClr val="D32F2F"/>
                </a:solidFill>
                <a:latin typeface="微软雅黑"/>
                <a:ea typeface="微软雅黑"/>
              </a:rPr>
              <a:t>东南亚 8.8~9.7%</a:t>
            </a:r>
          </a:p>
        </p:txBody>
      </p:sp>
      <p:sp>
        <p:nvSpPr>
          <p:cNvPr id="54" name="TextBox 53"/>
          <p:cNvSpPr txBox="1"/>
          <p:nvPr/>
        </p:nvSpPr>
        <p:spPr>
          <a:xfrm>
            <a:off x="6675120" y="4709160"/>
            <a:ext cx="4937760" cy="1097280"/>
          </a:xfrm>
          <a:prstGeom prst="rect">
            <a:avLst/>
          </a:prstGeom>
          <a:noFill/>
        </p:spPr>
        <p:txBody>
          <a:bodyPr wrap="square" anchor="t">
            <a:spAutoFit/>
          </a:bodyPr>
          <a:lstStyle/>
          <a:p>
            <a:pPr algn="l"/>
            <a:r>
              <a:rPr sz="1200" b="0">
                <a:solidFill>
                  <a:srgbClr val="4A5568"/>
                </a:solidFill>
                <a:latin typeface="微软雅黑"/>
                <a:ea typeface="微软雅黑"/>
              </a:rPr>
              <a:t>65岁以上人群占比增加直接推高发病率。
风险因素：吸烟、职业暴露、环境颗粒物、
室内空气污染、环境臭氧等。</a:t>
            </a:r>
          </a:p>
        </p:txBody>
      </p:sp>
      <p:sp>
        <p:nvSpPr>
          <p:cNvPr id="55" name="TextBox 54"/>
          <p:cNvSpPr txBox="1"/>
          <p:nvPr/>
        </p:nvSpPr>
        <p:spPr>
          <a:xfrm>
            <a:off x="365760" y="6446520"/>
            <a:ext cx="11430000" cy="365760"/>
          </a:xfrm>
          <a:prstGeom prst="rect">
            <a:avLst/>
          </a:prstGeom>
          <a:noFill/>
        </p:spPr>
        <p:txBody>
          <a:bodyPr wrap="square" anchor="t">
            <a:spAutoFit/>
          </a:bodyPr>
          <a:lstStyle/>
          <a:p>
            <a:pPr algn="l"/>
            <a:r>
              <a:rPr sz="900" b="0">
                <a:solidFill>
                  <a:srgbClr val="90A0B0"/>
                </a:solidFill>
                <a:latin typeface="微软雅黑"/>
                <a:ea typeface="微软雅黑"/>
              </a:rPr>
              <a:t>[2]张艳.中文科技期刊数据库(文摘版)医药卫生,2025(2):158-161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疾病危害</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前言背景</a:t>
            </a:r>
          </a:p>
        </p:txBody>
      </p:sp>
      <p:sp>
        <p:nvSpPr>
          <p:cNvPr id="6" name="Rectangle 5"/>
          <p:cNvSpPr/>
          <p:nvPr/>
        </p:nvSpPr>
        <p:spPr>
          <a:xfrm>
            <a:off x="598932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9" name="Rectangle 8"/>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护理过程</a:t>
            </a: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TextBox 12"/>
          <p:cNvSpPr txBox="1"/>
          <p:nvPr/>
        </p:nvSpPr>
        <p:spPr>
          <a:xfrm>
            <a:off x="182880" y="1097280"/>
            <a:ext cx="502920" cy="2011680"/>
          </a:xfrm>
          <a:prstGeom prst="rect">
            <a:avLst/>
          </a:prstGeom>
          <a:noFill/>
        </p:spPr>
        <p:txBody>
          <a:bodyPr wrap="square" anchor="t">
            <a:spAutoFit/>
          </a:bodyPr>
          <a:lstStyle/>
          <a:p>
            <a:pPr algn="ctr"/>
            <a:r>
              <a:rPr sz="1300" b="1">
                <a:solidFill>
                  <a:srgbClr val="1A1A1A"/>
                </a:solidFill>
                <a:latin typeface="微软雅黑"/>
                <a:ea typeface="微软雅黑"/>
              </a:rPr>
              <a:t>对患者的危害</a:t>
            </a:r>
          </a:p>
        </p:txBody>
      </p:sp>
      <p:sp>
        <p:nvSpPr>
          <p:cNvPr id="14" name="Rounded Rectangle 13"/>
          <p:cNvSpPr/>
          <p:nvPr/>
        </p:nvSpPr>
        <p:spPr>
          <a:xfrm>
            <a:off x="914400" y="1005840"/>
            <a:ext cx="3383280" cy="1828800"/>
          </a:xfrm>
          <a:prstGeom prst="roundRect">
            <a:avLst/>
          </a:prstGeom>
          <a:solidFill>
            <a:srgbClr val="FFFFFF"/>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1143000"/>
            <a:ext cx="3200400" cy="411480"/>
          </a:xfrm>
          <a:prstGeom prst="rect">
            <a:avLst/>
          </a:prstGeom>
          <a:noFill/>
        </p:spPr>
        <p:txBody>
          <a:bodyPr wrap="square" anchor="t">
            <a:spAutoFit/>
          </a:bodyPr>
          <a:lstStyle/>
          <a:p>
            <a:pPr algn="ctr"/>
            <a:r>
              <a:rPr sz="1600" b="1">
                <a:solidFill>
                  <a:srgbClr val="1E3A8A"/>
                </a:solidFill>
                <a:latin typeface="微软雅黑"/>
                <a:ea typeface="微软雅黑"/>
              </a:rPr>
              <a:t>生理功能受限</a:t>
            </a:r>
          </a:p>
        </p:txBody>
      </p:sp>
      <p:sp>
        <p:nvSpPr>
          <p:cNvPr id="16" name="Oval 15"/>
          <p:cNvSpPr/>
          <p:nvPr/>
        </p:nvSpPr>
        <p:spPr>
          <a:xfrm>
            <a:off x="1965960" y="1691640"/>
            <a:ext cx="1097280" cy="1097280"/>
          </a:xfrm>
          <a:prstGeom prst="ellipse">
            <a:avLst/>
          </a:prstGeom>
          <a:solidFill>
            <a:srgbClr val="FFEC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468880"/>
            <a:ext cx="3200400" cy="274320"/>
          </a:xfrm>
          <a:prstGeom prst="rect">
            <a:avLst/>
          </a:prstGeom>
          <a:noFill/>
        </p:spPr>
        <p:txBody>
          <a:bodyPr wrap="square" anchor="t">
            <a:spAutoFit/>
          </a:bodyPr>
          <a:lstStyle/>
          <a:p>
            <a:pPr algn="ctr"/>
            <a:r>
              <a:rPr sz="1100" b="0">
                <a:solidFill>
                  <a:srgbClr val="4A5568"/>
                </a:solidFill>
                <a:latin typeface="微软雅黑"/>
                <a:ea typeface="微软雅黑"/>
              </a:rPr>
              <a:t>咳嗽 · 炎症 · 卧床</a:t>
            </a:r>
          </a:p>
        </p:txBody>
      </p:sp>
      <p:sp>
        <p:nvSpPr>
          <p:cNvPr id="18" name="Rounded Rectangle 17"/>
          <p:cNvSpPr/>
          <p:nvPr/>
        </p:nvSpPr>
        <p:spPr>
          <a:xfrm>
            <a:off x="4572000" y="1005840"/>
            <a:ext cx="3383280" cy="1828800"/>
          </a:xfrm>
          <a:prstGeom prst="roundRect">
            <a:avLst/>
          </a:prstGeom>
          <a:solidFill>
            <a:srgbClr val="FFFFFF"/>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1143000"/>
            <a:ext cx="3200400" cy="411480"/>
          </a:xfrm>
          <a:prstGeom prst="rect">
            <a:avLst/>
          </a:prstGeom>
          <a:noFill/>
        </p:spPr>
        <p:txBody>
          <a:bodyPr wrap="square" anchor="t">
            <a:spAutoFit/>
          </a:bodyPr>
          <a:lstStyle/>
          <a:p>
            <a:pPr algn="ctr"/>
            <a:r>
              <a:rPr sz="1600" b="1">
                <a:solidFill>
                  <a:srgbClr val="1E3A8A"/>
                </a:solidFill>
                <a:latin typeface="微软雅黑"/>
                <a:ea typeface="微软雅黑"/>
              </a:rPr>
              <a:t>经济负担重</a:t>
            </a:r>
          </a:p>
        </p:txBody>
      </p:sp>
      <p:sp>
        <p:nvSpPr>
          <p:cNvPr id="20" name="Oval 19"/>
          <p:cNvSpPr/>
          <p:nvPr/>
        </p:nvSpPr>
        <p:spPr>
          <a:xfrm>
            <a:off x="5623560" y="1691640"/>
            <a:ext cx="1097280" cy="1097280"/>
          </a:xfrm>
          <a:prstGeom prst="ellipse">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2468880"/>
            <a:ext cx="3200400" cy="274320"/>
          </a:xfrm>
          <a:prstGeom prst="rect">
            <a:avLst/>
          </a:prstGeom>
          <a:noFill/>
        </p:spPr>
        <p:txBody>
          <a:bodyPr wrap="square" anchor="t">
            <a:spAutoFit/>
          </a:bodyPr>
          <a:lstStyle/>
          <a:p>
            <a:pPr algn="ctr"/>
            <a:r>
              <a:rPr sz="1100" b="0">
                <a:solidFill>
                  <a:srgbClr val="4A5568"/>
                </a:solidFill>
                <a:latin typeface="微软雅黑"/>
                <a:ea typeface="微软雅黑"/>
              </a:rPr>
              <a:t>医疗支出增加</a:t>
            </a:r>
          </a:p>
        </p:txBody>
      </p:sp>
      <p:sp>
        <p:nvSpPr>
          <p:cNvPr id="22" name="Rounded Rectangle 21"/>
          <p:cNvSpPr/>
          <p:nvPr/>
        </p:nvSpPr>
        <p:spPr>
          <a:xfrm>
            <a:off x="8229600" y="1005840"/>
            <a:ext cx="3383280" cy="1828800"/>
          </a:xfrm>
          <a:prstGeom prst="roundRect">
            <a:avLst/>
          </a:prstGeom>
          <a:solidFill>
            <a:srgbClr val="FFFFFF"/>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0" y="1143000"/>
            <a:ext cx="3200400" cy="411480"/>
          </a:xfrm>
          <a:prstGeom prst="rect">
            <a:avLst/>
          </a:prstGeom>
          <a:noFill/>
        </p:spPr>
        <p:txBody>
          <a:bodyPr wrap="square" anchor="t">
            <a:spAutoFit/>
          </a:bodyPr>
          <a:lstStyle/>
          <a:p>
            <a:pPr algn="ctr"/>
            <a:r>
              <a:rPr sz="1600" b="1">
                <a:solidFill>
                  <a:srgbClr val="1E3A8A"/>
                </a:solidFill>
                <a:latin typeface="微软雅黑"/>
                <a:ea typeface="微软雅黑"/>
              </a:rPr>
              <a:t>生活质量下降</a:t>
            </a:r>
          </a:p>
        </p:txBody>
      </p:sp>
      <p:sp>
        <p:nvSpPr>
          <p:cNvPr id="24" name="Oval 23"/>
          <p:cNvSpPr/>
          <p:nvPr/>
        </p:nvSpPr>
        <p:spPr>
          <a:xfrm>
            <a:off x="9281160" y="1691640"/>
            <a:ext cx="1097280" cy="1097280"/>
          </a:xfrm>
          <a:prstGeom prst="ellipse">
            <a:avLst/>
          </a:prstGeom>
          <a:solidFill>
            <a:srgbClr val="BBDE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2468880"/>
            <a:ext cx="3200400" cy="274320"/>
          </a:xfrm>
          <a:prstGeom prst="rect">
            <a:avLst/>
          </a:prstGeom>
          <a:noFill/>
        </p:spPr>
        <p:txBody>
          <a:bodyPr wrap="square" anchor="t">
            <a:spAutoFit/>
          </a:bodyPr>
          <a:lstStyle/>
          <a:p>
            <a:pPr algn="ctr"/>
            <a:r>
              <a:rPr sz="1100" b="0">
                <a:solidFill>
                  <a:srgbClr val="4A5568"/>
                </a:solidFill>
                <a:latin typeface="微软雅黑"/>
                <a:ea typeface="微软雅黑"/>
              </a:rPr>
              <a:t>乏力 · 疼痛 · 活动受限</a:t>
            </a:r>
          </a:p>
        </p:txBody>
      </p:sp>
      <p:sp>
        <p:nvSpPr>
          <p:cNvPr id="26" name="Rounded Rectangle 25"/>
          <p:cNvSpPr/>
          <p:nvPr/>
        </p:nvSpPr>
        <p:spPr>
          <a:xfrm>
            <a:off x="365760" y="3108960"/>
            <a:ext cx="3657600" cy="29260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3246120"/>
            <a:ext cx="3383280" cy="365760"/>
          </a:xfrm>
          <a:prstGeom prst="rect">
            <a:avLst/>
          </a:prstGeom>
          <a:noFill/>
        </p:spPr>
        <p:txBody>
          <a:bodyPr wrap="square" anchor="t">
            <a:spAutoFit/>
          </a:bodyPr>
          <a:lstStyle/>
          <a:p>
            <a:pPr algn="ctr"/>
            <a:r>
              <a:rPr sz="1600" b="1">
                <a:solidFill>
                  <a:srgbClr val="2E5BB9"/>
                </a:solidFill>
                <a:latin typeface="微软雅黑"/>
                <a:ea typeface="微软雅黑"/>
              </a:rPr>
              <a:t>呼吸系统</a:t>
            </a:r>
          </a:p>
        </p:txBody>
      </p:sp>
      <p:sp>
        <p:nvSpPr>
          <p:cNvPr id="28" name="TextBox 27"/>
          <p:cNvSpPr txBox="1"/>
          <p:nvPr/>
        </p:nvSpPr>
        <p:spPr>
          <a:xfrm>
            <a:off x="548640" y="3749039"/>
            <a:ext cx="3291840" cy="1371600"/>
          </a:xfrm>
          <a:prstGeom prst="rect">
            <a:avLst/>
          </a:prstGeom>
          <a:noFill/>
        </p:spPr>
        <p:txBody>
          <a:bodyPr wrap="square" anchor="t">
            <a:spAutoFit/>
          </a:bodyPr>
          <a:lstStyle/>
          <a:p>
            <a:pPr algn="l"/>
            <a:r>
              <a:rPr sz="1300" b="0">
                <a:solidFill>
                  <a:srgbClr val="1A1A1A"/>
                </a:solidFill>
                <a:latin typeface="微软雅黑"/>
                <a:ea typeface="微软雅黑"/>
              </a:rPr>
              <a:t>气道炎症造成肺功能减退、气体交换障碍；急性发作可并发肺炎。</a:t>
            </a:r>
          </a:p>
        </p:txBody>
      </p:sp>
      <p:sp>
        <p:nvSpPr>
          <p:cNvPr id="29" name="Oval 28"/>
          <p:cNvSpPr/>
          <p:nvPr/>
        </p:nvSpPr>
        <p:spPr>
          <a:xfrm>
            <a:off x="1554480" y="5120640"/>
            <a:ext cx="1097280" cy="1097280"/>
          </a:xfrm>
          <a:prstGeom prst="ellipse">
            <a:avLst/>
          </a:prstGeom>
          <a:solidFill>
            <a:srgbClr val="FFFFFF"/>
          </a:solidFill>
          <a:ln w="19050">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554480" y="5394960"/>
            <a:ext cx="1097280" cy="548640"/>
          </a:xfrm>
          <a:prstGeom prst="rect">
            <a:avLst/>
          </a:prstGeom>
          <a:noFill/>
        </p:spPr>
        <p:txBody>
          <a:bodyPr wrap="square" anchor="t">
            <a:spAutoFit/>
          </a:bodyPr>
          <a:lstStyle/>
          <a:p>
            <a:pPr algn="ctr"/>
            <a:r>
              <a:rPr sz="1800" b="1">
                <a:solidFill>
                  <a:srgbClr val="1E3A8A"/>
                </a:solidFill>
                <a:latin typeface="微软雅黑"/>
                <a:ea typeface="微软雅黑"/>
              </a:rPr>
              <a:t>肺</a:t>
            </a:r>
          </a:p>
        </p:txBody>
      </p:sp>
      <p:sp>
        <p:nvSpPr>
          <p:cNvPr id="31" name="Rounded Rectangle 30"/>
          <p:cNvSpPr/>
          <p:nvPr/>
        </p:nvSpPr>
        <p:spPr>
          <a:xfrm>
            <a:off x="4251960" y="3108960"/>
            <a:ext cx="3657600" cy="29260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0" y="3246120"/>
            <a:ext cx="3383280" cy="365760"/>
          </a:xfrm>
          <a:prstGeom prst="rect">
            <a:avLst/>
          </a:prstGeom>
          <a:noFill/>
        </p:spPr>
        <p:txBody>
          <a:bodyPr wrap="square" anchor="t">
            <a:spAutoFit/>
          </a:bodyPr>
          <a:lstStyle/>
          <a:p>
            <a:pPr algn="ctr"/>
            <a:r>
              <a:rPr sz="1600" b="1">
                <a:solidFill>
                  <a:srgbClr val="2E5BB9"/>
                </a:solidFill>
                <a:latin typeface="微软雅黑"/>
                <a:ea typeface="微软雅黑"/>
              </a:rPr>
              <a:t>心血管系统</a:t>
            </a:r>
          </a:p>
        </p:txBody>
      </p:sp>
      <p:sp>
        <p:nvSpPr>
          <p:cNvPr id="33" name="TextBox 32"/>
          <p:cNvSpPr txBox="1"/>
          <p:nvPr/>
        </p:nvSpPr>
        <p:spPr>
          <a:xfrm>
            <a:off x="4434840" y="3749039"/>
            <a:ext cx="3291840" cy="1371600"/>
          </a:xfrm>
          <a:prstGeom prst="rect">
            <a:avLst/>
          </a:prstGeom>
          <a:noFill/>
        </p:spPr>
        <p:txBody>
          <a:bodyPr wrap="square" anchor="t">
            <a:spAutoFit/>
          </a:bodyPr>
          <a:lstStyle/>
          <a:p>
            <a:pPr algn="l"/>
            <a:r>
              <a:rPr sz="1300" b="0">
                <a:solidFill>
                  <a:srgbClr val="1A1A1A"/>
                </a:solidFill>
                <a:latin typeface="微软雅黑"/>
                <a:ea typeface="微软雅黑"/>
              </a:rPr>
              <a:t>慢性缺氧诱发肺动脉高压、肺心病，合并心脑血管疾病风险升高。</a:t>
            </a:r>
          </a:p>
        </p:txBody>
      </p:sp>
      <p:sp>
        <p:nvSpPr>
          <p:cNvPr id="34" name="Oval 33"/>
          <p:cNvSpPr/>
          <p:nvPr/>
        </p:nvSpPr>
        <p:spPr>
          <a:xfrm>
            <a:off x="5440680" y="5120640"/>
            <a:ext cx="1097280" cy="1097280"/>
          </a:xfrm>
          <a:prstGeom prst="ellipse">
            <a:avLst/>
          </a:prstGeom>
          <a:solidFill>
            <a:srgbClr val="FFFFFF"/>
          </a:solidFill>
          <a:ln w="19050">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40680" y="5394960"/>
            <a:ext cx="1097280" cy="548640"/>
          </a:xfrm>
          <a:prstGeom prst="rect">
            <a:avLst/>
          </a:prstGeom>
          <a:noFill/>
        </p:spPr>
        <p:txBody>
          <a:bodyPr wrap="square" anchor="t">
            <a:spAutoFit/>
          </a:bodyPr>
          <a:lstStyle/>
          <a:p>
            <a:pPr algn="ctr"/>
            <a:r>
              <a:rPr sz="1800" b="1">
                <a:solidFill>
                  <a:srgbClr val="1E3A8A"/>
                </a:solidFill>
                <a:latin typeface="微软雅黑"/>
                <a:ea typeface="微软雅黑"/>
              </a:rPr>
              <a:t>心</a:t>
            </a:r>
          </a:p>
        </p:txBody>
      </p:sp>
      <p:sp>
        <p:nvSpPr>
          <p:cNvPr id="36" name="Rounded Rectangle 35"/>
          <p:cNvSpPr/>
          <p:nvPr/>
        </p:nvSpPr>
        <p:spPr>
          <a:xfrm>
            <a:off x="8138160" y="3108960"/>
            <a:ext cx="3657600" cy="29260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75320" y="3246120"/>
            <a:ext cx="3383280" cy="365760"/>
          </a:xfrm>
          <a:prstGeom prst="rect">
            <a:avLst/>
          </a:prstGeom>
          <a:noFill/>
        </p:spPr>
        <p:txBody>
          <a:bodyPr wrap="square" anchor="t">
            <a:spAutoFit/>
          </a:bodyPr>
          <a:lstStyle/>
          <a:p>
            <a:pPr algn="ctr"/>
            <a:r>
              <a:rPr sz="1600" b="1">
                <a:solidFill>
                  <a:srgbClr val="2E5BB9"/>
                </a:solidFill>
                <a:latin typeface="微软雅黑"/>
                <a:ea typeface="微软雅黑"/>
              </a:rPr>
              <a:t>全身性</a:t>
            </a:r>
          </a:p>
        </p:txBody>
      </p:sp>
      <p:sp>
        <p:nvSpPr>
          <p:cNvPr id="38" name="TextBox 37"/>
          <p:cNvSpPr txBox="1"/>
          <p:nvPr/>
        </p:nvSpPr>
        <p:spPr>
          <a:xfrm>
            <a:off x="8321040" y="3749039"/>
            <a:ext cx="3291840" cy="1371600"/>
          </a:xfrm>
          <a:prstGeom prst="rect">
            <a:avLst/>
          </a:prstGeom>
          <a:noFill/>
        </p:spPr>
        <p:txBody>
          <a:bodyPr wrap="square" anchor="t">
            <a:spAutoFit/>
          </a:bodyPr>
          <a:lstStyle/>
          <a:p>
            <a:pPr algn="l"/>
            <a:r>
              <a:rPr sz="1300" b="0">
                <a:solidFill>
                  <a:srgbClr val="1A1A1A"/>
                </a:solidFill>
                <a:latin typeface="微软雅黑"/>
                <a:ea typeface="微软雅黑"/>
              </a:rPr>
              <a:t>吸烟叠加致病，肺癌风险倍增；长期缺氧可诱发骨质疏松、肌肉萎缩。</a:t>
            </a:r>
          </a:p>
        </p:txBody>
      </p:sp>
      <p:sp>
        <p:nvSpPr>
          <p:cNvPr id="39" name="Oval 38"/>
          <p:cNvSpPr/>
          <p:nvPr/>
        </p:nvSpPr>
        <p:spPr>
          <a:xfrm>
            <a:off x="9326880" y="5120640"/>
            <a:ext cx="1097280" cy="1097280"/>
          </a:xfrm>
          <a:prstGeom prst="ellipse">
            <a:avLst/>
          </a:prstGeom>
          <a:solidFill>
            <a:srgbClr val="FFFFFF"/>
          </a:solidFill>
          <a:ln w="19050">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0" y="5394960"/>
            <a:ext cx="1097280" cy="548640"/>
          </a:xfrm>
          <a:prstGeom prst="rect">
            <a:avLst/>
          </a:prstGeom>
          <a:noFill/>
        </p:spPr>
        <p:txBody>
          <a:bodyPr wrap="square" anchor="t">
            <a:spAutoFit/>
          </a:bodyPr>
          <a:lstStyle/>
          <a:p>
            <a:pPr algn="ctr"/>
            <a:r>
              <a:rPr sz="1800" b="1">
                <a:solidFill>
                  <a:srgbClr val="1E3A8A"/>
                </a:solidFill>
                <a:latin typeface="微软雅黑"/>
                <a:ea typeface="微软雅黑"/>
              </a:rPr>
              <a:t>骨</a:t>
            </a:r>
          </a:p>
        </p:txBody>
      </p:sp>
      <p:sp>
        <p:nvSpPr>
          <p:cNvPr id="41" name="TextBox 40"/>
          <p:cNvSpPr txBox="1"/>
          <p:nvPr/>
        </p:nvSpPr>
        <p:spPr>
          <a:xfrm>
            <a:off x="365760" y="6446520"/>
            <a:ext cx="11430000" cy="365760"/>
          </a:xfrm>
          <a:prstGeom prst="rect">
            <a:avLst/>
          </a:prstGeom>
          <a:noFill/>
        </p:spPr>
        <p:txBody>
          <a:bodyPr wrap="square" anchor="t">
            <a:spAutoFit/>
          </a:bodyPr>
          <a:lstStyle/>
          <a:p>
            <a:pPr algn="l"/>
            <a:r>
              <a:rPr sz="900" b="0">
                <a:solidFill>
                  <a:srgbClr val="90A0B0"/>
                </a:solidFill>
                <a:latin typeface="微软雅黑"/>
                <a:ea typeface="微软雅黑"/>
              </a:rPr>
              <a:t>[4]李爱华等.中华养生保健,2025,43(7):185-189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病例介绍</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病例介绍</a:t>
            </a:r>
          </a:p>
        </p:txBody>
      </p:sp>
      <p:sp>
        <p:nvSpPr>
          <p:cNvPr id="8" name="Rectangle 7"/>
          <p:cNvSpPr/>
          <p:nvPr/>
        </p:nvSpPr>
        <p:spPr>
          <a:xfrm>
            <a:off x="754380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护理过程</a:t>
            </a: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365760" y="1005840"/>
            <a:ext cx="3657600" cy="5120640"/>
          </a:xfrm>
          <a:prstGeom prst="roundRect">
            <a:avLst/>
          </a:prstGeom>
          <a:solidFill>
            <a:srgbClr val="F5F8FC"/>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417320" y="1280160"/>
            <a:ext cx="1554480" cy="1554480"/>
          </a:xfrm>
          <a:prstGeom prst="ellipse">
            <a:avLst/>
          </a:prstGeom>
          <a:solidFill>
            <a:srgbClr val="E8F0FE"/>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17320" y="1691640"/>
            <a:ext cx="1554480" cy="640080"/>
          </a:xfrm>
          <a:prstGeom prst="rect">
            <a:avLst/>
          </a:prstGeom>
          <a:noFill/>
        </p:spPr>
        <p:txBody>
          <a:bodyPr wrap="square" anchor="t">
            <a:spAutoFit/>
          </a:bodyPr>
          <a:lstStyle/>
          <a:p>
            <a:pPr algn="ctr"/>
            <a:r>
              <a:rPr sz="2800" b="1">
                <a:solidFill>
                  <a:srgbClr val="1E3A8A"/>
                </a:solidFill>
                <a:latin typeface="微软雅黑"/>
                <a:ea typeface="微软雅黑"/>
              </a:rPr>
              <a:t>男</a:t>
            </a:r>
          </a:p>
        </p:txBody>
      </p:sp>
      <p:sp>
        <p:nvSpPr>
          <p:cNvPr id="16" name="TextBox 15"/>
          <p:cNvSpPr txBox="1"/>
          <p:nvPr/>
        </p:nvSpPr>
        <p:spPr>
          <a:xfrm>
            <a:off x="640080" y="3108960"/>
            <a:ext cx="3108960" cy="274320"/>
          </a:xfrm>
          <a:prstGeom prst="rect">
            <a:avLst/>
          </a:prstGeom>
          <a:noFill/>
        </p:spPr>
        <p:txBody>
          <a:bodyPr wrap="square" anchor="t">
            <a:spAutoFit/>
          </a:bodyPr>
          <a:lstStyle/>
          <a:p>
            <a:pPr algn="l"/>
            <a:r>
              <a:rPr sz="1200" b="0">
                <a:solidFill>
                  <a:srgbClr val="4A5568"/>
                </a:solidFill>
                <a:latin typeface="微软雅黑"/>
                <a:ea typeface="微软雅黑"/>
              </a:rPr>
              <a:t>姓名</a:t>
            </a:r>
          </a:p>
        </p:txBody>
      </p:sp>
      <p:sp>
        <p:nvSpPr>
          <p:cNvPr id="17" name="TextBox 16"/>
          <p:cNvSpPr txBox="1"/>
          <p:nvPr/>
        </p:nvSpPr>
        <p:spPr>
          <a:xfrm>
            <a:off x="640080" y="3364992"/>
            <a:ext cx="3108960" cy="320040"/>
          </a:xfrm>
          <a:prstGeom prst="rect">
            <a:avLst/>
          </a:prstGeom>
          <a:noFill/>
        </p:spPr>
        <p:txBody>
          <a:bodyPr wrap="square" anchor="t">
            <a:spAutoFit/>
          </a:bodyPr>
          <a:lstStyle/>
          <a:p>
            <a:pPr algn="l"/>
            <a:r>
              <a:rPr sz="1600" b="1">
                <a:solidFill>
                  <a:srgbClr val="1A1A1A"/>
                </a:solidFill>
                <a:latin typeface="微软雅黑"/>
                <a:ea typeface="微软雅黑"/>
              </a:rPr>
              <a:t>姚××</a:t>
            </a:r>
          </a:p>
        </p:txBody>
      </p:sp>
      <p:sp>
        <p:nvSpPr>
          <p:cNvPr id="18" name="TextBox 17"/>
          <p:cNvSpPr txBox="1"/>
          <p:nvPr/>
        </p:nvSpPr>
        <p:spPr>
          <a:xfrm>
            <a:off x="640080" y="3749040"/>
            <a:ext cx="3108960" cy="274320"/>
          </a:xfrm>
          <a:prstGeom prst="rect">
            <a:avLst/>
          </a:prstGeom>
          <a:noFill/>
        </p:spPr>
        <p:txBody>
          <a:bodyPr wrap="square" anchor="t">
            <a:spAutoFit/>
          </a:bodyPr>
          <a:lstStyle/>
          <a:p>
            <a:pPr algn="l"/>
            <a:r>
              <a:rPr sz="1200" b="0">
                <a:solidFill>
                  <a:srgbClr val="4A5568"/>
                </a:solidFill>
                <a:latin typeface="微软雅黑"/>
                <a:ea typeface="微软雅黑"/>
              </a:rPr>
              <a:t>性别</a:t>
            </a:r>
          </a:p>
        </p:txBody>
      </p:sp>
      <p:sp>
        <p:nvSpPr>
          <p:cNvPr id="19" name="TextBox 18"/>
          <p:cNvSpPr txBox="1"/>
          <p:nvPr/>
        </p:nvSpPr>
        <p:spPr>
          <a:xfrm>
            <a:off x="640080" y="4005072"/>
            <a:ext cx="3108960" cy="320040"/>
          </a:xfrm>
          <a:prstGeom prst="rect">
            <a:avLst/>
          </a:prstGeom>
          <a:noFill/>
        </p:spPr>
        <p:txBody>
          <a:bodyPr wrap="square" anchor="t">
            <a:spAutoFit/>
          </a:bodyPr>
          <a:lstStyle/>
          <a:p>
            <a:pPr algn="l"/>
            <a:r>
              <a:rPr sz="1600" b="1">
                <a:solidFill>
                  <a:srgbClr val="1A1A1A"/>
                </a:solidFill>
                <a:latin typeface="微软雅黑"/>
                <a:ea typeface="微软雅黑"/>
              </a:rPr>
              <a:t>男</a:t>
            </a:r>
          </a:p>
        </p:txBody>
      </p:sp>
      <p:sp>
        <p:nvSpPr>
          <p:cNvPr id="20" name="TextBox 19"/>
          <p:cNvSpPr txBox="1"/>
          <p:nvPr/>
        </p:nvSpPr>
        <p:spPr>
          <a:xfrm>
            <a:off x="640080" y="4389120"/>
            <a:ext cx="3108960" cy="274320"/>
          </a:xfrm>
          <a:prstGeom prst="rect">
            <a:avLst/>
          </a:prstGeom>
          <a:noFill/>
        </p:spPr>
        <p:txBody>
          <a:bodyPr wrap="square" anchor="t">
            <a:spAutoFit/>
          </a:bodyPr>
          <a:lstStyle/>
          <a:p>
            <a:pPr algn="l"/>
            <a:r>
              <a:rPr sz="1200" b="0">
                <a:solidFill>
                  <a:srgbClr val="4A5568"/>
                </a:solidFill>
                <a:latin typeface="微软雅黑"/>
                <a:ea typeface="微软雅黑"/>
              </a:rPr>
              <a:t>年龄</a:t>
            </a:r>
          </a:p>
        </p:txBody>
      </p:sp>
      <p:sp>
        <p:nvSpPr>
          <p:cNvPr id="21" name="TextBox 20"/>
          <p:cNvSpPr txBox="1"/>
          <p:nvPr/>
        </p:nvSpPr>
        <p:spPr>
          <a:xfrm>
            <a:off x="640080" y="4645152"/>
            <a:ext cx="3108960" cy="320040"/>
          </a:xfrm>
          <a:prstGeom prst="rect">
            <a:avLst/>
          </a:prstGeom>
          <a:noFill/>
        </p:spPr>
        <p:txBody>
          <a:bodyPr wrap="square" anchor="t">
            <a:spAutoFit/>
          </a:bodyPr>
          <a:lstStyle/>
          <a:p>
            <a:pPr algn="l"/>
            <a:r>
              <a:rPr sz="1600" b="1">
                <a:solidFill>
                  <a:srgbClr val="1A1A1A"/>
                </a:solidFill>
                <a:latin typeface="微软雅黑"/>
                <a:ea typeface="微软雅黑"/>
              </a:rPr>
              <a:t>69岁</a:t>
            </a:r>
          </a:p>
        </p:txBody>
      </p:sp>
      <p:sp>
        <p:nvSpPr>
          <p:cNvPr id="22" name="TextBox 21"/>
          <p:cNvSpPr txBox="1"/>
          <p:nvPr/>
        </p:nvSpPr>
        <p:spPr>
          <a:xfrm>
            <a:off x="640080" y="5029199"/>
            <a:ext cx="3108960" cy="274320"/>
          </a:xfrm>
          <a:prstGeom prst="rect">
            <a:avLst/>
          </a:prstGeom>
          <a:noFill/>
        </p:spPr>
        <p:txBody>
          <a:bodyPr wrap="square" anchor="t">
            <a:spAutoFit/>
          </a:bodyPr>
          <a:lstStyle/>
          <a:p>
            <a:pPr algn="l"/>
            <a:r>
              <a:rPr sz="1200" b="0">
                <a:solidFill>
                  <a:srgbClr val="4A5568"/>
                </a:solidFill>
                <a:latin typeface="微软雅黑"/>
                <a:ea typeface="微软雅黑"/>
              </a:rPr>
              <a:t>主诉</a:t>
            </a:r>
          </a:p>
        </p:txBody>
      </p:sp>
      <p:sp>
        <p:nvSpPr>
          <p:cNvPr id="23" name="TextBox 22"/>
          <p:cNvSpPr txBox="1"/>
          <p:nvPr/>
        </p:nvSpPr>
        <p:spPr>
          <a:xfrm>
            <a:off x="640080" y="5285231"/>
            <a:ext cx="3108960" cy="320040"/>
          </a:xfrm>
          <a:prstGeom prst="rect">
            <a:avLst/>
          </a:prstGeom>
          <a:noFill/>
        </p:spPr>
        <p:txBody>
          <a:bodyPr wrap="square" anchor="t">
            <a:spAutoFit/>
          </a:bodyPr>
          <a:lstStyle/>
          <a:p>
            <a:pPr algn="l"/>
            <a:r>
              <a:rPr sz="1300" b="1">
                <a:solidFill>
                  <a:srgbClr val="1A1A1A"/>
                </a:solidFill>
                <a:latin typeface="微软雅黑"/>
                <a:ea typeface="微软雅黑"/>
              </a:rPr>
              <a:t>咳嗽、咳痰伴气短3年，加重1个月</a:t>
            </a:r>
          </a:p>
        </p:txBody>
      </p:sp>
      <p:sp>
        <p:nvSpPr>
          <p:cNvPr id="24" name="Rounded Rectangle 23"/>
          <p:cNvSpPr/>
          <p:nvPr/>
        </p:nvSpPr>
        <p:spPr>
          <a:xfrm>
            <a:off x="4297680" y="1005840"/>
            <a:ext cx="7498079" cy="155448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1005840"/>
            <a:ext cx="164592" cy="1554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80" y="1143000"/>
            <a:ext cx="6766560" cy="365760"/>
          </a:xfrm>
          <a:prstGeom prst="rect">
            <a:avLst/>
          </a:prstGeom>
          <a:noFill/>
        </p:spPr>
        <p:txBody>
          <a:bodyPr wrap="square" anchor="t">
            <a:spAutoFit/>
          </a:bodyPr>
          <a:lstStyle/>
          <a:p>
            <a:pPr algn="l"/>
            <a:r>
              <a:rPr sz="1600" b="1">
                <a:solidFill>
                  <a:srgbClr val="1E3A8A"/>
                </a:solidFill>
                <a:latin typeface="微软雅黑"/>
                <a:ea typeface="微软雅黑"/>
              </a:rPr>
              <a:t>现病史</a:t>
            </a:r>
          </a:p>
        </p:txBody>
      </p:sp>
      <p:sp>
        <p:nvSpPr>
          <p:cNvPr id="27" name="TextBox 26"/>
          <p:cNvSpPr txBox="1"/>
          <p:nvPr/>
        </p:nvSpPr>
        <p:spPr>
          <a:xfrm>
            <a:off x="4754880" y="1508760"/>
            <a:ext cx="6766560" cy="914400"/>
          </a:xfrm>
          <a:prstGeom prst="rect">
            <a:avLst/>
          </a:prstGeom>
          <a:noFill/>
        </p:spPr>
        <p:txBody>
          <a:bodyPr wrap="square" anchor="t">
            <a:spAutoFit/>
          </a:bodyPr>
          <a:lstStyle/>
          <a:p>
            <a:pPr algn="l"/>
            <a:r>
              <a:rPr sz="1300" b="0">
                <a:solidFill>
                  <a:srgbClr val="1A1A1A"/>
                </a:solidFill>
                <a:latin typeface="微软雅黑"/>
                <a:ea typeface="微软雅黑"/>
              </a:rPr>
              <a:t>患者于3年前开始出现咳嗽、咳痰，冬季加重，未系统治疗。1个月前因感冒后症状加重，出现明显气短，夜间不能平卧，遂来院就诊。</a:t>
            </a:r>
          </a:p>
        </p:txBody>
      </p:sp>
      <p:sp>
        <p:nvSpPr>
          <p:cNvPr id="28" name="Rounded Rectangle 27"/>
          <p:cNvSpPr/>
          <p:nvPr/>
        </p:nvSpPr>
        <p:spPr>
          <a:xfrm>
            <a:off x="4297680" y="2743200"/>
            <a:ext cx="7498079" cy="155448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97680" y="2743200"/>
            <a:ext cx="164592" cy="1554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0" y="2880360"/>
            <a:ext cx="6766560" cy="365760"/>
          </a:xfrm>
          <a:prstGeom prst="rect">
            <a:avLst/>
          </a:prstGeom>
          <a:noFill/>
        </p:spPr>
        <p:txBody>
          <a:bodyPr wrap="square" anchor="t">
            <a:spAutoFit/>
          </a:bodyPr>
          <a:lstStyle/>
          <a:p>
            <a:pPr algn="l"/>
            <a:r>
              <a:rPr sz="1600" b="1">
                <a:solidFill>
                  <a:srgbClr val="1E3A8A"/>
                </a:solidFill>
                <a:latin typeface="微软雅黑"/>
                <a:ea typeface="微软雅黑"/>
              </a:rPr>
              <a:t>既往史</a:t>
            </a:r>
          </a:p>
        </p:txBody>
      </p:sp>
      <p:sp>
        <p:nvSpPr>
          <p:cNvPr id="31" name="TextBox 30"/>
          <p:cNvSpPr txBox="1"/>
          <p:nvPr/>
        </p:nvSpPr>
        <p:spPr>
          <a:xfrm>
            <a:off x="4754880" y="3246120"/>
            <a:ext cx="6766560" cy="914400"/>
          </a:xfrm>
          <a:prstGeom prst="rect">
            <a:avLst/>
          </a:prstGeom>
          <a:noFill/>
        </p:spPr>
        <p:txBody>
          <a:bodyPr wrap="square" anchor="t">
            <a:spAutoFit/>
          </a:bodyPr>
          <a:lstStyle/>
          <a:p>
            <a:pPr algn="l"/>
            <a:r>
              <a:rPr sz="1300" b="0">
                <a:solidFill>
                  <a:srgbClr val="1A1A1A"/>
                </a:solidFill>
                <a:latin typeface="微软雅黑"/>
                <a:ea typeface="微软雅黑"/>
              </a:rPr>
              <a:t>有30年吸烟史，已戒烟5年；既往有慢性支气管炎病史；无高血压、糖尿病等慢性病史。</a:t>
            </a:r>
          </a:p>
        </p:txBody>
      </p:sp>
      <p:sp>
        <p:nvSpPr>
          <p:cNvPr id="32" name="Rounded Rectangle 31"/>
          <p:cNvSpPr/>
          <p:nvPr/>
        </p:nvSpPr>
        <p:spPr>
          <a:xfrm>
            <a:off x="4297680" y="4480560"/>
            <a:ext cx="7498079" cy="155448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97680" y="4480560"/>
            <a:ext cx="164592" cy="155448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54880" y="4617720"/>
            <a:ext cx="6766560" cy="365760"/>
          </a:xfrm>
          <a:prstGeom prst="rect">
            <a:avLst/>
          </a:prstGeom>
          <a:noFill/>
        </p:spPr>
        <p:txBody>
          <a:bodyPr wrap="square" anchor="t">
            <a:spAutoFit/>
          </a:bodyPr>
          <a:lstStyle/>
          <a:p>
            <a:pPr algn="l"/>
            <a:r>
              <a:rPr sz="1600" b="1">
                <a:solidFill>
                  <a:srgbClr val="D32F2F"/>
                </a:solidFill>
                <a:latin typeface="微软雅黑"/>
                <a:ea typeface="微软雅黑"/>
              </a:rPr>
              <a:t>入院诊断</a:t>
            </a:r>
          </a:p>
        </p:txBody>
      </p:sp>
      <p:sp>
        <p:nvSpPr>
          <p:cNvPr id="35" name="TextBox 34"/>
          <p:cNvSpPr txBox="1"/>
          <p:nvPr/>
        </p:nvSpPr>
        <p:spPr>
          <a:xfrm>
            <a:off x="4754880" y="4983480"/>
            <a:ext cx="6766560" cy="914400"/>
          </a:xfrm>
          <a:prstGeom prst="rect">
            <a:avLst/>
          </a:prstGeom>
          <a:noFill/>
        </p:spPr>
        <p:txBody>
          <a:bodyPr wrap="square" anchor="t">
            <a:spAutoFit/>
          </a:bodyPr>
          <a:lstStyle/>
          <a:p>
            <a:pPr algn="l"/>
            <a:r>
              <a:rPr sz="1300" b="0">
                <a:solidFill>
                  <a:srgbClr val="1A1A1A"/>
                </a:solidFill>
                <a:latin typeface="微软雅黑"/>
                <a:ea typeface="微软雅黑"/>
              </a:rPr>
              <a:t>慢性阻塞性肺疾病急性加重期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体格检查</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病例介绍</a:t>
            </a:r>
          </a:p>
        </p:txBody>
      </p:sp>
      <p:sp>
        <p:nvSpPr>
          <p:cNvPr id="8" name="Rectangle 7"/>
          <p:cNvSpPr/>
          <p:nvPr/>
        </p:nvSpPr>
        <p:spPr>
          <a:xfrm>
            <a:off x="754380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护理过程</a:t>
            </a: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457200" y="960120"/>
            <a:ext cx="2697480" cy="1051560"/>
          </a:xfrm>
          <a:prstGeom prst="roundRect">
            <a:avLst/>
          </a:prstGeom>
          <a:solidFill>
            <a:srgbClr val="1E3A8A"/>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051560"/>
            <a:ext cx="2697480" cy="365760"/>
          </a:xfrm>
          <a:prstGeom prst="rect">
            <a:avLst/>
          </a:prstGeom>
          <a:noFill/>
        </p:spPr>
        <p:txBody>
          <a:bodyPr wrap="square" anchor="t">
            <a:spAutoFit/>
          </a:bodyPr>
          <a:lstStyle/>
          <a:p>
            <a:pPr algn="ctr"/>
            <a:r>
              <a:rPr sz="1400" b="1">
                <a:solidFill>
                  <a:srgbClr val="B0C4E8"/>
                </a:solidFill>
                <a:latin typeface="微软雅黑"/>
                <a:ea typeface="微软雅黑"/>
              </a:rPr>
              <a:t>T</a:t>
            </a:r>
          </a:p>
        </p:txBody>
      </p:sp>
      <p:sp>
        <p:nvSpPr>
          <p:cNvPr id="15" name="TextBox 14"/>
          <p:cNvSpPr txBox="1"/>
          <p:nvPr/>
        </p:nvSpPr>
        <p:spPr>
          <a:xfrm>
            <a:off x="457200" y="1371600"/>
            <a:ext cx="2697480" cy="502920"/>
          </a:xfrm>
          <a:prstGeom prst="rect">
            <a:avLst/>
          </a:prstGeom>
          <a:noFill/>
        </p:spPr>
        <p:txBody>
          <a:bodyPr wrap="square" anchor="t">
            <a:spAutoFit/>
          </a:bodyPr>
          <a:lstStyle/>
          <a:p>
            <a:pPr algn="ctr"/>
            <a:r>
              <a:rPr sz="2000" b="1">
                <a:solidFill>
                  <a:srgbClr val="FFFFFF"/>
                </a:solidFill>
                <a:latin typeface="微软雅黑"/>
                <a:ea typeface="微软雅黑"/>
              </a:rPr>
              <a:t>37.7℃</a:t>
            </a:r>
          </a:p>
        </p:txBody>
      </p:sp>
      <p:sp>
        <p:nvSpPr>
          <p:cNvPr id="16" name="Rounded Rectangle 15"/>
          <p:cNvSpPr/>
          <p:nvPr/>
        </p:nvSpPr>
        <p:spPr>
          <a:xfrm>
            <a:off x="3383280" y="960120"/>
            <a:ext cx="2697480" cy="1051560"/>
          </a:xfrm>
          <a:prstGeom prst="roundRect">
            <a:avLst/>
          </a:prstGeom>
          <a:solidFill>
            <a:srgbClr val="1E3A8A"/>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1051560"/>
            <a:ext cx="2697480" cy="365760"/>
          </a:xfrm>
          <a:prstGeom prst="rect">
            <a:avLst/>
          </a:prstGeom>
          <a:noFill/>
        </p:spPr>
        <p:txBody>
          <a:bodyPr wrap="square" anchor="t">
            <a:spAutoFit/>
          </a:bodyPr>
          <a:lstStyle/>
          <a:p>
            <a:pPr algn="ctr"/>
            <a:r>
              <a:rPr sz="1400" b="1">
                <a:solidFill>
                  <a:srgbClr val="B0C4E8"/>
                </a:solidFill>
                <a:latin typeface="微软雅黑"/>
                <a:ea typeface="微软雅黑"/>
              </a:rPr>
              <a:t>P</a:t>
            </a:r>
          </a:p>
        </p:txBody>
      </p:sp>
      <p:sp>
        <p:nvSpPr>
          <p:cNvPr id="18" name="TextBox 17"/>
          <p:cNvSpPr txBox="1"/>
          <p:nvPr/>
        </p:nvSpPr>
        <p:spPr>
          <a:xfrm>
            <a:off x="3383280" y="1371600"/>
            <a:ext cx="2697480" cy="502920"/>
          </a:xfrm>
          <a:prstGeom prst="rect">
            <a:avLst/>
          </a:prstGeom>
          <a:noFill/>
        </p:spPr>
        <p:txBody>
          <a:bodyPr wrap="square" anchor="t">
            <a:spAutoFit/>
          </a:bodyPr>
          <a:lstStyle/>
          <a:p>
            <a:pPr algn="ctr"/>
            <a:r>
              <a:rPr sz="2000" b="1">
                <a:solidFill>
                  <a:srgbClr val="FFFFFF"/>
                </a:solidFill>
                <a:latin typeface="微软雅黑"/>
                <a:ea typeface="微软雅黑"/>
              </a:rPr>
              <a:t>110次/分</a:t>
            </a:r>
          </a:p>
        </p:txBody>
      </p:sp>
      <p:sp>
        <p:nvSpPr>
          <p:cNvPr id="19" name="Rounded Rectangle 18"/>
          <p:cNvSpPr/>
          <p:nvPr/>
        </p:nvSpPr>
        <p:spPr>
          <a:xfrm>
            <a:off x="6309360" y="960120"/>
            <a:ext cx="2697480" cy="1051560"/>
          </a:xfrm>
          <a:prstGeom prst="roundRect">
            <a:avLst/>
          </a:prstGeom>
          <a:solidFill>
            <a:srgbClr val="1E3A8A"/>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051560"/>
            <a:ext cx="2697480" cy="365760"/>
          </a:xfrm>
          <a:prstGeom prst="rect">
            <a:avLst/>
          </a:prstGeom>
          <a:noFill/>
        </p:spPr>
        <p:txBody>
          <a:bodyPr wrap="square" anchor="t">
            <a:spAutoFit/>
          </a:bodyPr>
          <a:lstStyle/>
          <a:p>
            <a:pPr algn="ctr"/>
            <a:r>
              <a:rPr sz="1400" b="1">
                <a:solidFill>
                  <a:srgbClr val="B0C4E8"/>
                </a:solidFill>
                <a:latin typeface="微软雅黑"/>
                <a:ea typeface="微软雅黑"/>
              </a:rPr>
              <a:t>R</a:t>
            </a:r>
          </a:p>
        </p:txBody>
      </p:sp>
      <p:sp>
        <p:nvSpPr>
          <p:cNvPr id="21" name="TextBox 20"/>
          <p:cNvSpPr txBox="1"/>
          <p:nvPr/>
        </p:nvSpPr>
        <p:spPr>
          <a:xfrm>
            <a:off x="6309360" y="1371600"/>
            <a:ext cx="2697480" cy="502920"/>
          </a:xfrm>
          <a:prstGeom prst="rect">
            <a:avLst/>
          </a:prstGeom>
          <a:noFill/>
        </p:spPr>
        <p:txBody>
          <a:bodyPr wrap="square" anchor="t">
            <a:spAutoFit/>
          </a:bodyPr>
          <a:lstStyle/>
          <a:p>
            <a:pPr algn="ctr"/>
            <a:r>
              <a:rPr sz="2000" b="1">
                <a:solidFill>
                  <a:srgbClr val="FFFFFF"/>
                </a:solidFill>
                <a:latin typeface="微软雅黑"/>
                <a:ea typeface="微软雅黑"/>
              </a:rPr>
              <a:t>22次/分</a:t>
            </a:r>
          </a:p>
        </p:txBody>
      </p:sp>
      <p:sp>
        <p:nvSpPr>
          <p:cNvPr id="22" name="Rounded Rectangle 21"/>
          <p:cNvSpPr/>
          <p:nvPr/>
        </p:nvSpPr>
        <p:spPr>
          <a:xfrm>
            <a:off x="9235440" y="960120"/>
            <a:ext cx="2697480" cy="1051560"/>
          </a:xfrm>
          <a:prstGeom prst="roundRect">
            <a:avLst/>
          </a:prstGeom>
          <a:solidFill>
            <a:srgbClr val="1E3A8A"/>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440" y="1051560"/>
            <a:ext cx="2697480" cy="365760"/>
          </a:xfrm>
          <a:prstGeom prst="rect">
            <a:avLst/>
          </a:prstGeom>
          <a:noFill/>
        </p:spPr>
        <p:txBody>
          <a:bodyPr wrap="square" anchor="t">
            <a:spAutoFit/>
          </a:bodyPr>
          <a:lstStyle/>
          <a:p>
            <a:pPr algn="ctr"/>
            <a:r>
              <a:rPr sz="1400" b="1">
                <a:solidFill>
                  <a:srgbClr val="B0C4E8"/>
                </a:solidFill>
                <a:latin typeface="微软雅黑"/>
                <a:ea typeface="微软雅黑"/>
              </a:rPr>
              <a:t>Bp</a:t>
            </a:r>
          </a:p>
        </p:txBody>
      </p:sp>
      <p:sp>
        <p:nvSpPr>
          <p:cNvPr id="24" name="TextBox 23"/>
          <p:cNvSpPr txBox="1"/>
          <p:nvPr/>
        </p:nvSpPr>
        <p:spPr>
          <a:xfrm>
            <a:off x="9235440" y="1371600"/>
            <a:ext cx="2697480" cy="502920"/>
          </a:xfrm>
          <a:prstGeom prst="rect">
            <a:avLst/>
          </a:prstGeom>
          <a:noFill/>
        </p:spPr>
        <p:txBody>
          <a:bodyPr wrap="square" anchor="t">
            <a:spAutoFit/>
          </a:bodyPr>
          <a:lstStyle/>
          <a:p>
            <a:pPr algn="ctr"/>
            <a:r>
              <a:rPr sz="2000" b="1">
                <a:solidFill>
                  <a:srgbClr val="FFFFFF"/>
                </a:solidFill>
                <a:latin typeface="微软雅黑"/>
                <a:ea typeface="微软雅黑"/>
              </a:rPr>
              <a:t>135/85mmHg</a:t>
            </a:r>
          </a:p>
        </p:txBody>
      </p:sp>
      <p:sp>
        <p:nvSpPr>
          <p:cNvPr id="25" name="Rounded Rectangle 24"/>
          <p:cNvSpPr/>
          <p:nvPr/>
        </p:nvSpPr>
        <p:spPr>
          <a:xfrm>
            <a:off x="365760" y="2286000"/>
            <a:ext cx="3703320" cy="17830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48640" y="2514600"/>
            <a:ext cx="502920" cy="50292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2560320"/>
            <a:ext cx="502920" cy="411480"/>
          </a:xfrm>
          <a:prstGeom prst="rect">
            <a:avLst/>
          </a:prstGeom>
          <a:noFill/>
        </p:spPr>
        <p:txBody>
          <a:bodyPr wrap="square" anchor="t">
            <a:spAutoFit/>
          </a:bodyPr>
          <a:lstStyle/>
          <a:p>
            <a:pPr algn="ctr"/>
            <a:r>
              <a:rPr sz="1600" b="1">
                <a:solidFill>
                  <a:srgbClr val="FFFFFF"/>
                </a:solidFill>
                <a:latin typeface="微软雅黑"/>
                <a:ea typeface="微软雅黑"/>
              </a:rPr>
              <a:t>1</a:t>
            </a:r>
          </a:p>
        </p:txBody>
      </p:sp>
      <p:sp>
        <p:nvSpPr>
          <p:cNvPr id="28" name="TextBox 27"/>
          <p:cNvSpPr txBox="1"/>
          <p:nvPr/>
        </p:nvSpPr>
        <p:spPr>
          <a:xfrm>
            <a:off x="1188720" y="2514600"/>
            <a:ext cx="2697480" cy="1371600"/>
          </a:xfrm>
          <a:prstGeom prst="rect">
            <a:avLst/>
          </a:prstGeom>
          <a:noFill/>
        </p:spPr>
        <p:txBody>
          <a:bodyPr wrap="square" anchor="t">
            <a:spAutoFit/>
          </a:bodyPr>
          <a:lstStyle/>
          <a:p>
            <a:pPr algn="l"/>
            <a:r>
              <a:rPr sz="1200" b="0">
                <a:solidFill>
                  <a:srgbClr val="1A1A1A"/>
                </a:solidFill>
                <a:latin typeface="微软雅黑"/>
                <a:ea typeface="微软雅黑"/>
              </a:rPr>
              <a:t>神清，精神萎靡，表情焦虑；端坐呼吸，口唇及甲床发绀；体型消瘦。</a:t>
            </a:r>
          </a:p>
        </p:txBody>
      </p:sp>
      <p:sp>
        <p:nvSpPr>
          <p:cNvPr id="29" name="Rounded Rectangle 28"/>
          <p:cNvSpPr/>
          <p:nvPr/>
        </p:nvSpPr>
        <p:spPr>
          <a:xfrm>
            <a:off x="4251960" y="2286000"/>
            <a:ext cx="3703320" cy="17830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434840" y="2514600"/>
            <a:ext cx="502920" cy="50292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34840" y="2560320"/>
            <a:ext cx="502920" cy="411480"/>
          </a:xfrm>
          <a:prstGeom prst="rect">
            <a:avLst/>
          </a:prstGeom>
          <a:noFill/>
        </p:spPr>
        <p:txBody>
          <a:bodyPr wrap="square" anchor="t">
            <a:spAutoFit/>
          </a:bodyPr>
          <a:lstStyle/>
          <a:p>
            <a:pPr algn="ctr"/>
            <a:r>
              <a:rPr sz="1600" b="1">
                <a:solidFill>
                  <a:srgbClr val="FFFFFF"/>
                </a:solidFill>
                <a:latin typeface="微软雅黑"/>
                <a:ea typeface="微软雅黑"/>
              </a:rPr>
              <a:t>2</a:t>
            </a:r>
          </a:p>
        </p:txBody>
      </p:sp>
      <p:sp>
        <p:nvSpPr>
          <p:cNvPr id="32" name="TextBox 31"/>
          <p:cNvSpPr txBox="1"/>
          <p:nvPr/>
        </p:nvSpPr>
        <p:spPr>
          <a:xfrm>
            <a:off x="5074920" y="2514600"/>
            <a:ext cx="2697480" cy="1371600"/>
          </a:xfrm>
          <a:prstGeom prst="rect">
            <a:avLst/>
          </a:prstGeom>
          <a:noFill/>
        </p:spPr>
        <p:txBody>
          <a:bodyPr wrap="square" anchor="t">
            <a:spAutoFit/>
          </a:bodyPr>
          <a:lstStyle/>
          <a:p>
            <a:pPr algn="l"/>
            <a:r>
              <a:rPr sz="1200" b="0">
                <a:solidFill>
                  <a:srgbClr val="1A1A1A"/>
                </a:solidFill>
                <a:latin typeface="微软雅黑"/>
                <a:ea typeface="微软雅黑"/>
              </a:rPr>
              <a:t>颈静脉怒张，桶状胸，肋间隙增宽，呼吸费力伴辅助呼吸肌参与。</a:t>
            </a:r>
          </a:p>
        </p:txBody>
      </p:sp>
      <p:sp>
        <p:nvSpPr>
          <p:cNvPr id="33" name="Rounded Rectangle 32"/>
          <p:cNvSpPr/>
          <p:nvPr/>
        </p:nvSpPr>
        <p:spPr>
          <a:xfrm>
            <a:off x="8138160" y="2286000"/>
            <a:ext cx="3703320" cy="17830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21040" y="2514600"/>
            <a:ext cx="502920" cy="50292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0" y="2560320"/>
            <a:ext cx="502920" cy="411480"/>
          </a:xfrm>
          <a:prstGeom prst="rect">
            <a:avLst/>
          </a:prstGeom>
          <a:noFill/>
        </p:spPr>
        <p:txBody>
          <a:bodyPr wrap="square" anchor="t">
            <a:spAutoFit/>
          </a:bodyPr>
          <a:lstStyle/>
          <a:p>
            <a:pPr algn="ctr"/>
            <a:r>
              <a:rPr sz="1600" b="1">
                <a:solidFill>
                  <a:srgbClr val="FFFFFF"/>
                </a:solidFill>
                <a:latin typeface="微软雅黑"/>
                <a:ea typeface="微软雅黑"/>
              </a:rPr>
              <a:t>3</a:t>
            </a:r>
          </a:p>
        </p:txBody>
      </p:sp>
      <p:sp>
        <p:nvSpPr>
          <p:cNvPr id="36" name="TextBox 35"/>
          <p:cNvSpPr txBox="1"/>
          <p:nvPr/>
        </p:nvSpPr>
        <p:spPr>
          <a:xfrm>
            <a:off x="8961120" y="2514600"/>
            <a:ext cx="2697480" cy="1371600"/>
          </a:xfrm>
          <a:prstGeom prst="rect">
            <a:avLst/>
          </a:prstGeom>
          <a:noFill/>
        </p:spPr>
        <p:txBody>
          <a:bodyPr wrap="square" anchor="t">
            <a:spAutoFit/>
          </a:bodyPr>
          <a:lstStyle/>
          <a:p>
            <a:pPr algn="l"/>
            <a:r>
              <a:rPr sz="1200" b="0">
                <a:solidFill>
                  <a:srgbClr val="1A1A1A"/>
                </a:solidFill>
                <a:latin typeface="微软雅黑"/>
                <a:ea typeface="微软雅黑"/>
              </a:rPr>
              <a:t>语颤减弱，双侧对称；双肺呈过清音；肝浊音界下移。</a:t>
            </a:r>
          </a:p>
        </p:txBody>
      </p:sp>
      <p:sp>
        <p:nvSpPr>
          <p:cNvPr id="37" name="Rounded Rectangle 36"/>
          <p:cNvSpPr/>
          <p:nvPr/>
        </p:nvSpPr>
        <p:spPr>
          <a:xfrm>
            <a:off x="365760" y="4251960"/>
            <a:ext cx="3703320" cy="17830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48640" y="4480560"/>
            <a:ext cx="502920" cy="50292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526280"/>
            <a:ext cx="502920" cy="411480"/>
          </a:xfrm>
          <a:prstGeom prst="rect">
            <a:avLst/>
          </a:prstGeom>
          <a:noFill/>
        </p:spPr>
        <p:txBody>
          <a:bodyPr wrap="square" anchor="t">
            <a:spAutoFit/>
          </a:bodyPr>
          <a:lstStyle/>
          <a:p>
            <a:pPr algn="ctr"/>
            <a:r>
              <a:rPr sz="1600" b="1">
                <a:solidFill>
                  <a:srgbClr val="FFFFFF"/>
                </a:solidFill>
                <a:latin typeface="微软雅黑"/>
                <a:ea typeface="微软雅黑"/>
              </a:rPr>
              <a:t>4</a:t>
            </a:r>
          </a:p>
        </p:txBody>
      </p:sp>
      <p:sp>
        <p:nvSpPr>
          <p:cNvPr id="40" name="TextBox 39"/>
          <p:cNvSpPr txBox="1"/>
          <p:nvPr/>
        </p:nvSpPr>
        <p:spPr>
          <a:xfrm>
            <a:off x="1188720" y="4480560"/>
            <a:ext cx="2697480" cy="1371600"/>
          </a:xfrm>
          <a:prstGeom prst="rect">
            <a:avLst/>
          </a:prstGeom>
          <a:noFill/>
        </p:spPr>
        <p:txBody>
          <a:bodyPr wrap="square" anchor="t">
            <a:spAutoFit/>
          </a:bodyPr>
          <a:lstStyle/>
          <a:p>
            <a:pPr algn="l"/>
            <a:r>
              <a:rPr sz="1200" b="0">
                <a:solidFill>
                  <a:srgbClr val="1A1A1A"/>
                </a:solidFill>
                <a:latin typeface="微软雅黑"/>
                <a:ea typeface="微软雅黑"/>
              </a:rPr>
              <a:t>双侧呼吸音普遍减弱；双肺可闻及散在哮鸣音。</a:t>
            </a:r>
          </a:p>
        </p:txBody>
      </p:sp>
      <p:sp>
        <p:nvSpPr>
          <p:cNvPr id="41" name="Rounded Rectangle 40"/>
          <p:cNvSpPr/>
          <p:nvPr/>
        </p:nvSpPr>
        <p:spPr>
          <a:xfrm>
            <a:off x="4251960" y="4251960"/>
            <a:ext cx="3703320" cy="17830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434840" y="4480560"/>
            <a:ext cx="502920" cy="50292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34840" y="4526280"/>
            <a:ext cx="502920" cy="411480"/>
          </a:xfrm>
          <a:prstGeom prst="rect">
            <a:avLst/>
          </a:prstGeom>
          <a:noFill/>
        </p:spPr>
        <p:txBody>
          <a:bodyPr wrap="square" anchor="t">
            <a:spAutoFit/>
          </a:bodyPr>
          <a:lstStyle/>
          <a:p>
            <a:pPr algn="ctr"/>
            <a:r>
              <a:rPr sz="1600" b="1">
                <a:solidFill>
                  <a:srgbClr val="FFFFFF"/>
                </a:solidFill>
                <a:latin typeface="微软雅黑"/>
                <a:ea typeface="微软雅黑"/>
              </a:rPr>
              <a:t>5</a:t>
            </a:r>
          </a:p>
        </p:txBody>
      </p:sp>
      <p:sp>
        <p:nvSpPr>
          <p:cNvPr id="44" name="TextBox 43"/>
          <p:cNvSpPr txBox="1"/>
          <p:nvPr/>
        </p:nvSpPr>
        <p:spPr>
          <a:xfrm>
            <a:off x="5074920" y="4480560"/>
            <a:ext cx="2697480" cy="1371600"/>
          </a:xfrm>
          <a:prstGeom prst="rect">
            <a:avLst/>
          </a:prstGeom>
          <a:noFill/>
        </p:spPr>
        <p:txBody>
          <a:bodyPr wrap="square" anchor="t">
            <a:spAutoFit/>
          </a:bodyPr>
          <a:lstStyle/>
          <a:p>
            <a:pPr algn="l"/>
            <a:r>
              <a:rPr sz="1200" b="0">
                <a:solidFill>
                  <a:srgbClr val="1A1A1A"/>
                </a:solidFill>
                <a:latin typeface="微软雅黑"/>
                <a:ea typeface="微软雅黑"/>
              </a:rPr>
              <a:t>腹软，无压痛、反跳痛。肝肋下约2cm可触及，质软缘钝，轻触痛，脾未触及，移动性浊音阴性。</a:t>
            </a:r>
          </a:p>
        </p:txBody>
      </p:sp>
      <p:sp>
        <p:nvSpPr>
          <p:cNvPr id="45" name="Rounded Rectangle 44"/>
          <p:cNvSpPr/>
          <p:nvPr/>
        </p:nvSpPr>
        <p:spPr>
          <a:xfrm>
            <a:off x="8138160" y="4251960"/>
            <a:ext cx="3703320" cy="17830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321040" y="4480560"/>
            <a:ext cx="502920" cy="50292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21040" y="4526280"/>
            <a:ext cx="502920" cy="411480"/>
          </a:xfrm>
          <a:prstGeom prst="rect">
            <a:avLst/>
          </a:prstGeom>
          <a:noFill/>
        </p:spPr>
        <p:txBody>
          <a:bodyPr wrap="square" anchor="t">
            <a:spAutoFit/>
          </a:bodyPr>
          <a:lstStyle/>
          <a:p>
            <a:pPr algn="ctr"/>
            <a:r>
              <a:rPr sz="1600" b="1">
                <a:solidFill>
                  <a:srgbClr val="FFFFFF"/>
                </a:solidFill>
                <a:latin typeface="微软雅黑"/>
                <a:ea typeface="微软雅黑"/>
              </a:rPr>
              <a:t>6</a:t>
            </a:r>
          </a:p>
        </p:txBody>
      </p:sp>
      <p:sp>
        <p:nvSpPr>
          <p:cNvPr id="48" name="TextBox 47"/>
          <p:cNvSpPr txBox="1"/>
          <p:nvPr/>
        </p:nvSpPr>
        <p:spPr>
          <a:xfrm>
            <a:off x="8961120" y="4480560"/>
            <a:ext cx="2697480" cy="1371600"/>
          </a:xfrm>
          <a:prstGeom prst="rect">
            <a:avLst/>
          </a:prstGeom>
          <a:noFill/>
        </p:spPr>
        <p:txBody>
          <a:bodyPr wrap="square" anchor="t">
            <a:spAutoFit/>
          </a:bodyPr>
          <a:lstStyle/>
          <a:p>
            <a:pPr algn="l"/>
            <a:r>
              <a:rPr sz="1200" b="0">
                <a:solidFill>
                  <a:srgbClr val="1A1A1A"/>
                </a:solidFill>
                <a:latin typeface="微软雅黑"/>
                <a:ea typeface="微软雅黑"/>
              </a:rPr>
              <a:t>双下肢胫前轻度指凹性水肿(+)，四肢肌力、肌张力正常。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实验室检查</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病例介绍</a:t>
            </a:r>
          </a:p>
        </p:txBody>
      </p:sp>
      <p:sp>
        <p:nvSpPr>
          <p:cNvPr id="8" name="Rectangle 7"/>
          <p:cNvSpPr/>
          <p:nvPr/>
        </p:nvSpPr>
        <p:spPr>
          <a:xfrm>
            <a:off x="754380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护理过程</a:t>
            </a: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TextBox 12"/>
          <p:cNvSpPr txBox="1"/>
          <p:nvPr/>
        </p:nvSpPr>
        <p:spPr>
          <a:xfrm>
            <a:off x="457200" y="1005840"/>
            <a:ext cx="5394960" cy="365760"/>
          </a:xfrm>
          <a:prstGeom prst="rect">
            <a:avLst/>
          </a:prstGeom>
          <a:noFill/>
        </p:spPr>
        <p:txBody>
          <a:bodyPr wrap="square" anchor="t">
            <a:spAutoFit/>
          </a:bodyPr>
          <a:lstStyle/>
          <a:p>
            <a:pPr algn="l"/>
            <a:r>
              <a:rPr sz="1600" b="1">
                <a:solidFill>
                  <a:srgbClr val="1E3A8A"/>
                </a:solidFill>
                <a:latin typeface="微软雅黑"/>
                <a:ea typeface="微软雅黑"/>
              </a:rPr>
              <a:t>血常规</a:t>
            </a:r>
          </a:p>
        </p:txBody>
      </p:sp>
      <p:sp>
        <p:nvSpPr>
          <p:cNvPr id="14" name="Rectangle 13"/>
          <p:cNvSpPr/>
          <p:nvPr/>
        </p:nvSpPr>
        <p:spPr>
          <a:xfrm>
            <a:off x="457200" y="1463040"/>
            <a:ext cx="5394960" cy="38404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463040"/>
            <a:ext cx="1888235" cy="384048"/>
          </a:xfrm>
          <a:prstGeom prst="rect">
            <a:avLst/>
          </a:prstGeom>
          <a:noFill/>
        </p:spPr>
        <p:txBody>
          <a:bodyPr wrap="square" anchor="ctr">
            <a:spAutoFit/>
          </a:bodyPr>
          <a:lstStyle/>
          <a:p>
            <a:pPr algn="ctr"/>
            <a:r>
              <a:rPr sz="1200" b="1">
                <a:solidFill>
                  <a:srgbClr val="FFFFFF"/>
                </a:solidFill>
                <a:latin typeface="微软雅黑"/>
                <a:ea typeface="微软雅黑"/>
              </a:rPr>
              <a:t>项目</a:t>
            </a:r>
          </a:p>
        </p:txBody>
      </p:sp>
      <p:sp>
        <p:nvSpPr>
          <p:cNvPr id="16" name="TextBox 15"/>
          <p:cNvSpPr txBox="1"/>
          <p:nvPr/>
        </p:nvSpPr>
        <p:spPr>
          <a:xfrm>
            <a:off x="2345436" y="1463040"/>
            <a:ext cx="1726387" cy="384048"/>
          </a:xfrm>
          <a:prstGeom prst="rect">
            <a:avLst/>
          </a:prstGeom>
          <a:noFill/>
        </p:spPr>
        <p:txBody>
          <a:bodyPr wrap="square" anchor="ctr">
            <a:spAutoFit/>
          </a:bodyPr>
          <a:lstStyle/>
          <a:p>
            <a:pPr algn="ctr"/>
            <a:r>
              <a:rPr sz="1200" b="1">
                <a:solidFill>
                  <a:srgbClr val="FFFFFF"/>
                </a:solidFill>
                <a:latin typeface="微软雅黑"/>
                <a:ea typeface="微软雅黑"/>
              </a:rPr>
              <a:t>结果</a:t>
            </a:r>
          </a:p>
        </p:txBody>
      </p:sp>
      <p:sp>
        <p:nvSpPr>
          <p:cNvPr id="17" name="TextBox 16"/>
          <p:cNvSpPr txBox="1"/>
          <p:nvPr/>
        </p:nvSpPr>
        <p:spPr>
          <a:xfrm>
            <a:off x="4071823" y="1463040"/>
            <a:ext cx="1780336" cy="384048"/>
          </a:xfrm>
          <a:prstGeom prst="rect">
            <a:avLst/>
          </a:prstGeom>
          <a:noFill/>
        </p:spPr>
        <p:txBody>
          <a:bodyPr wrap="square" anchor="ctr">
            <a:spAutoFit/>
          </a:bodyPr>
          <a:lstStyle/>
          <a:p>
            <a:pPr algn="ctr"/>
            <a:r>
              <a:rPr sz="1200" b="1">
                <a:solidFill>
                  <a:srgbClr val="FFFFFF"/>
                </a:solidFill>
                <a:latin typeface="微软雅黑"/>
                <a:ea typeface="微软雅黑"/>
              </a:rPr>
              <a:t>参考值</a:t>
            </a:r>
          </a:p>
        </p:txBody>
      </p:sp>
      <p:sp>
        <p:nvSpPr>
          <p:cNvPr id="18" name="Rectangle 17"/>
          <p:cNvSpPr/>
          <p:nvPr/>
        </p:nvSpPr>
        <p:spPr>
          <a:xfrm>
            <a:off x="457200" y="1847088"/>
            <a:ext cx="5394960" cy="384048"/>
          </a:xfrm>
          <a:prstGeom prst="rect">
            <a:avLst/>
          </a:prstGeom>
          <a:solidFill>
            <a:srgbClr val="E8F0F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847088"/>
            <a:ext cx="1888235" cy="384048"/>
          </a:xfrm>
          <a:prstGeom prst="rect">
            <a:avLst/>
          </a:prstGeom>
          <a:noFill/>
        </p:spPr>
        <p:txBody>
          <a:bodyPr wrap="square" anchor="ctr">
            <a:spAutoFit/>
          </a:bodyPr>
          <a:lstStyle/>
          <a:p>
            <a:pPr algn="ctr"/>
            <a:r>
              <a:rPr sz="1200" b="0">
                <a:solidFill>
                  <a:srgbClr val="1A1A1A"/>
                </a:solidFill>
                <a:latin typeface="微软雅黑"/>
                <a:ea typeface="微软雅黑"/>
              </a:rPr>
              <a:t>白细胞</a:t>
            </a:r>
          </a:p>
        </p:txBody>
      </p:sp>
      <p:sp>
        <p:nvSpPr>
          <p:cNvPr id="20" name="TextBox 19"/>
          <p:cNvSpPr txBox="1"/>
          <p:nvPr/>
        </p:nvSpPr>
        <p:spPr>
          <a:xfrm>
            <a:off x="2345436" y="1847088"/>
            <a:ext cx="1726387" cy="384048"/>
          </a:xfrm>
          <a:prstGeom prst="rect">
            <a:avLst/>
          </a:prstGeom>
          <a:noFill/>
        </p:spPr>
        <p:txBody>
          <a:bodyPr wrap="square" anchor="ctr">
            <a:spAutoFit/>
          </a:bodyPr>
          <a:lstStyle/>
          <a:p>
            <a:pPr algn="ctr"/>
            <a:r>
              <a:rPr sz="1200" b="1">
                <a:solidFill>
                  <a:srgbClr val="D32F2F"/>
                </a:solidFill>
                <a:latin typeface="微软雅黑"/>
                <a:ea typeface="微软雅黑"/>
              </a:rPr>
              <a:t>15.2×10⁹/L ↑</a:t>
            </a:r>
          </a:p>
        </p:txBody>
      </p:sp>
      <p:sp>
        <p:nvSpPr>
          <p:cNvPr id="21" name="TextBox 20"/>
          <p:cNvSpPr txBox="1"/>
          <p:nvPr/>
        </p:nvSpPr>
        <p:spPr>
          <a:xfrm>
            <a:off x="4071823" y="1847088"/>
            <a:ext cx="1780336" cy="384048"/>
          </a:xfrm>
          <a:prstGeom prst="rect">
            <a:avLst/>
          </a:prstGeom>
          <a:noFill/>
        </p:spPr>
        <p:txBody>
          <a:bodyPr wrap="square" anchor="ctr">
            <a:spAutoFit/>
          </a:bodyPr>
          <a:lstStyle/>
          <a:p>
            <a:pPr algn="ctr"/>
            <a:r>
              <a:rPr sz="1200" b="0">
                <a:solidFill>
                  <a:srgbClr val="1A1A1A"/>
                </a:solidFill>
                <a:latin typeface="微软雅黑"/>
                <a:ea typeface="微软雅黑"/>
              </a:rPr>
              <a:t>4–10×10⁹/L</a:t>
            </a:r>
          </a:p>
        </p:txBody>
      </p:sp>
      <p:sp>
        <p:nvSpPr>
          <p:cNvPr id="22" name="Rectangle 21"/>
          <p:cNvSpPr/>
          <p:nvPr/>
        </p:nvSpPr>
        <p:spPr>
          <a:xfrm>
            <a:off x="457200" y="2231136"/>
            <a:ext cx="5394960" cy="384048"/>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2231136"/>
            <a:ext cx="1888235" cy="384048"/>
          </a:xfrm>
          <a:prstGeom prst="rect">
            <a:avLst/>
          </a:prstGeom>
          <a:noFill/>
        </p:spPr>
        <p:txBody>
          <a:bodyPr wrap="square" anchor="ctr">
            <a:spAutoFit/>
          </a:bodyPr>
          <a:lstStyle/>
          <a:p>
            <a:pPr algn="ctr"/>
            <a:r>
              <a:rPr sz="1200" b="0">
                <a:solidFill>
                  <a:srgbClr val="1A1A1A"/>
                </a:solidFill>
                <a:latin typeface="微软雅黑"/>
                <a:ea typeface="微软雅黑"/>
              </a:rPr>
              <a:t>中性粒细胞比例</a:t>
            </a:r>
          </a:p>
        </p:txBody>
      </p:sp>
      <p:sp>
        <p:nvSpPr>
          <p:cNvPr id="24" name="TextBox 23"/>
          <p:cNvSpPr txBox="1"/>
          <p:nvPr/>
        </p:nvSpPr>
        <p:spPr>
          <a:xfrm>
            <a:off x="2345436" y="2231136"/>
            <a:ext cx="1726387" cy="384048"/>
          </a:xfrm>
          <a:prstGeom prst="rect">
            <a:avLst/>
          </a:prstGeom>
          <a:noFill/>
        </p:spPr>
        <p:txBody>
          <a:bodyPr wrap="square" anchor="ctr">
            <a:spAutoFit/>
          </a:bodyPr>
          <a:lstStyle/>
          <a:p>
            <a:pPr algn="ctr"/>
            <a:r>
              <a:rPr sz="1200" b="1">
                <a:solidFill>
                  <a:srgbClr val="D32F2F"/>
                </a:solidFill>
                <a:latin typeface="微软雅黑"/>
                <a:ea typeface="微软雅黑"/>
              </a:rPr>
              <a:t>88% ↑</a:t>
            </a:r>
          </a:p>
        </p:txBody>
      </p:sp>
      <p:sp>
        <p:nvSpPr>
          <p:cNvPr id="25" name="TextBox 24"/>
          <p:cNvSpPr txBox="1"/>
          <p:nvPr/>
        </p:nvSpPr>
        <p:spPr>
          <a:xfrm>
            <a:off x="4071823" y="2231136"/>
            <a:ext cx="1780336" cy="384048"/>
          </a:xfrm>
          <a:prstGeom prst="rect">
            <a:avLst/>
          </a:prstGeom>
          <a:noFill/>
        </p:spPr>
        <p:txBody>
          <a:bodyPr wrap="square" anchor="ctr">
            <a:spAutoFit/>
          </a:bodyPr>
          <a:lstStyle/>
          <a:p>
            <a:pPr algn="ctr"/>
            <a:r>
              <a:rPr sz="1200" b="0">
                <a:solidFill>
                  <a:srgbClr val="1A1A1A"/>
                </a:solidFill>
                <a:latin typeface="微软雅黑"/>
                <a:ea typeface="微软雅黑"/>
              </a:rPr>
              <a:t>50%–70%</a:t>
            </a:r>
          </a:p>
        </p:txBody>
      </p:sp>
      <p:sp>
        <p:nvSpPr>
          <p:cNvPr id="26" name="Rectangle 25"/>
          <p:cNvSpPr/>
          <p:nvPr/>
        </p:nvSpPr>
        <p:spPr>
          <a:xfrm>
            <a:off x="457200" y="2615184"/>
            <a:ext cx="5394960" cy="384048"/>
          </a:xfrm>
          <a:prstGeom prst="rect">
            <a:avLst/>
          </a:prstGeom>
          <a:solidFill>
            <a:srgbClr val="E8F0F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615184"/>
            <a:ext cx="1888235" cy="384048"/>
          </a:xfrm>
          <a:prstGeom prst="rect">
            <a:avLst/>
          </a:prstGeom>
          <a:noFill/>
        </p:spPr>
        <p:txBody>
          <a:bodyPr wrap="square" anchor="ctr">
            <a:spAutoFit/>
          </a:bodyPr>
          <a:lstStyle/>
          <a:p>
            <a:pPr algn="ctr"/>
            <a:r>
              <a:rPr sz="1200" b="0">
                <a:solidFill>
                  <a:srgbClr val="1A1A1A"/>
                </a:solidFill>
                <a:latin typeface="微软雅黑"/>
                <a:ea typeface="微软雅黑"/>
              </a:rPr>
              <a:t>CRP</a:t>
            </a:r>
          </a:p>
        </p:txBody>
      </p:sp>
      <p:sp>
        <p:nvSpPr>
          <p:cNvPr id="28" name="TextBox 27"/>
          <p:cNvSpPr txBox="1"/>
          <p:nvPr/>
        </p:nvSpPr>
        <p:spPr>
          <a:xfrm>
            <a:off x="2345436" y="2615184"/>
            <a:ext cx="1726387" cy="384048"/>
          </a:xfrm>
          <a:prstGeom prst="rect">
            <a:avLst/>
          </a:prstGeom>
          <a:noFill/>
        </p:spPr>
        <p:txBody>
          <a:bodyPr wrap="square" anchor="ctr">
            <a:spAutoFit/>
          </a:bodyPr>
          <a:lstStyle/>
          <a:p>
            <a:pPr algn="ctr"/>
            <a:r>
              <a:rPr sz="1200" b="1">
                <a:solidFill>
                  <a:srgbClr val="D32F2F"/>
                </a:solidFill>
                <a:latin typeface="微软雅黑"/>
                <a:ea typeface="微软雅黑"/>
              </a:rPr>
              <a:t>45 mg/L ↑</a:t>
            </a:r>
          </a:p>
        </p:txBody>
      </p:sp>
      <p:sp>
        <p:nvSpPr>
          <p:cNvPr id="29" name="TextBox 28"/>
          <p:cNvSpPr txBox="1"/>
          <p:nvPr/>
        </p:nvSpPr>
        <p:spPr>
          <a:xfrm>
            <a:off x="4071823" y="2615184"/>
            <a:ext cx="1780336" cy="384048"/>
          </a:xfrm>
          <a:prstGeom prst="rect">
            <a:avLst/>
          </a:prstGeom>
          <a:noFill/>
        </p:spPr>
        <p:txBody>
          <a:bodyPr wrap="square" anchor="ctr">
            <a:spAutoFit/>
          </a:bodyPr>
          <a:lstStyle/>
          <a:p>
            <a:pPr algn="ctr"/>
            <a:r>
              <a:rPr sz="1200" b="0">
                <a:solidFill>
                  <a:srgbClr val="1A1A1A"/>
                </a:solidFill>
                <a:latin typeface="微软雅黑"/>
                <a:ea typeface="微软雅黑"/>
              </a:rPr>
              <a:t>&lt;10 mg/L</a:t>
            </a:r>
          </a:p>
        </p:txBody>
      </p:sp>
      <p:sp>
        <p:nvSpPr>
          <p:cNvPr id="30" name="TextBox 29"/>
          <p:cNvSpPr txBox="1"/>
          <p:nvPr/>
        </p:nvSpPr>
        <p:spPr>
          <a:xfrm>
            <a:off x="6309360" y="1005840"/>
            <a:ext cx="5394960" cy="365760"/>
          </a:xfrm>
          <a:prstGeom prst="rect">
            <a:avLst/>
          </a:prstGeom>
          <a:noFill/>
        </p:spPr>
        <p:txBody>
          <a:bodyPr wrap="square" anchor="t">
            <a:spAutoFit/>
          </a:bodyPr>
          <a:lstStyle/>
          <a:p>
            <a:pPr algn="l"/>
            <a:r>
              <a:rPr sz="1600" b="1">
                <a:solidFill>
                  <a:srgbClr val="1E3A8A"/>
                </a:solidFill>
                <a:latin typeface="微软雅黑"/>
                <a:ea typeface="微软雅黑"/>
              </a:rPr>
              <a:t>动脉血气分析</a:t>
            </a:r>
          </a:p>
        </p:txBody>
      </p:sp>
      <p:sp>
        <p:nvSpPr>
          <p:cNvPr id="31" name="Rectangle 30"/>
          <p:cNvSpPr/>
          <p:nvPr/>
        </p:nvSpPr>
        <p:spPr>
          <a:xfrm>
            <a:off x="6309360" y="1463040"/>
            <a:ext cx="5394960" cy="38404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1463040"/>
            <a:ext cx="1888235" cy="384048"/>
          </a:xfrm>
          <a:prstGeom prst="rect">
            <a:avLst/>
          </a:prstGeom>
          <a:noFill/>
        </p:spPr>
        <p:txBody>
          <a:bodyPr wrap="square" anchor="ctr">
            <a:spAutoFit/>
          </a:bodyPr>
          <a:lstStyle/>
          <a:p>
            <a:pPr algn="ctr"/>
            <a:r>
              <a:rPr sz="1200" b="1">
                <a:solidFill>
                  <a:srgbClr val="FFFFFF"/>
                </a:solidFill>
                <a:latin typeface="微软雅黑"/>
                <a:ea typeface="微软雅黑"/>
              </a:rPr>
              <a:t>项目</a:t>
            </a:r>
          </a:p>
        </p:txBody>
      </p:sp>
      <p:sp>
        <p:nvSpPr>
          <p:cNvPr id="33" name="TextBox 32"/>
          <p:cNvSpPr txBox="1"/>
          <p:nvPr/>
        </p:nvSpPr>
        <p:spPr>
          <a:xfrm>
            <a:off x="8197596" y="1463040"/>
            <a:ext cx="1726387" cy="384048"/>
          </a:xfrm>
          <a:prstGeom prst="rect">
            <a:avLst/>
          </a:prstGeom>
          <a:noFill/>
        </p:spPr>
        <p:txBody>
          <a:bodyPr wrap="square" anchor="ctr">
            <a:spAutoFit/>
          </a:bodyPr>
          <a:lstStyle/>
          <a:p>
            <a:pPr algn="ctr"/>
            <a:r>
              <a:rPr sz="1200" b="1">
                <a:solidFill>
                  <a:srgbClr val="FFFFFF"/>
                </a:solidFill>
                <a:latin typeface="微软雅黑"/>
                <a:ea typeface="微软雅黑"/>
              </a:rPr>
              <a:t>结果</a:t>
            </a:r>
          </a:p>
        </p:txBody>
      </p:sp>
      <p:sp>
        <p:nvSpPr>
          <p:cNvPr id="34" name="TextBox 33"/>
          <p:cNvSpPr txBox="1"/>
          <p:nvPr/>
        </p:nvSpPr>
        <p:spPr>
          <a:xfrm>
            <a:off x="9923983" y="1463040"/>
            <a:ext cx="1780336" cy="384048"/>
          </a:xfrm>
          <a:prstGeom prst="rect">
            <a:avLst/>
          </a:prstGeom>
          <a:noFill/>
        </p:spPr>
        <p:txBody>
          <a:bodyPr wrap="square" anchor="ctr">
            <a:spAutoFit/>
          </a:bodyPr>
          <a:lstStyle/>
          <a:p>
            <a:pPr algn="ctr"/>
            <a:r>
              <a:rPr sz="1200" b="1">
                <a:solidFill>
                  <a:srgbClr val="FFFFFF"/>
                </a:solidFill>
                <a:latin typeface="微软雅黑"/>
                <a:ea typeface="微软雅黑"/>
              </a:rPr>
              <a:t>参考值</a:t>
            </a:r>
          </a:p>
        </p:txBody>
      </p:sp>
      <p:sp>
        <p:nvSpPr>
          <p:cNvPr id="35" name="Rectangle 34"/>
          <p:cNvSpPr/>
          <p:nvPr/>
        </p:nvSpPr>
        <p:spPr>
          <a:xfrm>
            <a:off x="6309360" y="1847088"/>
            <a:ext cx="5394960" cy="384048"/>
          </a:xfrm>
          <a:prstGeom prst="rect">
            <a:avLst/>
          </a:prstGeom>
          <a:solidFill>
            <a:srgbClr val="E8F0F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1847088"/>
            <a:ext cx="1888235" cy="384048"/>
          </a:xfrm>
          <a:prstGeom prst="rect">
            <a:avLst/>
          </a:prstGeom>
          <a:noFill/>
        </p:spPr>
        <p:txBody>
          <a:bodyPr wrap="square" anchor="ctr">
            <a:spAutoFit/>
          </a:bodyPr>
          <a:lstStyle/>
          <a:p>
            <a:pPr algn="ctr"/>
            <a:r>
              <a:rPr sz="1200" b="0">
                <a:solidFill>
                  <a:srgbClr val="1A1A1A"/>
                </a:solidFill>
                <a:latin typeface="微软雅黑"/>
                <a:ea typeface="微软雅黑"/>
              </a:rPr>
              <a:t>pH</a:t>
            </a:r>
          </a:p>
        </p:txBody>
      </p:sp>
      <p:sp>
        <p:nvSpPr>
          <p:cNvPr id="37" name="TextBox 36"/>
          <p:cNvSpPr txBox="1"/>
          <p:nvPr/>
        </p:nvSpPr>
        <p:spPr>
          <a:xfrm>
            <a:off x="8197596" y="1847088"/>
            <a:ext cx="1726387" cy="384048"/>
          </a:xfrm>
          <a:prstGeom prst="rect">
            <a:avLst/>
          </a:prstGeom>
          <a:noFill/>
        </p:spPr>
        <p:txBody>
          <a:bodyPr wrap="square" anchor="ctr">
            <a:spAutoFit/>
          </a:bodyPr>
          <a:lstStyle/>
          <a:p>
            <a:pPr algn="ctr"/>
            <a:r>
              <a:rPr sz="1200" b="1">
                <a:solidFill>
                  <a:srgbClr val="D32F2F"/>
                </a:solidFill>
                <a:latin typeface="微软雅黑"/>
                <a:ea typeface="微软雅黑"/>
              </a:rPr>
              <a:t>7.30 ↓</a:t>
            </a:r>
          </a:p>
        </p:txBody>
      </p:sp>
      <p:sp>
        <p:nvSpPr>
          <p:cNvPr id="38" name="TextBox 37"/>
          <p:cNvSpPr txBox="1"/>
          <p:nvPr/>
        </p:nvSpPr>
        <p:spPr>
          <a:xfrm>
            <a:off x="9923983" y="1847088"/>
            <a:ext cx="1780336" cy="384048"/>
          </a:xfrm>
          <a:prstGeom prst="rect">
            <a:avLst/>
          </a:prstGeom>
          <a:noFill/>
        </p:spPr>
        <p:txBody>
          <a:bodyPr wrap="square" anchor="ctr">
            <a:spAutoFit/>
          </a:bodyPr>
          <a:lstStyle/>
          <a:p>
            <a:pPr algn="ctr"/>
            <a:r>
              <a:rPr sz="1200" b="0">
                <a:solidFill>
                  <a:srgbClr val="1A1A1A"/>
                </a:solidFill>
                <a:latin typeface="微软雅黑"/>
                <a:ea typeface="微软雅黑"/>
              </a:rPr>
              <a:t>7.35–7.45</a:t>
            </a:r>
          </a:p>
        </p:txBody>
      </p:sp>
      <p:sp>
        <p:nvSpPr>
          <p:cNvPr id="39" name="Rectangle 38"/>
          <p:cNvSpPr/>
          <p:nvPr/>
        </p:nvSpPr>
        <p:spPr>
          <a:xfrm>
            <a:off x="6309360" y="2231136"/>
            <a:ext cx="5394960" cy="384048"/>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2231136"/>
            <a:ext cx="1888235" cy="384048"/>
          </a:xfrm>
          <a:prstGeom prst="rect">
            <a:avLst/>
          </a:prstGeom>
          <a:noFill/>
        </p:spPr>
        <p:txBody>
          <a:bodyPr wrap="square" anchor="ctr">
            <a:spAutoFit/>
          </a:bodyPr>
          <a:lstStyle/>
          <a:p>
            <a:pPr algn="ctr"/>
            <a:r>
              <a:rPr sz="1200" b="0">
                <a:solidFill>
                  <a:srgbClr val="1A1A1A"/>
                </a:solidFill>
                <a:latin typeface="微软雅黑"/>
                <a:ea typeface="微软雅黑"/>
              </a:rPr>
              <a:t>PaO₂</a:t>
            </a:r>
          </a:p>
        </p:txBody>
      </p:sp>
      <p:sp>
        <p:nvSpPr>
          <p:cNvPr id="41" name="TextBox 40"/>
          <p:cNvSpPr txBox="1"/>
          <p:nvPr/>
        </p:nvSpPr>
        <p:spPr>
          <a:xfrm>
            <a:off x="8197596" y="2231136"/>
            <a:ext cx="1726387" cy="384048"/>
          </a:xfrm>
          <a:prstGeom prst="rect">
            <a:avLst/>
          </a:prstGeom>
          <a:noFill/>
        </p:spPr>
        <p:txBody>
          <a:bodyPr wrap="square" anchor="ctr">
            <a:spAutoFit/>
          </a:bodyPr>
          <a:lstStyle/>
          <a:p>
            <a:pPr algn="ctr"/>
            <a:r>
              <a:rPr sz="1200" b="1">
                <a:solidFill>
                  <a:srgbClr val="D32F2F"/>
                </a:solidFill>
                <a:latin typeface="微软雅黑"/>
                <a:ea typeface="微软雅黑"/>
              </a:rPr>
              <a:t>55 mmHg ↓</a:t>
            </a:r>
          </a:p>
        </p:txBody>
      </p:sp>
      <p:sp>
        <p:nvSpPr>
          <p:cNvPr id="42" name="TextBox 41"/>
          <p:cNvSpPr txBox="1"/>
          <p:nvPr/>
        </p:nvSpPr>
        <p:spPr>
          <a:xfrm>
            <a:off x="9923983" y="2231136"/>
            <a:ext cx="1780336" cy="384048"/>
          </a:xfrm>
          <a:prstGeom prst="rect">
            <a:avLst/>
          </a:prstGeom>
          <a:noFill/>
        </p:spPr>
        <p:txBody>
          <a:bodyPr wrap="square" anchor="ctr">
            <a:spAutoFit/>
          </a:bodyPr>
          <a:lstStyle/>
          <a:p>
            <a:pPr algn="ctr"/>
            <a:r>
              <a:rPr sz="1200" b="0">
                <a:solidFill>
                  <a:srgbClr val="1A1A1A"/>
                </a:solidFill>
                <a:latin typeface="微软雅黑"/>
                <a:ea typeface="微软雅黑"/>
              </a:rPr>
              <a:t>80–100 mmHg</a:t>
            </a:r>
          </a:p>
        </p:txBody>
      </p:sp>
      <p:sp>
        <p:nvSpPr>
          <p:cNvPr id="43" name="Rectangle 42"/>
          <p:cNvSpPr/>
          <p:nvPr/>
        </p:nvSpPr>
        <p:spPr>
          <a:xfrm>
            <a:off x="6309360" y="2615184"/>
            <a:ext cx="5394960" cy="384048"/>
          </a:xfrm>
          <a:prstGeom prst="rect">
            <a:avLst/>
          </a:prstGeom>
          <a:solidFill>
            <a:srgbClr val="E8F0F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9360" y="2615184"/>
            <a:ext cx="1888235" cy="384048"/>
          </a:xfrm>
          <a:prstGeom prst="rect">
            <a:avLst/>
          </a:prstGeom>
          <a:noFill/>
        </p:spPr>
        <p:txBody>
          <a:bodyPr wrap="square" anchor="ctr">
            <a:spAutoFit/>
          </a:bodyPr>
          <a:lstStyle/>
          <a:p>
            <a:pPr algn="ctr"/>
            <a:r>
              <a:rPr sz="1200" b="0">
                <a:solidFill>
                  <a:srgbClr val="1A1A1A"/>
                </a:solidFill>
                <a:latin typeface="微软雅黑"/>
                <a:ea typeface="微软雅黑"/>
              </a:rPr>
              <a:t>PaCO₂</a:t>
            </a:r>
          </a:p>
        </p:txBody>
      </p:sp>
      <p:sp>
        <p:nvSpPr>
          <p:cNvPr id="45" name="TextBox 44"/>
          <p:cNvSpPr txBox="1"/>
          <p:nvPr/>
        </p:nvSpPr>
        <p:spPr>
          <a:xfrm>
            <a:off x="8197596" y="2615184"/>
            <a:ext cx="1726387" cy="384048"/>
          </a:xfrm>
          <a:prstGeom prst="rect">
            <a:avLst/>
          </a:prstGeom>
          <a:noFill/>
        </p:spPr>
        <p:txBody>
          <a:bodyPr wrap="square" anchor="ctr">
            <a:spAutoFit/>
          </a:bodyPr>
          <a:lstStyle/>
          <a:p>
            <a:pPr algn="ctr"/>
            <a:r>
              <a:rPr sz="1200" b="1">
                <a:solidFill>
                  <a:srgbClr val="D32F2F"/>
                </a:solidFill>
                <a:latin typeface="微软雅黑"/>
                <a:ea typeface="微软雅黑"/>
              </a:rPr>
              <a:t>65 mmHg ↑</a:t>
            </a:r>
          </a:p>
        </p:txBody>
      </p:sp>
      <p:sp>
        <p:nvSpPr>
          <p:cNvPr id="46" name="TextBox 45"/>
          <p:cNvSpPr txBox="1"/>
          <p:nvPr/>
        </p:nvSpPr>
        <p:spPr>
          <a:xfrm>
            <a:off x="9923983" y="2615184"/>
            <a:ext cx="1780336" cy="384048"/>
          </a:xfrm>
          <a:prstGeom prst="rect">
            <a:avLst/>
          </a:prstGeom>
          <a:noFill/>
        </p:spPr>
        <p:txBody>
          <a:bodyPr wrap="square" anchor="ctr">
            <a:spAutoFit/>
          </a:bodyPr>
          <a:lstStyle/>
          <a:p>
            <a:pPr algn="ctr"/>
            <a:r>
              <a:rPr sz="1200" b="0">
                <a:solidFill>
                  <a:srgbClr val="1A1A1A"/>
                </a:solidFill>
                <a:latin typeface="微软雅黑"/>
                <a:ea typeface="微软雅黑"/>
              </a:rPr>
              <a:t>35–45 mmHg</a:t>
            </a:r>
          </a:p>
        </p:txBody>
      </p:sp>
      <p:sp>
        <p:nvSpPr>
          <p:cNvPr id="47" name="Rectangle 46"/>
          <p:cNvSpPr/>
          <p:nvPr/>
        </p:nvSpPr>
        <p:spPr>
          <a:xfrm>
            <a:off x="6309360" y="2999232"/>
            <a:ext cx="5394960" cy="384048"/>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09360" y="2999232"/>
            <a:ext cx="1888235" cy="384048"/>
          </a:xfrm>
          <a:prstGeom prst="rect">
            <a:avLst/>
          </a:prstGeom>
          <a:noFill/>
        </p:spPr>
        <p:txBody>
          <a:bodyPr wrap="square" anchor="ctr">
            <a:spAutoFit/>
          </a:bodyPr>
          <a:lstStyle/>
          <a:p>
            <a:pPr algn="ctr"/>
            <a:r>
              <a:rPr sz="1200" b="0">
                <a:solidFill>
                  <a:srgbClr val="1A1A1A"/>
                </a:solidFill>
                <a:latin typeface="微软雅黑"/>
                <a:ea typeface="微软雅黑"/>
              </a:rPr>
              <a:t>HCO₃⁻</a:t>
            </a:r>
          </a:p>
        </p:txBody>
      </p:sp>
      <p:sp>
        <p:nvSpPr>
          <p:cNvPr id="49" name="TextBox 48"/>
          <p:cNvSpPr txBox="1"/>
          <p:nvPr/>
        </p:nvSpPr>
        <p:spPr>
          <a:xfrm>
            <a:off x="8197596" y="2999232"/>
            <a:ext cx="1726387" cy="384048"/>
          </a:xfrm>
          <a:prstGeom prst="rect">
            <a:avLst/>
          </a:prstGeom>
          <a:noFill/>
        </p:spPr>
        <p:txBody>
          <a:bodyPr wrap="square" anchor="ctr">
            <a:spAutoFit/>
          </a:bodyPr>
          <a:lstStyle/>
          <a:p>
            <a:pPr algn="ctr"/>
            <a:r>
              <a:rPr sz="1200" b="1">
                <a:solidFill>
                  <a:srgbClr val="1A1A1A"/>
                </a:solidFill>
                <a:latin typeface="微软雅黑"/>
                <a:ea typeface="微软雅黑"/>
              </a:rPr>
              <a:t>28 mmol/L</a:t>
            </a:r>
          </a:p>
        </p:txBody>
      </p:sp>
      <p:sp>
        <p:nvSpPr>
          <p:cNvPr id="50" name="TextBox 49"/>
          <p:cNvSpPr txBox="1"/>
          <p:nvPr/>
        </p:nvSpPr>
        <p:spPr>
          <a:xfrm>
            <a:off x="9923983" y="2999232"/>
            <a:ext cx="1780336" cy="384048"/>
          </a:xfrm>
          <a:prstGeom prst="rect">
            <a:avLst/>
          </a:prstGeom>
          <a:noFill/>
        </p:spPr>
        <p:txBody>
          <a:bodyPr wrap="square" anchor="ctr">
            <a:spAutoFit/>
          </a:bodyPr>
          <a:lstStyle/>
          <a:p>
            <a:pPr algn="ctr"/>
            <a:r>
              <a:rPr sz="1200" b="0">
                <a:solidFill>
                  <a:srgbClr val="1A1A1A"/>
                </a:solidFill>
                <a:latin typeface="微软雅黑"/>
                <a:ea typeface="微软雅黑"/>
              </a:rPr>
              <a:t>22–27 mmol/L</a:t>
            </a:r>
          </a:p>
        </p:txBody>
      </p:sp>
      <p:sp>
        <p:nvSpPr>
          <p:cNvPr id="51" name="Rounded Rectangle 50"/>
          <p:cNvSpPr/>
          <p:nvPr/>
        </p:nvSpPr>
        <p:spPr>
          <a:xfrm>
            <a:off x="457200" y="5029200"/>
            <a:ext cx="11247120" cy="1188720"/>
          </a:xfrm>
          <a:prstGeom prst="roundRect">
            <a:avLst/>
          </a:prstGeom>
          <a:solidFill>
            <a:srgbClr val="FFEBEE"/>
          </a:solidFill>
          <a:ln w="15875">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5166360"/>
            <a:ext cx="10972800" cy="320040"/>
          </a:xfrm>
          <a:prstGeom prst="rect">
            <a:avLst/>
          </a:prstGeom>
          <a:noFill/>
        </p:spPr>
        <p:txBody>
          <a:bodyPr wrap="square" anchor="t">
            <a:spAutoFit/>
          </a:bodyPr>
          <a:lstStyle/>
          <a:p>
            <a:pPr algn="l"/>
            <a:r>
              <a:rPr sz="1400" b="1">
                <a:solidFill>
                  <a:srgbClr val="D32F2F"/>
                </a:solidFill>
                <a:latin typeface="微软雅黑"/>
                <a:ea typeface="微软雅黑"/>
              </a:rPr>
              <a:t>结果解读</a:t>
            </a:r>
          </a:p>
        </p:txBody>
      </p:sp>
      <p:sp>
        <p:nvSpPr>
          <p:cNvPr id="53" name="TextBox 52"/>
          <p:cNvSpPr txBox="1"/>
          <p:nvPr/>
        </p:nvSpPr>
        <p:spPr>
          <a:xfrm>
            <a:off x="640080" y="5532120"/>
            <a:ext cx="10972800" cy="502920"/>
          </a:xfrm>
          <a:prstGeom prst="rect">
            <a:avLst/>
          </a:prstGeom>
          <a:noFill/>
        </p:spPr>
        <p:txBody>
          <a:bodyPr wrap="square" anchor="t">
            <a:spAutoFit/>
          </a:bodyPr>
          <a:lstStyle/>
          <a:p>
            <a:pPr algn="l"/>
            <a:r>
              <a:rPr sz="1300" b="0">
                <a:solidFill>
                  <a:srgbClr val="1A1A1A"/>
                </a:solidFill>
                <a:latin typeface="微软雅黑"/>
                <a:ea typeface="微软雅黑"/>
              </a:rPr>
              <a:t>血常规提示感染；血气分析提示Ⅱ型呼吸衰竭伴失代偿性呼吸性酸中毒（低氧血症 + 高碳酸血症）。</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辅助检查</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病例介绍</a:t>
            </a:r>
          </a:p>
        </p:txBody>
      </p:sp>
      <p:sp>
        <p:nvSpPr>
          <p:cNvPr id="8" name="Rectangle 7"/>
          <p:cNvSpPr/>
          <p:nvPr/>
        </p:nvSpPr>
        <p:spPr>
          <a:xfrm>
            <a:off x="754380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护理过程</a:t>
            </a: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365760" y="1051560"/>
            <a:ext cx="3703320" cy="2743200"/>
          </a:xfrm>
          <a:prstGeom prst="roundRect">
            <a:avLst/>
          </a:prstGeom>
          <a:solidFill>
            <a:srgbClr val="FFFFFF"/>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051560"/>
            <a:ext cx="370332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1097280"/>
            <a:ext cx="3703320" cy="411480"/>
          </a:xfrm>
          <a:prstGeom prst="rect">
            <a:avLst/>
          </a:prstGeom>
          <a:noFill/>
        </p:spPr>
        <p:txBody>
          <a:bodyPr wrap="square" anchor="t">
            <a:spAutoFit/>
          </a:bodyPr>
          <a:lstStyle/>
          <a:p>
            <a:pPr algn="ctr"/>
            <a:r>
              <a:rPr sz="1800" b="1">
                <a:solidFill>
                  <a:srgbClr val="FFFFFF"/>
                </a:solidFill>
                <a:latin typeface="微软雅黑"/>
                <a:ea typeface="微软雅黑"/>
              </a:rPr>
              <a:t>心电图</a:t>
            </a:r>
          </a:p>
        </p:txBody>
      </p:sp>
      <p:sp>
        <p:nvSpPr>
          <p:cNvPr id="16" name="Rounded Rectangle 15"/>
          <p:cNvSpPr/>
          <p:nvPr/>
        </p:nvSpPr>
        <p:spPr>
          <a:xfrm>
            <a:off x="640080" y="1828800"/>
            <a:ext cx="3108960" cy="43891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1828800"/>
            <a:ext cx="3108960" cy="438912"/>
          </a:xfrm>
          <a:prstGeom prst="rect">
            <a:avLst/>
          </a:prstGeom>
          <a:noFill/>
        </p:spPr>
        <p:txBody>
          <a:bodyPr wrap="square" anchor="ctr">
            <a:spAutoFit/>
          </a:bodyPr>
          <a:lstStyle/>
          <a:p>
            <a:pPr algn="ctr"/>
            <a:r>
              <a:rPr sz="1300" b="1">
                <a:solidFill>
                  <a:srgbClr val="1E3A8A"/>
                </a:solidFill>
                <a:latin typeface="微软雅黑"/>
                <a:ea typeface="微软雅黑"/>
              </a:rPr>
              <a:t>▶  肺性P波</a:t>
            </a:r>
          </a:p>
        </p:txBody>
      </p:sp>
      <p:sp>
        <p:nvSpPr>
          <p:cNvPr id="18" name="Rounded Rectangle 17"/>
          <p:cNvSpPr/>
          <p:nvPr/>
        </p:nvSpPr>
        <p:spPr>
          <a:xfrm>
            <a:off x="640080" y="2377440"/>
            <a:ext cx="3108960" cy="43891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377440"/>
            <a:ext cx="3108960" cy="438912"/>
          </a:xfrm>
          <a:prstGeom prst="rect">
            <a:avLst/>
          </a:prstGeom>
          <a:noFill/>
        </p:spPr>
        <p:txBody>
          <a:bodyPr wrap="square" anchor="ctr">
            <a:spAutoFit/>
          </a:bodyPr>
          <a:lstStyle/>
          <a:p>
            <a:pPr algn="ctr"/>
            <a:r>
              <a:rPr sz="1300" b="1">
                <a:solidFill>
                  <a:srgbClr val="1E3A8A"/>
                </a:solidFill>
                <a:latin typeface="微软雅黑"/>
                <a:ea typeface="微软雅黑"/>
              </a:rPr>
              <a:t>▶  右心室肥厚</a:t>
            </a:r>
          </a:p>
        </p:txBody>
      </p:sp>
      <p:sp>
        <p:nvSpPr>
          <p:cNvPr id="20" name="Rounded Rectangle 19"/>
          <p:cNvSpPr/>
          <p:nvPr/>
        </p:nvSpPr>
        <p:spPr>
          <a:xfrm>
            <a:off x="4251960" y="1051560"/>
            <a:ext cx="3703320" cy="2743200"/>
          </a:xfrm>
          <a:prstGeom prst="roundRect">
            <a:avLst/>
          </a:prstGeom>
          <a:solidFill>
            <a:srgbClr val="FFFFFF"/>
          </a:solidFill>
          <a:ln w="25400">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51960" y="1051560"/>
            <a:ext cx="3703320" cy="502920"/>
          </a:xfrm>
          <a:prstGeom prst="rect">
            <a:avLst/>
          </a:prstGeom>
          <a:solidFill>
            <a:srgbClr val="2E5B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51960" y="1097280"/>
            <a:ext cx="3703320" cy="411480"/>
          </a:xfrm>
          <a:prstGeom prst="rect">
            <a:avLst/>
          </a:prstGeom>
          <a:noFill/>
        </p:spPr>
        <p:txBody>
          <a:bodyPr wrap="square" anchor="t">
            <a:spAutoFit/>
          </a:bodyPr>
          <a:lstStyle/>
          <a:p>
            <a:pPr algn="ctr"/>
            <a:r>
              <a:rPr sz="1800" b="1">
                <a:solidFill>
                  <a:srgbClr val="FFFFFF"/>
                </a:solidFill>
                <a:latin typeface="微软雅黑"/>
                <a:ea typeface="微软雅黑"/>
              </a:rPr>
              <a:t>肺功能</a:t>
            </a:r>
          </a:p>
        </p:txBody>
      </p:sp>
      <p:sp>
        <p:nvSpPr>
          <p:cNvPr id="23" name="Rounded Rectangle 22"/>
          <p:cNvSpPr/>
          <p:nvPr/>
        </p:nvSpPr>
        <p:spPr>
          <a:xfrm>
            <a:off x="4526280" y="1828800"/>
            <a:ext cx="3108960" cy="43891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26280" y="1828800"/>
            <a:ext cx="3108960" cy="438912"/>
          </a:xfrm>
          <a:prstGeom prst="rect">
            <a:avLst/>
          </a:prstGeom>
          <a:noFill/>
        </p:spPr>
        <p:txBody>
          <a:bodyPr wrap="square" anchor="ctr">
            <a:spAutoFit/>
          </a:bodyPr>
          <a:lstStyle/>
          <a:p>
            <a:pPr algn="ctr"/>
            <a:r>
              <a:rPr sz="1300" b="1">
                <a:solidFill>
                  <a:srgbClr val="1E3A8A"/>
                </a:solidFill>
                <a:latin typeface="微软雅黑"/>
                <a:ea typeface="微软雅黑"/>
              </a:rPr>
              <a:t>▶  FEV₁ 1.2 L</a:t>
            </a:r>
          </a:p>
        </p:txBody>
      </p:sp>
      <p:sp>
        <p:nvSpPr>
          <p:cNvPr id="25" name="Rounded Rectangle 24"/>
          <p:cNvSpPr/>
          <p:nvPr/>
        </p:nvSpPr>
        <p:spPr>
          <a:xfrm>
            <a:off x="4526280" y="2377440"/>
            <a:ext cx="3108960" cy="43891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80" y="2377440"/>
            <a:ext cx="3108960" cy="438912"/>
          </a:xfrm>
          <a:prstGeom prst="rect">
            <a:avLst/>
          </a:prstGeom>
          <a:noFill/>
        </p:spPr>
        <p:txBody>
          <a:bodyPr wrap="square" anchor="ctr">
            <a:spAutoFit/>
          </a:bodyPr>
          <a:lstStyle/>
          <a:p>
            <a:pPr algn="ctr"/>
            <a:r>
              <a:rPr sz="1300" b="1">
                <a:solidFill>
                  <a:srgbClr val="1E3A8A"/>
                </a:solidFill>
                <a:latin typeface="微软雅黑"/>
                <a:ea typeface="微软雅黑"/>
              </a:rPr>
              <a:t>▶  FVC 2.1 L</a:t>
            </a:r>
          </a:p>
        </p:txBody>
      </p:sp>
      <p:sp>
        <p:nvSpPr>
          <p:cNvPr id="27" name="Rounded Rectangle 26"/>
          <p:cNvSpPr/>
          <p:nvPr/>
        </p:nvSpPr>
        <p:spPr>
          <a:xfrm>
            <a:off x="4526280" y="2926080"/>
            <a:ext cx="3108960" cy="43891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6280" y="2926080"/>
            <a:ext cx="3108960" cy="438912"/>
          </a:xfrm>
          <a:prstGeom prst="rect">
            <a:avLst/>
          </a:prstGeom>
          <a:noFill/>
        </p:spPr>
        <p:txBody>
          <a:bodyPr wrap="square" anchor="ctr">
            <a:spAutoFit/>
          </a:bodyPr>
          <a:lstStyle/>
          <a:p>
            <a:pPr algn="ctr"/>
            <a:r>
              <a:rPr sz="1300" b="1">
                <a:solidFill>
                  <a:srgbClr val="1E3A8A"/>
                </a:solidFill>
                <a:latin typeface="微软雅黑"/>
                <a:ea typeface="微软雅黑"/>
              </a:rPr>
              <a:t>▶  FEV₁/FVC 0.57</a:t>
            </a:r>
          </a:p>
        </p:txBody>
      </p:sp>
      <p:sp>
        <p:nvSpPr>
          <p:cNvPr id="29" name="Rounded Rectangle 28"/>
          <p:cNvSpPr/>
          <p:nvPr/>
        </p:nvSpPr>
        <p:spPr>
          <a:xfrm>
            <a:off x="8138160" y="1051560"/>
            <a:ext cx="3703320" cy="2743200"/>
          </a:xfrm>
          <a:prstGeom prst="roundRect">
            <a:avLst/>
          </a:prstGeom>
          <a:solidFill>
            <a:srgbClr val="FFFFFF"/>
          </a:solidFill>
          <a:ln w="2540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38160" y="1051560"/>
            <a:ext cx="3703320" cy="50292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38160" y="1097280"/>
            <a:ext cx="3703320" cy="411480"/>
          </a:xfrm>
          <a:prstGeom prst="rect">
            <a:avLst/>
          </a:prstGeom>
          <a:noFill/>
        </p:spPr>
        <p:txBody>
          <a:bodyPr wrap="square" anchor="t">
            <a:spAutoFit/>
          </a:bodyPr>
          <a:lstStyle/>
          <a:p>
            <a:pPr algn="ctr"/>
            <a:r>
              <a:rPr sz="1800" b="1">
                <a:solidFill>
                  <a:srgbClr val="FFFFFF"/>
                </a:solidFill>
                <a:latin typeface="微软雅黑"/>
                <a:ea typeface="微软雅黑"/>
              </a:rPr>
              <a:t>痰培养</a:t>
            </a:r>
          </a:p>
        </p:txBody>
      </p:sp>
      <p:sp>
        <p:nvSpPr>
          <p:cNvPr id="32" name="Rounded Rectangle 31"/>
          <p:cNvSpPr/>
          <p:nvPr/>
        </p:nvSpPr>
        <p:spPr>
          <a:xfrm>
            <a:off x="8412480" y="1828800"/>
            <a:ext cx="3108960" cy="438912"/>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1828800"/>
            <a:ext cx="3108960" cy="438912"/>
          </a:xfrm>
          <a:prstGeom prst="rect">
            <a:avLst/>
          </a:prstGeom>
          <a:noFill/>
        </p:spPr>
        <p:txBody>
          <a:bodyPr wrap="square" anchor="ctr">
            <a:spAutoFit/>
          </a:bodyPr>
          <a:lstStyle/>
          <a:p>
            <a:pPr algn="ctr"/>
            <a:r>
              <a:rPr sz="1300" b="1">
                <a:solidFill>
                  <a:srgbClr val="1E3A8A"/>
                </a:solidFill>
                <a:latin typeface="微软雅黑"/>
                <a:ea typeface="微软雅黑"/>
              </a:rPr>
              <a:t>▶  铜绿假单胞菌阳性</a:t>
            </a:r>
          </a:p>
        </p:txBody>
      </p:sp>
      <p:sp>
        <p:nvSpPr>
          <p:cNvPr id="34" name="Rounded Rectangle 33"/>
          <p:cNvSpPr/>
          <p:nvPr/>
        </p:nvSpPr>
        <p:spPr>
          <a:xfrm>
            <a:off x="365760" y="4023360"/>
            <a:ext cx="11430000" cy="2103120"/>
          </a:xfrm>
          <a:prstGeom prst="roundRect">
            <a:avLst/>
          </a:prstGeom>
          <a:solidFill>
            <a:srgbClr val="F5F8FC"/>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4023360"/>
            <a:ext cx="2011680" cy="21031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4709160"/>
            <a:ext cx="2011680" cy="640080"/>
          </a:xfrm>
          <a:prstGeom prst="rect">
            <a:avLst/>
          </a:prstGeom>
          <a:noFill/>
        </p:spPr>
        <p:txBody>
          <a:bodyPr wrap="square" anchor="t">
            <a:spAutoFit/>
          </a:bodyPr>
          <a:lstStyle/>
          <a:p>
            <a:pPr algn="ctr"/>
            <a:r>
              <a:rPr sz="2000" b="1">
                <a:solidFill>
                  <a:srgbClr val="FFFFFF"/>
                </a:solidFill>
                <a:latin typeface="微软雅黑"/>
                <a:ea typeface="微软雅黑"/>
              </a:rPr>
              <a:t>胸部CT</a:t>
            </a:r>
          </a:p>
        </p:txBody>
      </p:sp>
      <p:sp>
        <p:nvSpPr>
          <p:cNvPr id="37" name="TextBox 36"/>
          <p:cNvSpPr txBox="1"/>
          <p:nvPr/>
        </p:nvSpPr>
        <p:spPr>
          <a:xfrm>
            <a:off x="2651760" y="4389120"/>
            <a:ext cx="8869680" cy="1371600"/>
          </a:xfrm>
          <a:prstGeom prst="rect">
            <a:avLst/>
          </a:prstGeom>
          <a:noFill/>
        </p:spPr>
        <p:txBody>
          <a:bodyPr wrap="square" anchor="t">
            <a:spAutoFit/>
          </a:bodyPr>
          <a:lstStyle/>
          <a:p>
            <a:pPr algn="l"/>
            <a:r>
              <a:rPr sz="1600" b="0">
                <a:solidFill>
                  <a:srgbClr val="1A1A1A"/>
                </a:solidFill>
                <a:latin typeface="微软雅黑"/>
                <a:ea typeface="微软雅黑"/>
              </a:rPr>
              <a:t>双肺多发肺大疱、弥漫性肺气肿，右下肺斑片状浸润影（提示感染）。
结合心电图提示右心室肥厚，符合慢性肺源性心脏病表现。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诊疗经过</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病例介绍</a:t>
            </a:r>
          </a:p>
        </p:txBody>
      </p:sp>
      <p:sp>
        <p:nvSpPr>
          <p:cNvPr id="8" name="Rectangle 7"/>
          <p:cNvSpPr/>
          <p:nvPr/>
        </p:nvSpPr>
        <p:spPr>
          <a:xfrm>
            <a:off x="754380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护理过程</a:t>
            </a: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ectangle 12"/>
          <p:cNvSpPr/>
          <p:nvPr/>
        </p:nvSpPr>
        <p:spPr>
          <a:xfrm>
            <a:off x="731520" y="1828800"/>
            <a:ext cx="10698480" cy="7315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14400" y="1645920"/>
            <a:ext cx="457200" cy="457200"/>
          </a:xfrm>
          <a:prstGeom prst="ellipse">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1143000"/>
            <a:ext cx="1188720" cy="365760"/>
          </a:xfrm>
          <a:prstGeom prst="rect">
            <a:avLst/>
          </a:prstGeom>
          <a:noFill/>
        </p:spPr>
        <p:txBody>
          <a:bodyPr wrap="square" anchor="t">
            <a:spAutoFit/>
          </a:bodyPr>
          <a:lstStyle/>
          <a:p>
            <a:pPr algn="ctr"/>
            <a:r>
              <a:rPr sz="1400" b="1">
                <a:solidFill>
                  <a:srgbClr val="1E3A8A"/>
                </a:solidFill>
                <a:latin typeface="微软雅黑"/>
                <a:ea typeface="微软雅黑"/>
              </a:rPr>
              <a:t>7-29</a:t>
            </a:r>
          </a:p>
        </p:txBody>
      </p:sp>
      <p:sp>
        <p:nvSpPr>
          <p:cNvPr id="16" name="TextBox 15"/>
          <p:cNvSpPr txBox="1"/>
          <p:nvPr/>
        </p:nvSpPr>
        <p:spPr>
          <a:xfrm>
            <a:off x="457200" y="2194560"/>
            <a:ext cx="1371600" cy="320040"/>
          </a:xfrm>
          <a:prstGeom prst="rect">
            <a:avLst/>
          </a:prstGeom>
          <a:noFill/>
        </p:spPr>
        <p:txBody>
          <a:bodyPr wrap="square" anchor="t">
            <a:spAutoFit/>
          </a:bodyPr>
          <a:lstStyle/>
          <a:p>
            <a:pPr algn="ctr"/>
            <a:r>
              <a:rPr sz="1200" b="1">
                <a:solidFill>
                  <a:srgbClr val="D32F2F"/>
                </a:solidFill>
                <a:latin typeface="微软雅黑"/>
                <a:ea typeface="微软雅黑"/>
              </a:rPr>
              <a:t>入院</a:t>
            </a:r>
          </a:p>
        </p:txBody>
      </p:sp>
      <p:sp>
        <p:nvSpPr>
          <p:cNvPr id="17" name="Rounded Rectangle 16"/>
          <p:cNvSpPr/>
          <p:nvPr/>
        </p:nvSpPr>
        <p:spPr>
          <a:xfrm>
            <a:off x="411480" y="2697480"/>
            <a:ext cx="1737360" cy="1554480"/>
          </a:xfrm>
          <a:prstGeom prst="roundRect">
            <a:avLst/>
          </a:prstGeom>
          <a:solidFill>
            <a:srgbClr val="E8F0FE"/>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788920"/>
            <a:ext cx="1554480" cy="1371600"/>
          </a:xfrm>
          <a:prstGeom prst="rect">
            <a:avLst/>
          </a:prstGeom>
          <a:noFill/>
        </p:spPr>
        <p:txBody>
          <a:bodyPr wrap="square" anchor="t">
            <a:spAutoFit/>
          </a:bodyPr>
          <a:lstStyle/>
          <a:p>
            <a:pPr algn="l"/>
            <a:r>
              <a:rPr sz="1000" b="0">
                <a:solidFill>
                  <a:srgbClr val="1A1A1A"/>
                </a:solidFill>
                <a:latin typeface="微软雅黑"/>
                <a:ea typeface="微软雅黑"/>
              </a:rPr>
              <a:t>COPD急性加重，咳黄脓痰、气促，血氧88%；低流量吸氧；头孢曲松、沙丁胺醇雾化</a:t>
            </a:r>
          </a:p>
        </p:txBody>
      </p:sp>
      <p:sp>
        <p:nvSpPr>
          <p:cNvPr id="19" name="Oval 18"/>
          <p:cNvSpPr/>
          <p:nvPr/>
        </p:nvSpPr>
        <p:spPr>
          <a:xfrm>
            <a:off x="2743200" y="1645920"/>
            <a:ext cx="457200" cy="45720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77440" y="1143000"/>
            <a:ext cx="1188720" cy="365760"/>
          </a:xfrm>
          <a:prstGeom prst="rect">
            <a:avLst/>
          </a:prstGeom>
          <a:noFill/>
        </p:spPr>
        <p:txBody>
          <a:bodyPr wrap="square" anchor="t">
            <a:spAutoFit/>
          </a:bodyPr>
          <a:lstStyle/>
          <a:p>
            <a:pPr algn="ctr"/>
            <a:r>
              <a:rPr sz="1400" b="1">
                <a:solidFill>
                  <a:srgbClr val="1E3A8A"/>
                </a:solidFill>
                <a:latin typeface="微软雅黑"/>
                <a:ea typeface="微软雅黑"/>
              </a:rPr>
              <a:t>7-30</a:t>
            </a:r>
          </a:p>
        </p:txBody>
      </p:sp>
      <p:sp>
        <p:nvSpPr>
          <p:cNvPr id="21" name="TextBox 20"/>
          <p:cNvSpPr txBox="1"/>
          <p:nvPr/>
        </p:nvSpPr>
        <p:spPr>
          <a:xfrm>
            <a:off x="2286000" y="2194560"/>
            <a:ext cx="1371600" cy="320040"/>
          </a:xfrm>
          <a:prstGeom prst="rect">
            <a:avLst/>
          </a:prstGeom>
          <a:noFill/>
        </p:spPr>
        <p:txBody>
          <a:bodyPr wrap="square" anchor="t">
            <a:spAutoFit/>
          </a:bodyPr>
          <a:lstStyle/>
          <a:p>
            <a:pPr algn="ctr"/>
            <a:r>
              <a:rPr sz="1200" b="1">
                <a:solidFill>
                  <a:srgbClr val="1A1A1A"/>
                </a:solidFill>
                <a:latin typeface="微软雅黑"/>
                <a:ea typeface="微软雅黑"/>
              </a:rPr>
              <a:t>培养回报</a:t>
            </a:r>
          </a:p>
        </p:txBody>
      </p:sp>
      <p:sp>
        <p:nvSpPr>
          <p:cNvPr id="22" name="Rounded Rectangle 21"/>
          <p:cNvSpPr/>
          <p:nvPr/>
        </p:nvSpPr>
        <p:spPr>
          <a:xfrm>
            <a:off x="2240280" y="4434840"/>
            <a:ext cx="1737360" cy="15544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31720" y="4526280"/>
            <a:ext cx="1554480" cy="1371600"/>
          </a:xfrm>
          <a:prstGeom prst="rect">
            <a:avLst/>
          </a:prstGeom>
          <a:noFill/>
        </p:spPr>
        <p:txBody>
          <a:bodyPr wrap="square" anchor="t">
            <a:spAutoFit/>
          </a:bodyPr>
          <a:lstStyle/>
          <a:p>
            <a:pPr algn="l"/>
            <a:r>
              <a:rPr sz="1000" b="0">
                <a:solidFill>
                  <a:srgbClr val="1A1A1A"/>
                </a:solidFill>
                <a:latin typeface="微软雅黑"/>
                <a:ea typeface="微软雅黑"/>
              </a:rPr>
              <a:t>发热、氧合差；痰培养铜绿假单胞菌阳性；加甲泼尼龙，停用头孢曲松</a:t>
            </a:r>
          </a:p>
        </p:txBody>
      </p:sp>
      <p:sp>
        <p:nvSpPr>
          <p:cNvPr id="24" name="Oval 23"/>
          <p:cNvSpPr/>
          <p:nvPr/>
        </p:nvSpPr>
        <p:spPr>
          <a:xfrm>
            <a:off x="4572000" y="1645920"/>
            <a:ext cx="457200" cy="45720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06240" y="1143000"/>
            <a:ext cx="1188720" cy="365760"/>
          </a:xfrm>
          <a:prstGeom prst="rect">
            <a:avLst/>
          </a:prstGeom>
          <a:noFill/>
        </p:spPr>
        <p:txBody>
          <a:bodyPr wrap="square" anchor="t">
            <a:spAutoFit/>
          </a:bodyPr>
          <a:lstStyle/>
          <a:p>
            <a:pPr algn="ctr"/>
            <a:r>
              <a:rPr sz="1400" b="1">
                <a:solidFill>
                  <a:srgbClr val="1E3A8A"/>
                </a:solidFill>
                <a:latin typeface="微软雅黑"/>
                <a:ea typeface="微软雅黑"/>
              </a:rPr>
              <a:t>7-31</a:t>
            </a:r>
          </a:p>
        </p:txBody>
      </p:sp>
      <p:sp>
        <p:nvSpPr>
          <p:cNvPr id="26" name="TextBox 25"/>
          <p:cNvSpPr txBox="1"/>
          <p:nvPr/>
        </p:nvSpPr>
        <p:spPr>
          <a:xfrm>
            <a:off x="4114800" y="2194560"/>
            <a:ext cx="1371600" cy="320040"/>
          </a:xfrm>
          <a:prstGeom prst="rect">
            <a:avLst/>
          </a:prstGeom>
          <a:noFill/>
        </p:spPr>
        <p:txBody>
          <a:bodyPr wrap="square" anchor="t">
            <a:spAutoFit/>
          </a:bodyPr>
          <a:lstStyle/>
          <a:p>
            <a:pPr algn="ctr"/>
            <a:r>
              <a:rPr sz="1200" b="1">
                <a:solidFill>
                  <a:srgbClr val="1A1A1A"/>
                </a:solidFill>
                <a:latin typeface="微软雅黑"/>
                <a:ea typeface="微软雅黑"/>
              </a:rPr>
              <a:t>抗感染调整</a:t>
            </a:r>
          </a:p>
        </p:txBody>
      </p:sp>
      <p:sp>
        <p:nvSpPr>
          <p:cNvPr id="27" name="Rounded Rectangle 26"/>
          <p:cNvSpPr/>
          <p:nvPr/>
        </p:nvSpPr>
        <p:spPr>
          <a:xfrm>
            <a:off x="4069080" y="2697480"/>
            <a:ext cx="1737360" cy="1554480"/>
          </a:xfrm>
          <a:prstGeom prst="roundRect">
            <a:avLst/>
          </a:prstGeom>
          <a:solidFill>
            <a:srgbClr val="E8F0FE"/>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60520" y="2788920"/>
            <a:ext cx="1554480" cy="1371600"/>
          </a:xfrm>
          <a:prstGeom prst="rect">
            <a:avLst/>
          </a:prstGeom>
          <a:noFill/>
        </p:spPr>
        <p:txBody>
          <a:bodyPr wrap="square" anchor="t">
            <a:spAutoFit/>
          </a:bodyPr>
          <a:lstStyle/>
          <a:p>
            <a:pPr algn="l"/>
            <a:r>
              <a:rPr sz="1000" b="0">
                <a:solidFill>
                  <a:srgbClr val="1A1A1A"/>
                </a:solidFill>
                <a:latin typeface="微软雅黑"/>
                <a:ea typeface="微软雅黑"/>
              </a:rPr>
              <a:t>左氧氟沙星抗感染</a:t>
            </a:r>
          </a:p>
        </p:txBody>
      </p:sp>
      <p:sp>
        <p:nvSpPr>
          <p:cNvPr id="29" name="Oval 28"/>
          <p:cNvSpPr/>
          <p:nvPr/>
        </p:nvSpPr>
        <p:spPr>
          <a:xfrm>
            <a:off x="6400800" y="1645920"/>
            <a:ext cx="457200" cy="45720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0" y="1143000"/>
            <a:ext cx="1188720" cy="365760"/>
          </a:xfrm>
          <a:prstGeom prst="rect">
            <a:avLst/>
          </a:prstGeom>
          <a:noFill/>
        </p:spPr>
        <p:txBody>
          <a:bodyPr wrap="square" anchor="t">
            <a:spAutoFit/>
          </a:bodyPr>
          <a:lstStyle/>
          <a:p>
            <a:pPr algn="ctr"/>
            <a:r>
              <a:rPr sz="1400" b="1">
                <a:solidFill>
                  <a:srgbClr val="1E3A8A"/>
                </a:solidFill>
                <a:latin typeface="微软雅黑"/>
                <a:ea typeface="微软雅黑"/>
              </a:rPr>
              <a:t>8-01</a:t>
            </a:r>
          </a:p>
        </p:txBody>
      </p:sp>
      <p:sp>
        <p:nvSpPr>
          <p:cNvPr id="31" name="TextBox 30"/>
          <p:cNvSpPr txBox="1"/>
          <p:nvPr/>
        </p:nvSpPr>
        <p:spPr>
          <a:xfrm>
            <a:off x="5943600" y="2194560"/>
            <a:ext cx="1371600" cy="320040"/>
          </a:xfrm>
          <a:prstGeom prst="rect">
            <a:avLst/>
          </a:prstGeom>
          <a:noFill/>
        </p:spPr>
        <p:txBody>
          <a:bodyPr wrap="square" anchor="t">
            <a:spAutoFit/>
          </a:bodyPr>
          <a:lstStyle/>
          <a:p>
            <a:pPr algn="ctr"/>
            <a:r>
              <a:rPr sz="1200" b="1">
                <a:solidFill>
                  <a:srgbClr val="1A1A1A"/>
                </a:solidFill>
                <a:latin typeface="微软雅黑"/>
                <a:ea typeface="微软雅黑"/>
              </a:rPr>
              <a:t>吸入强化</a:t>
            </a:r>
          </a:p>
        </p:txBody>
      </p:sp>
      <p:sp>
        <p:nvSpPr>
          <p:cNvPr id="32" name="Rounded Rectangle 31"/>
          <p:cNvSpPr/>
          <p:nvPr/>
        </p:nvSpPr>
        <p:spPr>
          <a:xfrm>
            <a:off x="5897880" y="4434840"/>
            <a:ext cx="1737360" cy="15544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89320" y="4526280"/>
            <a:ext cx="1554480" cy="1371600"/>
          </a:xfrm>
          <a:prstGeom prst="rect">
            <a:avLst/>
          </a:prstGeom>
          <a:noFill/>
        </p:spPr>
        <p:txBody>
          <a:bodyPr wrap="square" anchor="t">
            <a:spAutoFit/>
          </a:bodyPr>
          <a:lstStyle/>
          <a:p>
            <a:pPr algn="l"/>
            <a:r>
              <a:rPr sz="1000" b="0">
                <a:solidFill>
                  <a:srgbClr val="1A1A1A"/>
                </a:solidFill>
                <a:latin typeface="微软雅黑"/>
                <a:ea typeface="微软雅黑"/>
              </a:rPr>
              <a:t>加沙美特罗/氟替卡松吸入</a:t>
            </a:r>
          </a:p>
        </p:txBody>
      </p:sp>
      <p:sp>
        <p:nvSpPr>
          <p:cNvPr id="34" name="Oval 33"/>
          <p:cNvSpPr/>
          <p:nvPr/>
        </p:nvSpPr>
        <p:spPr>
          <a:xfrm>
            <a:off x="8229600" y="1645920"/>
            <a:ext cx="457200" cy="45720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0" y="1143000"/>
            <a:ext cx="1188720" cy="365760"/>
          </a:xfrm>
          <a:prstGeom prst="rect">
            <a:avLst/>
          </a:prstGeom>
          <a:noFill/>
        </p:spPr>
        <p:txBody>
          <a:bodyPr wrap="square" anchor="t">
            <a:spAutoFit/>
          </a:bodyPr>
          <a:lstStyle/>
          <a:p>
            <a:pPr algn="ctr"/>
            <a:r>
              <a:rPr sz="1400" b="1">
                <a:solidFill>
                  <a:srgbClr val="1E3A8A"/>
                </a:solidFill>
                <a:latin typeface="微软雅黑"/>
                <a:ea typeface="微软雅黑"/>
              </a:rPr>
              <a:t>8-02</a:t>
            </a:r>
          </a:p>
        </p:txBody>
      </p:sp>
      <p:sp>
        <p:nvSpPr>
          <p:cNvPr id="36" name="TextBox 35"/>
          <p:cNvSpPr txBox="1"/>
          <p:nvPr/>
        </p:nvSpPr>
        <p:spPr>
          <a:xfrm>
            <a:off x="7772400" y="2194560"/>
            <a:ext cx="1371600" cy="320040"/>
          </a:xfrm>
          <a:prstGeom prst="rect">
            <a:avLst/>
          </a:prstGeom>
          <a:noFill/>
        </p:spPr>
        <p:txBody>
          <a:bodyPr wrap="square" anchor="t">
            <a:spAutoFit/>
          </a:bodyPr>
          <a:lstStyle/>
          <a:p>
            <a:pPr algn="ctr"/>
            <a:r>
              <a:rPr sz="1200" b="1">
                <a:solidFill>
                  <a:srgbClr val="1A1A1A"/>
                </a:solidFill>
                <a:latin typeface="微软雅黑"/>
                <a:ea typeface="微软雅黑"/>
              </a:rPr>
              <a:t>序贯治疗</a:t>
            </a:r>
          </a:p>
        </p:txBody>
      </p:sp>
      <p:sp>
        <p:nvSpPr>
          <p:cNvPr id="37" name="Rounded Rectangle 36"/>
          <p:cNvSpPr/>
          <p:nvPr/>
        </p:nvSpPr>
        <p:spPr>
          <a:xfrm>
            <a:off x="7726680" y="2697480"/>
            <a:ext cx="1737360" cy="1554480"/>
          </a:xfrm>
          <a:prstGeom prst="roundRect">
            <a:avLst/>
          </a:prstGeom>
          <a:solidFill>
            <a:srgbClr val="E8F0FE"/>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18120" y="2788920"/>
            <a:ext cx="1554480" cy="1371600"/>
          </a:xfrm>
          <a:prstGeom prst="rect">
            <a:avLst/>
          </a:prstGeom>
          <a:noFill/>
        </p:spPr>
        <p:txBody>
          <a:bodyPr wrap="square" anchor="t">
            <a:spAutoFit/>
          </a:bodyPr>
          <a:lstStyle/>
          <a:p>
            <a:pPr algn="l"/>
            <a:r>
              <a:rPr sz="1000" b="0">
                <a:solidFill>
                  <a:srgbClr val="1A1A1A"/>
                </a:solidFill>
                <a:latin typeface="微软雅黑"/>
                <a:ea typeface="微软雅黑"/>
              </a:rPr>
              <a:t>痰量减少，血氧改善；抗生素改为口服序贯维持</a:t>
            </a:r>
          </a:p>
        </p:txBody>
      </p:sp>
      <p:sp>
        <p:nvSpPr>
          <p:cNvPr id="39" name="Oval 38"/>
          <p:cNvSpPr/>
          <p:nvPr/>
        </p:nvSpPr>
        <p:spPr>
          <a:xfrm>
            <a:off x="10058400" y="1645920"/>
            <a:ext cx="457200" cy="457200"/>
          </a:xfrm>
          <a:prstGeom prst="ellipse">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92640" y="1143000"/>
            <a:ext cx="1188720" cy="365760"/>
          </a:xfrm>
          <a:prstGeom prst="rect">
            <a:avLst/>
          </a:prstGeom>
          <a:noFill/>
        </p:spPr>
        <p:txBody>
          <a:bodyPr wrap="square" anchor="t">
            <a:spAutoFit/>
          </a:bodyPr>
          <a:lstStyle/>
          <a:p>
            <a:pPr algn="ctr"/>
            <a:r>
              <a:rPr sz="1400" b="1">
                <a:solidFill>
                  <a:srgbClr val="1E3A8A"/>
                </a:solidFill>
                <a:latin typeface="微软雅黑"/>
                <a:ea typeface="微软雅黑"/>
              </a:rPr>
              <a:t>8-04</a:t>
            </a:r>
          </a:p>
        </p:txBody>
      </p:sp>
      <p:sp>
        <p:nvSpPr>
          <p:cNvPr id="41" name="TextBox 40"/>
          <p:cNvSpPr txBox="1"/>
          <p:nvPr/>
        </p:nvSpPr>
        <p:spPr>
          <a:xfrm>
            <a:off x="9601200" y="2194560"/>
            <a:ext cx="1371600" cy="320040"/>
          </a:xfrm>
          <a:prstGeom prst="rect">
            <a:avLst/>
          </a:prstGeom>
          <a:noFill/>
        </p:spPr>
        <p:txBody>
          <a:bodyPr wrap="square" anchor="t">
            <a:spAutoFit/>
          </a:bodyPr>
          <a:lstStyle/>
          <a:p>
            <a:pPr algn="ctr"/>
            <a:r>
              <a:rPr sz="1200" b="1">
                <a:solidFill>
                  <a:srgbClr val="D32F2F"/>
                </a:solidFill>
                <a:latin typeface="微软雅黑"/>
                <a:ea typeface="微软雅黑"/>
              </a:rPr>
              <a:t>出院</a:t>
            </a:r>
          </a:p>
        </p:txBody>
      </p:sp>
      <p:sp>
        <p:nvSpPr>
          <p:cNvPr id="42" name="Rounded Rectangle 41"/>
          <p:cNvSpPr/>
          <p:nvPr/>
        </p:nvSpPr>
        <p:spPr>
          <a:xfrm>
            <a:off x="9555480" y="4434840"/>
            <a:ext cx="1737360" cy="15544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46920" y="4526280"/>
            <a:ext cx="1554480" cy="1371600"/>
          </a:xfrm>
          <a:prstGeom prst="rect">
            <a:avLst/>
          </a:prstGeom>
          <a:noFill/>
        </p:spPr>
        <p:txBody>
          <a:bodyPr wrap="square" anchor="t">
            <a:spAutoFit/>
          </a:bodyPr>
          <a:lstStyle/>
          <a:p>
            <a:pPr algn="l"/>
            <a:r>
              <a:rPr sz="1000" b="0">
                <a:solidFill>
                  <a:srgbClr val="1A1A1A"/>
                </a:solidFill>
                <a:latin typeface="微软雅黑"/>
                <a:ea typeface="微软雅黑"/>
              </a:rPr>
              <a:t>症状好转出院；吸入剂＋家庭氧疗，预约肺康复门诊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高级健康评估</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274320" y="914400"/>
            <a:ext cx="2194560" cy="5303520"/>
          </a:xfrm>
          <a:prstGeom prst="roundRect">
            <a:avLst/>
          </a:prstGeom>
          <a:solidFill>
            <a:srgbClr val="F5F8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051560"/>
            <a:ext cx="2011680" cy="365760"/>
          </a:xfrm>
          <a:prstGeom prst="rect">
            <a:avLst/>
          </a:prstGeom>
          <a:noFill/>
        </p:spPr>
        <p:txBody>
          <a:bodyPr wrap="square" anchor="t">
            <a:spAutoFit/>
          </a:bodyPr>
          <a:lstStyle/>
          <a:p>
            <a:pPr algn="ctr"/>
            <a:r>
              <a:rPr sz="1400" b="1">
                <a:solidFill>
                  <a:srgbClr val="1E3A8A"/>
                </a:solidFill>
                <a:latin typeface="微软雅黑"/>
                <a:ea typeface="微软雅黑"/>
              </a:rPr>
              <a:t>评估维度</a:t>
            </a:r>
          </a:p>
        </p:txBody>
      </p:sp>
      <p:sp>
        <p:nvSpPr>
          <p:cNvPr id="15" name="Rounded Rectangle 14"/>
          <p:cNvSpPr/>
          <p:nvPr/>
        </p:nvSpPr>
        <p:spPr>
          <a:xfrm>
            <a:off x="411480" y="1554480"/>
            <a:ext cx="1920240" cy="64008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1554480"/>
            <a:ext cx="1920240" cy="640080"/>
          </a:xfrm>
          <a:prstGeom prst="rect">
            <a:avLst/>
          </a:prstGeom>
          <a:noFill/>
        </p:spPr>
        <p:txBody>
          <a:bodyPr wrap="square" anchor="ctr">
            <a:spAutoFit/>
          </a:bodyPr>
          <a:lstStyle/>
          <a:p>
            <a:pPr algn="ctr"/>
            <a:r>
              <a:rPr sz="1200" b="1">
                <a:solidFill>
                  <a:srgbClr val="FFFFFF"/>
                </a:solidFill>
                <a:latin typeface="微软雅黑"/>
                <a:ea typeface="微软雅黑"/>
              </a:rPr>
              <a:t>疾病症状</a:t>
            </a:r>
          </a:p>
        </p:txBody>
      </p:sp>
      <p:sp>
        <p:nvSpPr>
          <p:cNvPr id="17" name="Rounded Rectangle 16"/>
          <p:cNvSpPr/>
          <p:nvPr/>
        </p:nvSpPr>
        <p:spPr>
          <a:xfrm>
            <a:off x="411480" y="233172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33172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整体健康评估</a:t>
            </a:r>
          </a:p>
        </p:txBody>
      </p:sp>
      <p:sp>
        <p:nvSpPr>
          <p:cNvPr id="19" name="Rounded Rectangle 18"/>
          <p:cNvSpPr/>
          <p:nvPr/>
        </p:nvSpPr>
        <p:spPr>
          <a:xfrm>
            <a:off x="411480" y="310896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310896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生理功能</a:t>
            </a:r>
          </a:p>
        </p:txBody>
      </p:sp>
      <p:sp>
        <p:nvSpPr>
          <p:cNvPr id="21" name="Rounded Rectangle 20"/>
          <p:cNvSpPr/>
          <p:nvPr/>
        </p:nvSpPr>
        <p:spPr>
          <a:xfrm>
            <a:off x="411480" y="388620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388620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自理能力ICF评估</a:t>
            </a:r>
          </a:p>
        </p:txBody>
      </p:sp>
      <p:sp>
        <p:nvSpPr>
          <p:cNvPr id="23" name="Rounded Rectangle 22"/>
          <p:cNvSpPr/>
          <p:nvPr/>
        </p:nvSpPr>
        <p:spPr>
          <a:xfrm>
            <a:off x="411480" y="466344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466344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风险与并发症</a:t>
            </a:r>
          </a:p>
        </p:txBody>
      </p:sp>
      <p:sp>
        <p:nvSpPr>
          <p:cNvPr id="25" name="Rounded Rectangle 24"/>
          <p:cNvSpPr/>
          <p:nvPr/>
        </p:nvSpPr>
        <p:spPr>
          <a:xfrm>
            <a:off x="2697480" y="914400"/>
            <a:ext cx="9098280" cy="530352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0" y="1051560"/>
            <a:ext cx="3657600" cy="365760"/>
          </a:xfrm>
          <a:prstGeom prst="rect">
            <a:avLst/>
          </a:prstGeom>
          <a:noFill/>
        </p:spPr>
        <p:txBody>
          <a:bodyPr wrap="square" anchor="t">
            <a:spAutoFit/>
          </a:bodyPr>
          <a:lstStyle/>
          <a:p>
            <a:pPr algn="l"/>
            <a:r>
              <a:rPr sz="1800" b="1">
                <a:solidFill>
                  <a:srgbClr val="1E3A8A"/>
                </a:solidFill>
                <a:latin typeface="微软雅黑"/>
                <a:ea typeface="微软雅黑"/>
              </a:rPr>
              <a:t>诊断</a:t>
            </a:r>
          </a:p>
        </p:txBody>
      </p:sp>
      <p:sp>
        <p:nvSpPr>
          <p:cNvPr id="27" name="Rounded Rectangle 26"/>
          <p:cNvSpPr/>
          <p:nvPr/>
        </p:nvSpPr>
        <p:spPr>
          <a:xfrm>
            <a:off x="2926080" y="1554480"/>
            <a:ext cx="5029200" cy="45720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26080" y="1554480"/>
            <a:ext cx="5029200" cy="457200"/>
          </a:xfrm>
          <a:prstGeom prst="rect">
            <a:avLst/>
          </a:prstGeom>
          <a:noFill/>
        </p:spPr>
        <p:txBody>
          <a:bodyPr wrap="square" anchor="ctr">
            <a:spAutoFit/>
          </a:bodyPr>
          <a:lstStyle/>
          <a:p>
            <a:pPr algn="ctr"/>
            <a:r>
              <a:rPr sz="1400" b="1">
                <a:solidFill>
                  <a:srgbClr val="1E3A8A"/>
                </a:solidFill>
                <a:latin typeface="微软雅黑"/>
                <a:ea typeface="微软雅黑"/>
              </a:rPr>
              <a:t>COPD急性加重期</a:t>
            </a:r>
          </a:p>
        </p:txBody>
      </p:sp>
      <p:sp>
        <p:nvSpPr>
          <p:cNvPr id="29" name="Rounded Rectangle 28"/>
          <p:cNvSpPr/>
          <p:nvPr/>
        </p:nvSpPr>
        <p:spPr>
          <a:xfrm>
            <a:off x="2926080" y="2103120"/>
            <a:ext cx="5029200" cy="45720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80" y="2103120"/>
            <a:ext cx="5029200" cy="457200"/>
          </a:xfrm>
          <a:prstGeom prst="rect">
            <a:avLst/>
          </a:prstGeom>
          <a:noFill/>
        </p:spPr>
        <p:txBody>
          <a:bodyPr wrap="square" anchor="ctr">
            <a:spAutoFit/>
          </a:bodyPr>
          <a:lstStyle/>
          <a:p>
            <a:pPr algn="ctr"/>
            <a:r>
              <a:rPr sz="1400" b="1">
                <a:solidFill>
                  <a:srgbClr val="1E3A8A"/>
                </a:solidFill>
                <a:latin typeface="微软雅黑"/>
                <a:ea typeface="微软雅黑"/>
              </a:rPr>
              <a:t>肺源性心脏病（右心衰竭）</a:t>
            </a:r>
          </a:p>
        </p:txBody>
      </p:sp>
      <p:sp>
        <p:nvSpPr>
          <p:cNvPr id="31" name="Rounded Rectangle 30"/>
          <p:cNvSpPr/>
          <p:nvPr/>
        </p:nvSpPr>
        <p:spPr>
          <a:xfrm>
            <a:off x="2926080" y="2651760"/>
            <a:ext cx="5029200" cy="45720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26080" y="2651760"/>
            <a:ext cx="5029200" cy="457200"/>
          </a:xfrm>
          <a:prstGeom prst="rect">
            <a:avLst/>
          </a:prstGeom>
          <a:noFill/>
        </p:spPr>
        <p:txBody>
          <a:bodyPr wrap="square" anchor="ctr">
            <a:spAutoFit/>
          </a:bodyPr>
          <a:lstStyle/>
          <a:p>
            <a:pPr algn="ctr"/>
            <a:r>
              <a:rPr sz="1400" b="1">
                <a:solidFill>
                  <a:srgbClr val="1E3A8A"/>
                </a:solidFill>
                <a:latin typeface="微软雅黑"/>
                <a:ea typeface="微软雅黑"/>
              </a:rPr>
              <a:t>铜绿假单胞菌性肺炎</a:t>
            </a:r>
          </a:p>
        </p:txBody>
      </p:sp>
      <p:sp>
        <p:nvSpPr>
          <p:cNvPr id="33" name="TextBox 32"/>
          <p:cNvSpPr txBox="1"/>
          <p:nvPr/>
        </p:nvSpPr>
        <p:spPr>
          <a:xfrm>
            <a:off x="8229600" y="1051560"/>
            <a:ext cx="3200400" cy="365760"/>
          </a:xfrm>
          <a:prstGeom prst="rect">
            <a:avLst/>
          </a:prstGeom>
          <a:noFill/>
        </p:spPr>
        <p:txBody>
          <a:bodyPr wrap="square" anchor="t">
            <a:spAutoFit/>
          </a:bodyPr>
          <a:lstStyle/>
          <a:p>
            <a:pPr algn="l"/>
            <a:r>
              <a:rPr sz="1600" b="1">
                <a:solidFill>
                  <a:srgbClr val="1E3A8A"/>
                </a:solidFill>
                <a:latin typeface="微软雅黑"/>
                <a:ea typeface="微软雅黑"/>
              </a:rPr>
              <a:t>症状体征</a:t>
            </a:r>
          </a:p>
        </p:txBody>
      </p:sp>
      <p:sp>
        <p:nvSpPr>
          <p:cNvPr id="34" name="TextBox 33"/>
          <p:cNvSpPr txBox="1"/>
          <p:nvPr/>
        </p:nvSpPr>
        <p:spPr>
          <a:xfrm>
            <a:off x="8229600" y="1554480"/>
            <a:ext cx="3291840" cy="731520"/>
          </a:xfrm>
          <a:prstGeom prst="rect">
            <a:avLst/>
          </a:prstGeom>
          <a:noFill/>
        </p:spPr>
        <p:txBody>
          <a:bodyPr wrap="square" anchor="t">
            <a:spAutoFit/>
          </a:bodyPr>
          <a:lstStyle/>
          <a:p>
            <a:pPr algn="l"/>
            <a:r>
              <a:rPr sz="1200" b="0">
                <a:solidFill>
                  <a:srgbClr val="1A1A1A"/>
                </a:solidFill>
                <a:latin typeface="微软雅黑"/>
                <a:ea typeface="微软雅黑"/>
              </a:rPr>
              <a:t>1. 咳嗽咳黄脓痰、静息气短(SpO₂88%)、端坐呼吸</a:t>
            </a:r>
          </a:p>
        </p:txBody>
      </p:sp>
      <p:sp>
        <p:nvSpPr>
          <p:cNvPr id="35" name="TextBox 34"/>
          <p:cNvSpPr txBox="1"/>
          <p:nvPr/>
        </p:nvSpPr>
        <p:spPr>
          <a:xfrm>
            <a:off x="8229600" y="2331720"/>
            <a:ext cx="3291840" cy="731520"/>
          </a:xfrm>
          <a:prstGeom prst="rect">
            <a:avLst/>
          </a:prstGeom>
          <a:noFill/>
        </p:spPr>
        <p:txBody>
          <a:bodyPr wrap="square" anchor="t">
            <a:spAutoFit/>
          </a:bodyPr>
          <a:lstStyle/>
          <a:p>
            <a:pPr algn="l"/>
            <a:r>
              <a:rPr sz="1200" b="0">
                <a:solidFill>
                  <a:srgbClr val="1A1A1A"/>
                </a:solidFill>
                <a:latin typeface="微软雅黑"/>
                <a:ea typeface="微软雅黑"/>
              </a:rPr>
              <a:t>2. 桶状胸、双肺哮鸣音+湿啰音、P2亢进</a:t>
            </a:r>
          </a:p>
        </p:txBody>
      </p:sp>
      <p:sp>
        <p:nvSpPr>
          <p:cNvPr id="36" name="TextBox 35"/>
          <p:cNvSpPr txBox="1"/>
          <p:nvPr/>
        </p:nvSpPr>
        <p:spPr>
          <a:xfrm>
            <a:off x="8229600" y="3108960"/>
            <a:ext cx="3291840" cy="731520"/>
          </a:xfrm>
          <a:prstGeom prst="rect">
            <a:avLst/>
          </a:prstGeom>
          <a:noFill/>
        </p:spPr>
        <p:txBody>
          <a:bodyPr wrap="square" anchor="t">
            <a:spAutoFit/>
          </a:bodyPr>
          <a:lstStyle/>
          <a:p>
            <a:pPr algn="l"/>
            <a:r>
              <a:rPr sz="1200" b="0">
                <a:solidFill>
                  <a:srgbClr val="1A1A1A"/>
                </a:solidFill>
                <a:latin typeface="微软雅黑"/>
                <a:ea typeface="微软雅黑"/>
              </a:rPr>
              <a:t>3. 颈静脉怒张、肝大肋下2cm、下肢凹陷性水肿</a:t>
            </a:r>
          </a:p>
        </p:txBody>
      </p:sp>
      <p:sp>
        <p:nvSpPr>
          <p:cNvPr id="37" name="Rounded Rectangle 36"/>
          <p:cNvSpPr/>
          <p:nvPr/>
        </p:nvSpPr>
        <p:spPr>
          <a:xfrm>
            <a:off x="2926080" y="3657600"/>
            <a:ext cx="2011680" cy="2194560"/>
          </a:xfrm>
          <a:prstGeom prst="roundRect">
            <a:avLst/>
          </a:prstGeom>
          <a:solidFill>
            <a:srgbClr val="F5F8FC"/>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926080" y="3657600"/>
            <a:ext cx="20116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26080" y="3703320"/>
            <a:ext cx="2011680" cy="320040"/>
          </a:xfrm>
          <a:prstGeom prst="rect">
            <a:avLst/>
          </a:prstGeom>
          <a:noFill/>
        </p:spPr>
        <p:txBody>
          <a:bodyPr wrap="square" anchor="t">
            <a:spAutoFit/>
          </a:bodyPr>
          <a:lstStyle/>
          <a:p>
            <a:pPr algn="ctr"/>
            <a:r>
              <a:rPr sz="1200" b="1">
                <a:solidFill>
                  <a:srgbClr val="FFFFFF"/>
                </a:solidFill>
                <a:latin typeface="微软雅黑"/>
                <a:ea typeface="微软雅黑"/>
              </a:rPr>
              <a:t>血气分析</a:t>
            </a:r>
          </a:p>
        </p:txBody>
      </p:sp>
      <p:sp>
        <p:nvSpPr>
          <p:cNvPr id="40" name="TextBox 39"/>
          <p:cNvSpPr txBox="1"/>
          <p:nvPr/>
        </p:nvSpPr>
        <p:spPr>
          <a:xfrm>
            <a:off x="3017520" y="4206240"/>
            <a:ext cx="1828800" cy="1463040"/>
          </a:xfrm>
          <a:prstGeom prst="rect">
            <a:avLst/>
          </a:prstGeom>
          <a:noFill/>
        </p:spPr>
        <p:txBody>
          <a:bodyPr wrap="square" anchor="t">
            <a:spAutoFit/>
          </a:bodyPr>
          <a:lstStyle/>
          <a:p>
            <a:pPr algn="ctr"/>
            <a:r>
              <a:rPr sz="1300" b="1">
                <a:solidFill>
                  <a:srgbClr val="1A1A1A"/>
                </a:solidFill>
                <a:latin typeface="微软雅黑"/>
                <a:ea typeface="微软雅黑"/>
              </a:rPr>
              <a:t>pH 7.32
PaO₂ 55
PaCO₂ 55</a:t>
            </a:r>
          </a:p>
        </p:txBody>
      </p:sp>
      <p:sp>
        <p:nvSpPr>
          <p:cNvPr id="41" name="Rounded Rectangle 40"/>
          <p:cNvSpPr/>
          <p:nvPr/>
        </p:nvSpPr>
        <p:spPr>
          <a:xfrm>
            <a:off x="5074920" y="3657600"/>
            <a:ext cx="2011680" cy="2194560"/>
          </a:xfrm>
          <a:prstGeom prst="roundRect">
            <a:avLst/>
          </a:prstGeom>
          <a:solidFill>
            <a:srgbClr val="F5F8FC"/>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74920" y="3657600"/>
            <a:ext cx="20116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74920" y="3703320"/>
            <a:ext cx="2011680" cy="320040"/>
          </a:xfrm>
          <a:prstGeom prst="rect">
            <a:avLst/>
          </a:prstGeom>
          <a:noFill/>
        </p:spPr>
        <p:txBody>
          <a:bodyPr wrap="square" anchor="t">
            <a:spAutoFit/>
          </a:bodyPr>
          <a:lstStyle/>
          <a:p>
            <a:pPr algn="ctr"/>
            <a:r>
              <a:rPr sz="1200" b="1">
                <a:solidFill>
                  <a:srgbClr val="FFFFFF"/>
                </a:solidFill>
                <a:latin typeface="微软雅黑"/>
                <a:ea typeface="微软雅黑"/>
              </a:rPr>
              <a:t>血常规</a:t>
            </a:r>
          </a:p>
        </p:txBody>
      </p:sp>
      <p:sp>
        <p:nvSpPr>
          <p:cNvPr id="44" name="TextBox 43"/>
          <p:cNvSpPr txBox="1"/>
          <p:nvPr/>
        </p:nvSpPr>
        <p:spPr>
          <a:xfrm>
            <a:off x="5166360" y="4206240"/>
            <a:ext cx="1828800" cy="1463040"/>
          </a:xfrm>
          <a:prstGeom prst="rect">
            <a:avLst/>
          </a:prstGeom>
          <a:noFill/>
        </p:spPr>
        <p:txBody>
          <a:bodyPr wrap="square" anchor="t">
            <a:spAutoFit/>
          </a:bodyPr>
          <a:lstStyle/>
          <a:p>
            <a:pPr algn="ctr"/>
            <a:r>
              <a:rPr sz="1300" b="1">
                <a:solidFill>
                  <a:srgbClr val="1A1A1A"/>
                </a:solidFill>
                <a:latin typeface="微软雅黑"/>
                <a:ea typeface="微软雅黑"/>
              </a:rPr>
              <a:t>WBC 12.5×10⁹/L
中性粒 88%</a:t>
            </a:r>
          </a:p>
        </p:txBody>
      </p:sp>
      <p:sp>
        <p:nvSpPr>
          <p:cNvPr id="45" name="Rounded Rectangle 44"/>
          <p:cNvSpPr/>
          <p:nvPr/>
        </p:nvSpPr>
        <p:spPr>
          <a:xfrm>
            <a:off x="7223760" y="3657600"/>
            <a:ext cx="2011680" cy="2194560"/>
          </a:xfrm>
          <a:prstGeom prst="roundRect">
            <a:avLst/>
          </a:prstGeom>
          <a:solidFill>
            <a:srgbClr val="F5F8FC"/>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223760" y="3657600"/>
            <a:ext cx="20116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23760" y="3703320"/>
            <a:ext cx="2011680" cy="320040"/>
          </a:xfrm>
          <a:prstGeom prst="rect">
            <a:avLst/>
          </a:prstGeom>
          <a:noFill/>
        </p:spPr>
        <p:txBody>
          <a:bodyPr wrap="square" anchor="t">
            <a:spAutoFit/>
          </a:bodyPr>
          <a:lstStyle/>
          <a:p>
            <a:pPr algn="ctr"/>
            <a:r>
              <a:rPr sz="1200" b="1">
                <a:solidFill>
                  <a:srgbClr val="FFFFFF"/>
                </a:solidFill>
                <a:latin typeface="微软雅黑"/>
                <a:ea typeface="微软雅黑"/>
              </a:rPr>
              <a:t>痰培养</a:t>
            </a:r>
          </a:p>
        </p:txBody>
      </p:sp>
      <p:sp>
        <p:nvSpPr>
          <p:cNvPr id="48" name="TextBox 47"/>
          <p:cNvSpPr txBox="1"/>
          <p:nvPr/>
        </p:nvSpPr>
        <p:spPr>
          <a:xfrm>
            <a:off x="7315200" y="4206240"/>
            <a:ext cx="1828800" cy="1463040"/>
          </a:xfrm>
          <a:prstGeom prst="rect">
            <a:avLst/>
          </a:prstGeom>
          <a:noFill/>
        </p:spPr>
        <p:txBody>
          <a:bodyPr wrap="square" anchor="t">
            <a:spAutoFit/>
          </a:bodyPr>
          <a:lstStyle/>
          <a:p>
            <a:pPr algn="ctr"/>
            <a:r>
              <a:rPr sz="1300" b="1">
                <a:solidFill>
                  <a:srgbClr val="1A1A1A"/>
                </a:solidFill>
                <a:latin typeface="微软雅黑"/>
                <a:ea typeface="微软雅黑"/>
              </a:rPr>
              <a:t>铜绿假单胞菌
阳性</a:t>
            </a:r>
          </a:p>
        </p:txBody>
      </p:sp>
      <p:sp>
        <p:nvSpPr>
          <p:cNvPr id="49" name="Rounded Rectangle 48"/>
          <p:cNvSpPr/>
          <p:nvPr/>
        </p:nvSpPr>
        <p:spPr>
          <a:xfrm>
            <a:off x="9372600" y="3657600"/>
            <a:ext cx="2011680" cy="2194560"/>
          </a:xfrm>
          <a:prstGeom prst="roundRect">
            <a:avLst/>
          </a:prstGeom>
          <a:solidFill>
            <a:srgbClr val="F5F8FC"/>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372600" y="3657600"/>
            <a:ext cx="2011680" cy="4114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72600" y="3703320"/>
            <a:ext cx="2011680" cy="320040"/>
          </a:xfrm>
          <a:prstGeom prst="rect">
            <a:avLst/>
          </a:prstGeom>
          <a:noFill/>
        </p:spPr>
        <p:txBody>
          <a:bodyPr wrap="square" anchor="t">
            <a:spAutoFit/>
          </a:bodyPr>
          <a:lstStyle/>
          <a:p>
            <a:pPr algn="ctr"/>
            <a:r>
              <a:rPr sz="1200" b="1">
                <a:solidFill>
                  <a:srgbClr val="FFFFFF"/>
                </a:solidFill>
                <a:latin typeface="微软雅黑"/>
                <a:ea typeface="微软雅黑"/>
              </a:rPr>
              <a:t>肺功能</a:t>
            </a:r>
          </a:p>
        </p:txBody>
      </p:sp>
      <p:sp>
        <p:nvSpPr>
          <p:cNvPr id="52" name="TextBox 51"/>
          <p:cNvSpPr txBox="1"/>
          <p:nvPr/>
        </p:nvSpPr>
        <p:spPr>
          <a:xfrm>
            <a:off x="9464040" y="4206240"/>
            <a:ext cx="1828800" cy="1463040"/>
          </a:xfrm>
          <a:prstGeom prst="rect">
            <a:avLst/>
          </a:prstGeom>
          <a:noFill/>
        </p:spPr>
        <p:txBody>
          <a:bodyPr wrap="square" anchor="t">
            <a:spAutoFit/>
          </a:bodyPr>
          <a:lstStyle/>
          <a:p>
            <a:pPr algn="ctr"/>
            <a:r>
              <a:rPr sz="1300" b="1">
                <a:solidFill>
                  <a:srgbClr val="1A1A1A"/>
                </a:solidFill>
                <a:latin typeface="微软雅黑"/>
                <a:ea typeface="微软雅黑"/>
              </a:rPr>
              <a:t>FEV₁ 1.2L
FVC 2.1L
比值 0.57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高级健康评估</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274320" y="914400"/>
            <a:ext cx="2194560" cy="5303520"/>
          </a:xfrm>
          <a:prstGeom prst="roundRect">
            <a:avLst/>
          </a:prstGeom>
          <a:solidFill>
            <a:srgbClr val="F5F8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051560"/>
            <a:ext cx="2011680" cy="365760"/>
          </a:xfrm>
          <a:prstGeom prst="rect">
            <a:avLst/>
          </a:prstGeom>
          <a:noFill/>
        </p:spPr>
        <p:txBody>
          <a:bodyPr wrap="square" anchor="t">
            <a:spAutoFit/>
          </a:bodyPr>
          <a:lstStyle/>
          <a:p>
            <a:pPr algn="ctr"/>
            <a:r>
              <a:rPr sz="1400" b="1">
                <a:solidFill>
                  <a:srgbClr val="1E3A8A"/>
                </a:solidFill>
                <a:latin typeface="微软雅黑"/>
                <a:ea typeface="微软雅黑"/>
              </a:rPr>
              <a:t>评估维度</a:t>
            </a:r>
          </a:p>
        </p:txBody>
      </p:sp>
      <p:sp>
        <p:nvSpPr>
          <p:cNvPr id="15" name="Rounded Rectangle 14"/>
          <p:cNvSpPr/>
          <p:nvPr/>
        </p:nvSpPr>
        <p:spPr>
          <a:xfrm>
            <a:off x="411480" y="155448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155448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疾病症状</a:t>
            </a:r>
          </a:p>
        </p:txBody>
      </p:sp>
      <p:sp>
        <p:nvSpPr>
          <p:cNvPr id="17" name="Rounded Rectangle 16"/>
          <p:cNvSpPr/>
          <p:nvPr/>
        </p:nvSpPr>
        <p:spPr>
          <a:xfrm>
            <a:off x="411480" y="2331720"/>
            <a:ext cx="1920240" cy="64008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331720"/>
            <a:ext cx="1920240" cy="640080"/>
          </a:xfrm>
          <a:prstGeom prst="rect">
            <a:avLst/>
          </a:prstGeom>
          <a:noFill/>
        </p:spPr>
        <p:txBody>
          <a:bodyPr wrap="square" anchor="ctr">
            <a:spAutoFit/>
          </a:bodyPr>
          <a:lstStyle/>
          <a:p>
            <a:pPr algn="ctr"/>
            <a:r>
              <a:rPr sz="1200" b="1">
                <a:solidFill>
                  <a:srgbClr val="FFFFFF"/>
                </a:solidFill>
                <a:latin typeface="微软雅黑"/>
                <a:ea typeface="微软雅黑"/>
              </a:rPr>
              <a:t>整体健康评估</a:t>
            </a:r>
          </a:p>
        </p:txBody>
      </p:sp>
      <p:sp>
        <p:nvSpPr>
          <p:cNvPr id="19" name="Rounded Rectangle 18"/>
          <p:cNvSpPr/>
          <p:nvPr/>
        </p:nvSpPr>
        <p:spPr>
          <a:xfrm>
            <a:off x="411480" y="310896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310896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生理功能</a:t>
            </a:r>
          </a:p>
        </p:txBody>
      </p:sp>
      <p:sp>
        <p:nvSpPr>
          <p:cNvPr id="21" name="Rounded Rectangle 20"/>
          <p:cNvSpPr/>
          <p:nvPr/>
        </p:nvSpPr>
        <p:spPr>
          <a:xfrm>
            <a:off x="411480" y="388620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388620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自理能力ICF评估</a:t>
            </a:r>
          </a:p>
        </p:txBody>
      </p:sp>
      <p:sp>
        <p:nvSpPr>
          <p:cNvPr id="23" name="Rounded Rectangle 22"/>
          <p:cNvSpPr/>
          <p:nvPr/>
        </p:nvSpPr>
        <p:spPr>
          <a:xfrm>
            <a:off x="411480" y="466344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466344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风险与并发症</a:t>
            </a:r>
          </a:p>
        </p:txBody>
      </p:sp>
      <p:sp>
        <p:nvSpPr>
          <p:cNvPr id="25" name="Rectangle 24"/>
          <p:cNvSpPr/>
          <p:nvPr/>
        </p:nvSpPr>
        <p:spPr>
          <a:xfrm>
            <a:off x="2697480" y="914400"/>
            <a:ext cx="2377440" cy="43891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97480" y="914400"/>
            <a:ext cx="2377440" cy="438912"/>
          </a:xfrm>
          <a:prstGeom prst="rect">
            <a:avLst/>
          </a:prstGeom>
          <a:noFill/>
        </p:spPr>
        <p:txBody>
          <a:bodyPr wrap="square" anchor="ctr">
            <a:spAutoFit/>
          </a:bodyPr>
          <a:lstStyle/>
          <a:p>
            <a:pPr algn="ctr"/>
            <a:r>
              <a:rPr sz="1200" b="1">
                <a:solidFill>
                  <a:srgbClr val="FFFFFF"/>
                </a:solidFill>
                <a:latin typeface="微软雅黑"/>
                <a:ea typeface="微软雅黑"/>
              </a:rPr>
              <a:t>生命体征</a:t>
            </a:r>
          </a:p>
        </p:txBody>
      </p:sp>
      <p:sp>
        <p:nvSpPr>
          <p:cNvPr id="27" name="Rectangle 26"/>
          <p:cNvSpPr/>
          <p:nvPr/>
        </p:nvSpPr>
        <p:spPr>
          <a:xfrm>
            <a:off x="5074920" y="914400"/>
            <a:ext cx="6720840" cy="438912"/>
          </a:xfrm>
          <a:prstGeom prst="rect">
            <a:avLst/>
          </a:prstGeom>
          <a:solidFill>
            <a:srgbClr val="E8F0F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080" y="914400"/>
            <a:ext cx="6492240" cy="438912"/>
          </a:xfrm>
          <a:prstGeom prst="rect">
            <a:avLst/>
          </a:prstGeom>
          <a:noFill/>
        </p:spPr>
        <p:txBody>
          <a:bodyPr wrap="square" anchor="ctr">
            <a:spAutoFit/>
          </a:bodyPr>
          <a:lstStyle/>
          <a:p>
            <a:pPr algn="l"/>
            <a:r>
              <a:rPr sz="1200" b="0">
                <a:solidFill>
                  <a:srgbClr val="1A1A1A"/>
                </a:solidFill>
                <a:latin typeface="微软雅黑"/>
                <a:ea typeface="微软雅黑"/>
              </a:rPr>
              <a:t>T 37.8℃，P 110次/分，R 28次/分，BP 135/85 mmHg</a:t>
            </a:r>
          </a:p>
        </p:txBody>
      </p:sp>
      <p:sp>
        <p:nvSpPr>
          <p:cNvPr id="29" name="Rectangle 28"/>
          <p:cNvSpPr/>
          <p:nvPr/>
        </p:nvSpPr>
        <p:spPr>
          <a:xfrm>
            <a:off x="2697480" y="1389888"/>
            <a:ext cx="2377440" cy="438912"/>
          </a:xfrm>
          <a:prstGeom prst="rect">
            <a:avLst/>
          </a:prstGeom>
          <a:solidFill>
            <a:srgbClr val="2E5B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97480" y="1389888"/>
            <a:ext cx="2377440" cy="438912"/>
          </a:xfrm>
          <a:prstGeom prst="rect">
            <a:avLst/>
          </a:prstGeom>
          <a:noFill/>
        </p:spPr>
        <p:txBody>
          <a:bodyPr wrap="square" anchor="ctr">
            <a:spAutoFit/>
          </a:bodyPr>
          <a:lstStyle/>
          <a:p>
            <a:pPr algn="ctr"/>
            <a:r>
              <a:rPr sz="1200" b="1">
                <a:solidFill>
                  <a:srgbClr val="FFFFFF"/>
                </a:solidFill>
                <a:latin typeface="微软雅黑"/>
                <a:ea typeface="微软雅黑"/>
              </a:rPr>
              <a:t>意识/神志</a:t>
            </a:r>
          </a:p>
        </p:txBody>
      </p:sp>
      <p:sp>
        <p:nvSpPr>
          <p:cNvPr id="31" name="Rectangle 30"/>
          <p:cNvSpPr/>
          <p:nvPr/>
        </p:nvSpPr>
        <p:spPr>
          <a:xfrm>
            <a:off x="5074920" y="1389888"/>
            <a:ext cx="6720840" cy="438912"/>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212080" y="1389888"/>
            <a:ext cx="6492240" cy="438912"/>
          </a:xfrm>
          <a:prstGeom prst="rect">
            <a:avLst/>
          </a:prstGeom>
          <a:noFill/>
        </p:spPr>
        <p:txBody>
          <a:bodyPr wrap="square" anchor="ctr">
            <a:spAutoFit/>
          </a:bodyPr>
          <a:lstStyle/>
          <a:p>
            <a:pPr algn="l"/>
            <a:r>
              <a:rPr sz="1200" b="0">
                <a:solidFill>
                  <a:srgbClr val="1A1A1A"/>
                </a:solidFill>
                <a:latin typeface="微软雅黑"/>
                <a:ea typeface="微软雅黑"/>
              </a:rPr>
              <a:t>神志清醒，定向力正常</a:t>
            </a:r>
          </a:p>
        </p:txBody>
      </p:sp>
      <p:sp>
        <p:nvSpPr>
          <p:cNvPr id="33" name="Rectangle 32"/>
          <p:cNvSpPr/>
          <p:nvPr/>
        </p:nvSpPr>
        <p:spPr>
          <a:xfrm>
            <a:off x="2697480" y="1865376"/>
            <a:ext cx="2377440" cy="43891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97480" y="1865376"/>
            <a:ext cx="2377440" cy="438912"/>
          </a:xfrm>
          <a:prstGeom prst="rect">
            <a:avLst/>
          </a:prstGeom>
          <a:noFill/>
        </p:spPr>
        <p:txBody>
          <a:bodyPr wrap="square" anchor="ctr">
            <a:spAutoFit/>
          </a:bodyPr>
          <a:lstStyle/>
          <a:p>
            <a:pPr algn="ctr"/>
            <a:r>
              <a:rPr sz="1200" b="1">
                <a:solidFill>
                  <a:srgbClr val="FFFFFF"/>
                </a:solidFill>
                <a:latin typeface="微软雅黑"/>
                <a:ea typeface="微软雅黑"/>
              </a:rPr>
              <a:t>睡眠</a:t>
            </a:r>
          </a:p>
        </p:txBody>
      </p:sp>
      <p:sp>
        <p:nvSpPr>
          <p:cNvPr id="35" name="Rectangle 34"/>
          <p:cNvSpPr/>
          <p:nvPr/>
        </p:nvSpPr>
        <p:spPr>
          <a:xfrm>
            <a:off x="5074920" y="1865376"/>
            <a:ext cx="6720840" cy="438912"/>
          </a:xfrm>
          <a:prstGeom prst="rect">
            <a:avLst/>
          </a:prstGeom>
          <a:solidFill>
            <a:srgbClr val="E8F0F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0" y="1865376"/>
            <a:ext cx="6492240" cy="438912"/>
          </a:xfrm>
          <a:prstGeom prst="rect">
            <a:avLst/>
          </a:prstGeom>
          <a:noFill/>
        </p:spPr>
        <p:txBody>
          <a:bodyPr wrap="square" anchor="ctr">
            <a:spAutoFit/>
          </a:bodyPr>
          <a:lstStyle/>
          <a:p>
            <a:pPr algn="l"/>
            <a:r>
              <a:rPr sz="1200" b="0">
                <a:solidFill>
                  <a:srgbClr val="1A1A1A"/>
                </a:solidFill>
                <a:latin typeface="微软雅黑"/>
                <a:ea typeface="微软雅黑"/>
              </a:rPr>
              <a:t>夜间因呼吸困难无法平卧，端坐呼吸</a:t>
            </a:r>
          </a:p>
        </p:txBody>
      </p:sp>
      <p:sp>
        <p:nvSpPr>
          <p:cNvPr id="37" name="Rectangle 36"/>
          <p:cNvSpPr/>
          <p:nvPr/>
        </p:nvSpPr>
        <p:spPr>
          <a:xfrm>
            <a:off x="2697480" y="2340864"/>
            <a:ext cx="2377440" cy="438912"/>
          </a:xfrm>
          <a:prstGeom prst="rect">
            <a:avLst/>
          </a:prstGeom>
          <a:solidFill>
            <a:srgbClr val="2E5B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97480" y="2340864"/>
            <a:ext cx="2377440" cy="438912"/>
          </a:xfrm>
          <a:prstGeom prst="rect">
            <a:avLst/>
          </a:prstGeom>
          <a:noFill/>
        </p:spPr>
        <p:txBody>
          <a:bodyPr wrap="square" anchor="ctr">
            <a:spAutoFit/>
          </a:bodyPr>
          <a:lstStyle/>
          <a:p>
            <a:pPr algn="ctr"/>
            <a:r>
              <a:rPr sz="1200" b="1">
                <a:solidFill>
                  <a:srgbClr val="FFFFFF"/>
                </a:solidFill>
                <a:latin typeface="微软雅黑"/>
                <a:ea typeface="微软雅黑"/>
              </a:rPr>
              <a:t>饮食食欲</a:t>
            </a:r>
          </a:p>
        </p:txBody>
      </p:sp>
      <p:sp>
        <p:nvSpPr>
          <p:cNvPr id="39" name="Rectangle 38"/>
          <p:cNvSpPr/>
          <p:nvPr/>
        </p:nvSpPr>
        <p:spPr>
          <a:xfrm>
            <a:off x="5074920" y="2340864"/>
            <a:ext cx="6720840" cy="438912"/>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12080" y="2340864"/>
            <a:ext cx="6492240" cy="438912"/>
          </a:xfrm>
          <a:prstGeom prst="rect">
            <a:avLst/>
          </a:prstGeom>
          <a:noFill/>
        </p:spPr>
        <p:txBody>
          <a:bodyPr wrap="square" anchor="ctr">
            <a:spAutoFit/>
          </a:bodyPr>
          <a:lstStyle/>
          <a:p>
            <a:pPr algn="l"/>
            <a:r>
              <a:rPr sz="1200" b="0">
                <a:solidFill>
                  <a:srgbClr val="1A1A1A"/>
                </a:solidFill>
                <a:latin typeface="微软雅黑"/>
                <a:ea typeface="微软雅黑"/>
              </a:rPr>
              <a:t>食欲一般，进食量减少50%，气促影响进食</a:t>
            </a:r>
          </a:p>
        </p:txBody>
      </p:sp>
      <p:sp>
        <p:nvSpPr>
          <p:cNvPr id="41" name="Rectangle 40"/>
          <p:cNvSpPr/>
          <p:nvPr/>
        </p:nvSpPr>
        <p:spPr>
          <a:xfrm>
            <a:off x="2697480" y="2816352"/>
            <a:ext cx="2377440" cy="43891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97480" y="2816352"/>
            <a:ext cx="2377440" cy="438912"/>
          </a:xfrm>
          <a:prstGeom prst="rect">
            <a:avLst/>
          </a:prstGeom>
          <a:noFill/>
        </p:spPr>
        <p:txBody>
          <a:bodyPr wrap="square" anchor="ctr">
            <a:spAutoFit/>
          </a:bodyPr>
          <a:lstStyle/>
          <a:p>
            <a:pPr algn="ctr"/>
            <a:r>
              <a:rPr sz="1200" b="1">
                <a:solidFill>
                  <a:srgbClr val="FFFFFF"/>
                </a:solidFill>
                <a:latin typeface="微软雅黑"/>
                <a:ea typeface="微软雅黑"/>
              </a:rPr>
              <a:t>营养状况</a:t>
            </a:r>
          </a:p>
        </p:txBody>
      </p:sp>
      <p:sp>
        <p:nvSpPr>
          <p:cNvPr id="43" name="Rectangle 42"/>
          <p:cNvSpPr/>
          <p:nvPr/>
        </p:nvSpPr>
        <p:spPr>
          <a:xfrm>
            <a:off x="5074920" y="2816352"/>
            <a:ext cx="6720840" cy="438912"/>
          </a:xfrm>
          <a:prstGeom prst="rect">
            <a:avLst/>
          </a:prstGeom>
          <a:solidFill>
            <a:srgbClr val="E8F0F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12080" y="2816352"/>
            <a:ext cx="6492240" cy="438912"/>
          </a:xfrm>
          <a:prstGeom prst="rect">
            <a:avLst/>
          </a:prstGeom>
          <a:noFill/>
        </p:spPr>
        <p:txBody>
          <a:bodyPr wrap="square" anchor="ctr">
            <a:spAutoFit/>
          </a:bodyPr>
          <a:lstStyle/>
          <a:p>
            <a:pPr algn="l"/>
            <a:r>
              <a:rPr sz="1200" b="0">
                <a:solidFill>
                  <a:srgbClr val="1A1A1A"/>
                </a:solidFill>
                <a:latin typeface="微软雅黑"/>
                <a:ea typeface="微软雅黑"/>
              </a:rPr>
              <a:t>消瘦，BMI 17.2，白蛋白 32 g/L ↓</a:t>
            </a:r>
          </a:p>
        </p:txBody>
      </p:sp>
      <p:sp>
        <p:nvSpPr>
          <p:cNvPr id="45" name="Rectangle 44"/>
          <p:cNvSpPr/>
          <p:nvPr/>
        </p:nvSpPr>
        <p:spPr>
          <a:xfrm>
            <a:off x="2697480" y="3291840"/>
            <a:ext cx="2377440" cy="438912"/>
          </a:xfrm>
          <a:prstGeom prst="rect">
            <a:avLst/>
          </a:prstGeom>
          <a:solidFill>
            <a:srgbClr val="2E5B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97480" y="3291840"/>
            <a:ext cx="2377440" cy="438912"/>
          </a:xfrm>
          <a:prstGeom prst="rect">
            <a:avLst/>
          </a:prstGeom>
          <a:noFill/>
        </p:spPr>
        <p:txBody>
          <a:bodyPr wrap="square" anchor="ctr">
            <a:spAutoFit/>
          </a:bodyPr>
          <a:lstStyle/>
          <a:p>
            <a:pPr algn="ctr"/>
            <a:r>
              <a:rPr sz="1200" b="1">
                <a:solidFill>
                  <a:srgbClr val="FFFFFF"/>
                </a:solidFill>
                <a:latin typeface="微软雅黑"/>
                <a:ea typeface="微软雅黑"/>
              </a:rPr>
              <a:t>大小便</a:t>
            </a:r>
          </a:p>
        </p:txBody>
      </p:sp>
      <p:sp>
        <p:nvSpPr>
          <p:cNvPr id="47" name="Rectangle 46"/>
          <p:cNvSpPr/>
          <p:nvPr/>
        </p:nvSpPr>
        <p:spPr>
          <a:xfrm>
            <a:off x="5074920" y="3291840"/>
            <a:ext cx="6720840" cy="438912"/>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12080" y="3291840"/>
            <a:ext cx="6492240" cy="438912"/>
          </a:xfrm>
          <a:prstGeom prst="rect">
            <a:avLst/>
          </a:prstGeom>
          <a:noFill/>
        </p:spPr>
        <p:txBody>
          <a:bodyPr wrap="square" anchor="ctr">
            <a:spAutoFit/>
          </a:bodyPr>
          <a:lstStyle/>
          <a:p>
            <a:pPr algn="l"/>
            <a:r>
              <a:rPr sz="1200" b="0">
                <a:solidFill>
                  <a:srgbClr val="1A1A1A"/>
                </a:solidFill>
                <a:latin typeface="微软雅黑"/>
                <a:ea typeface="微软雅黑"/>
              </a:rPr>
              <a:t>尿量800 ml/24h（少尿），轻微便秘</a:t>
            </a:r>
          </a:p>
        </p:txBody>
      </p:sp>
      <p:sp>
        <p:nvSpPr>
          <p:cNvPr id="49" name="Rectangle 48"/>
          <p:cNvSpPr/>
          <p:nvPr/>
        </p:nvSpPr>
        <p:spPr>
          <a:xfrm>
            <a:off x="2697480" y="3767328"/>
            <a:ext cx="2377440" cy="43891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97480" y="3767328"/>
            <a:ext cx="2377440" cy="438912"/>
          </a:xfrm>
          <a:prstGeom prst="rect">
            <a:avLst/>
          </a:prstGeom>
          <a:noFill/>
        </p:spPr>
        <p:txBody>
          <a:bodyPr wrap="square" anchor="ctr">
            <a:spAutoFit/>
          </a:bodyPr>
          <a:lstStyle/>
          <a:p>
            <a:pPr algn="ctr"/>
            <a:r>
              <a:rPr sz="1200" b="1">
                <a:solidFill>
                  <a:srgbClr val="FFFFFF"/>
                </a:solidFill>
                <a:latin typeface="微软雅黑"/>
                <a:ea typeface="微软雅黑"/>
              </a:rPr>
              <a:t>皮肤/口腔舌苔</a:t>
            </a:r>
          </a:p>
        </p:txBody>
      </p:sp>
      <p:sp>
        <p:nvSpPr>
          <p:cNvPr id="51" name="Rectangle 50"/>
          <p:cNvSpPr/>
          <p:nvPr/>
        </p:nvSpPr>
        <p:spPr>
          <a:xfrm>
            <a:off x="5074920" y="3767328"/>
            <a:ext cx="6720840" cy="438912"/>
          </a:xfrm>
          <a:prstGeom prst="rect">
            <a:avLst/>
          </a:prstGeom>
          <a:solidFill>
            <a:srgbClr val="E8F0F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12080" y="3767328"/>
            <a:ext cx="6492240" cy="438912"/>
          </a:xfrm>
          <a:prstGeom prst="rect">
            <a:avLst/>
          </a:prstGeom>
          <a:noFill/>
        </p:spPr>
        <p:txBody>
          <a:bodyPr wrap="square" anchor="ctr">
            <a:spAutoFit/>
          </a:bodyPr>
          <a:lstStyle/>
          <a:p>
            <a:pPr algn="l"/>
            <a:r>
              <a:rPr sz="1200" b="0">
                <a:solidFill>
                  <a:srgbClr val="1A1A1A"/>
                </a:solidFill>
                <a:latin typeface="微软雅黑"/>
                <a:ea typeface="微软雅黑"/>
              </a:rPr>
              <a:t>口唇发绀，下肢皮肤张力高（水肿）</a:t>
            </a:r>
          </a:p>
        </p:txBody>
      </p:sp>
      <p:sp>
        <p:nvSpPr>
          <p:cNvPr id="53" name="Rectangle 52"/>
          <p:cNvSpPr/>
          <p:nvPr/>
        </p:nvSpPr>
        <p:spPr>
          <a:xfrm>
            <a:off x="2697480" y="4242816"/>
            <a:ext cx="2377440" cy="438912"/>
          </a:xfrm>
          <a:prstGeom prst="rect">
            <a:avLst/>
          </a:prstGeom>
          <a:solidFill>
            <a:srgbClr val="2E5B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697480" y="4242816"/>
            <a:ext cx="2377440" cy="438912"/>
          </a:xfrm>
          <a:prstGeom prst="rect">
            <a:avLst/>
          </a:prstGeom>
          <a:noFill/>
        </p:spPr>
        <p:txBody>
          <a:bodyPr wrap="square" anchor="ctr">
            <a:spAutoFit/>
          </a:bodyPr>
          <a:lstStyle/>
          <a:p>
            <a:pPr algn="ctr"/>
            <a:r>
              <a:rPr sz="1200" b="1">
                <a:solidFill>
                  <a:srgbClr val="FFFFFF"/>
                </a:solidFill>
                <a:latin typeface="微软雅黑"/>
                <a:ea typeface="微软雅黑"/>
              </a:rPr>
              <a:t>肌力/活动度</a:t>
            </a:r>
          </a:p>
        </p:txBody>
      </p:sp>
      <p:sp>
        <p:nvSpPr>
          <p:cNvPr id="55" name="Rectangle 54"/>
          <p:cNvSpPr/>
          <p:nvPr/>
        </p:nvSpPr>
        <p:spPr>
          <a:xfrm>
            <a:off x="5074920" y="4242816"/>
            <a:ext cx="6720840" cy="438912"/>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212080" y="4242816"/>
            <a:ext cx="6492240" cy="438912"/>
          </a:xfrm>
          <a:prstGeom prst="rect">
            <a:avLst/>
          </a:prstGeom>
          <a:noFill/>
        </p:spPr>
        <p:txBody>
          <a:bodyPr wrap="square" anchor="ctr">
            <a:spAutoFit/>
          </a:bodyPr>
          <a:lstStyle/>
          <a:p>
            <a:pPr algn="l"/>
            <a:r>
              <a:rPr sz="1200" b="0">
                <a:solidFill>
                  <a:srgbClr val="1A1A1A"/>
                </a:solidFill>
                <a:latin typeface="微软雅黑"/>
                <a:ea typeface="微软雅黑"/>
              </a:rPr>
              <a:t>肌力4级，床边活动气促加重</a:t>
            </a:r>
          </a:p>
        </p:txBody>
      </p:sp>
      <p:sp>
        <p:nvSpPr>
          <p:cNvPr id="57" name="Rectangle 56"/>
          <p:cNvSpPr/>
          <p:nvPr/>
        </p:nvSpPr>
        <p:spPr>
          <a:xfrm>
            <a:off x="2697480" y="4718304"/>
            <a:ext cx="2377440" cy="43891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697480" y="4718304"/>
            <a:ext cx="2377440" cy="438912"/>
          </a:xfrm>
          <a:prstGeom prst="rect">
            <a:avLst/>
          </a:prstGeom>
          <a:noFill/>
        </p:spPr>
        <p:txBody>
          <a:bodyPr wrap="square" anchor="ctr">
            <a:spAutoFit/>
          </a:bodyPr>
          <a:lstStyle/>
          <a:p>
            <a:pPr algn="ctr"/>
            <a:r>
              <a:rPr sz="1200" b="1">
                <a:solidFill>
                  <a:srgbClr val="FFFFFF"/>
                </a:solidFill>
                <a:latin typeface="微软雅黑"/>
                <a:ea typeface="微软雅黑"/>
              </a:rPr>
              <a:t>语言行为</a:t>
            </a:r>
          </a:p>
        </p:txBody>
      </p:sp>
      <p:sp>
        <p:nvSpPr>
          <p:cNvPr id="59" name="Rectangle 58"/>
          <p:cNvSpPr/>
          <p:nvPr/>
        </p:nvSpPr>
        <p:spPr>
          <a:xfrm>
            <a:off x="5074920" y="4718304"/>
            <a:ext cx="6720840" cy="438912"/>
          </a:xfrm>
          <a:prstGeom prst="rect">
            <a:avLst/>
          </a:prstGeom>
          <a:solidFill>
            <a:srgbClr val="E8F0F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212080" y="4718304"/>
            <a:ext cx="6492240" cy="438912"/>
          </a:xfrm>
          <a:prstGeom prst="rect">
            <a:avLst/>
          </a:prstGeom>
          <a:noFill/>
        </p:spPr>
        <p:txBody>
          <a:bodyPr wrap="square" anchor="ctr">
            <a:spAutoFit/>
          </a:bodyPr>
          <a:lstStyle/>
          <a:p>
            <a:pPr algn="l"/>
            <a:r>
              <a:rPr sz="1200" b="0">
                <a:solidFill>
                  <a:srgbClr val="1A1A1A"/>
                </a:solidFill>
                <a:latin typeface="微软雅黑"/>
                <a:ea typeface="微软雅黑"/>
              </a:rPr>
              <a:t>言语简短（气促所致），治疗配合度差</a:t>
            </a:r>
          </a:p>
        </p:txBody>
      </p:sp>
      <p:sp>
        <p:nvSpPr>
          <p:cNvPr id="61" name="Rectangle 60"/>
          <p:cNvSpPr/>
          <p:nvPr/>
        </p:nvSpPr>
        <p:spPr>
          <a:xfrm>
            <a:off x="2697480" y="5193792"/>
            <a:ext cx="2377440" cy="438912"/>
          </a:xfrm>
          <a:prstGeom prst="rect">
            <a:avLst/>
          </a:prstGeom>
          <a:solidFill>
            <a:srgbClr val="2E5B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697480" y="5193792"/>
            <a:ext cx="2377440" cy="438912"/>
          </a:xfrm>
          <a:prstGeom prst="rect">
            <a:avLst/>
          </a:prstGeom>
          <a:noFill/>
        </p:spPr>
        <p:txBody>
          <a:bodyPr wrap="square" anchor="ctr">
            <a:spAutoFit/>
          </a:bodyPr>
          <a:lstStyle/>
          <a:p>
            <a:pPr algn="ctr"/>
            <a:r>
              <a:rPr sz="1200" b="1">
                <a:solidFill>
                  <a:srgbClr val="FFFFFF"/>
                </a:solidFill>
                <a:latin typeface="微软雅黑"/>
                <a:ea typeface="微软雅黑"/>
              </a:rPr>
              <a:t>心理情绪</a:t>
            </a:r>
          </a:p>
        </p:txBody>
      </p:sp>
      <p:sp>
        <p:nvSpPr>
          <p:cNvPr id="63" name="Rectangle 62"/>
          <p:cNvSpPr/>
          <p:nvPr/>
        </p:nvSpPr>
        <p:spPr>
          <a:xfrm>
            <a:off x="5074920" y="5193792"/>
            <a:ext cx="6720840" cy="438912"/>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212080" y="5193792"/>
            <a:ext cx="6492240" cy="438912"/>
          </a:xfrm>
          <a:prstGeom prst="rect">
            <a:avLst/>
          </a:prstGeom>
          <a:noFill/>
        </p:spPr>
        <p:txBody>
          <a:bodyPr wrap="square" anchor="ctr">
            <a:spAutoFit/>
          </a:bodyPr>
          <a:lstStyle/>
          <a:p>
            <a:pPr algn="l"/>
            <a:r>
              <a:rPr sz="1200" b="0">
                <a:solidFill>
                  <a:srgbClr val="1A1A1A"/>
                </a:solidFill>
                <a:latin typeface="微软雅黑"/>
                <a:ea typeface="微软雅黑"/>
              </a:rPr>
              <a:t>情绪稳定，对康复有信心，无焦虑/抑郁表现</a:t>
            </a:r>
          </a:p>
        </p:txBody>
      </p:sp>
      <p:sp>
        <p:nvSpPr>
          <p:cNvPr id="65" name="Rectangle 64"/>
          <p:cNvSpPr/>
          <p:nvPr/>
        </p:nvSpPr>
        <p:spPr>
          <a:xfrm>
            <a:off x="2697480" y="5669280"/>
            <a:ext cx="2377440" cy="438912"/>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697480" y="5669280"/>
            <a:ext cx="2377440" cy="438912"/>
          </a:xfrm>
          <a:prstGeom prst="rect">
            <a:avLst/>
          </a:prstGeom>
          <a:noFill/>
        </p:spPr>
        <p:txBody>
          <a:bodyPr wrap="square" anchor="ctr">
            <a:spAutoFit/>
          </a:bodyPr>
          <a:lstStyle/>
          <a:p>
            <a:pPr algn="ctr"/>
            <a:r>
              <a:rPr sz="1200" b="1">
                <a:solidFill>
                  <a:srgbClr val="FFFFFF"/>
                </a:solidFill>
                <a:latin typeface="微软雅黑"/>
                <a:ea typeface="微软雅黑"/>
              </a:rPr>
              <a:t>社会关系与支持</a:t>
            </a:r>
          </a:p>
        </p:txBody>
      </p:sp>
      <p:sp>
        <p:nvSpPr>
          <p:cNvPr id="67" name="Rectangle 66"/>
          <p:cNvSpPr/>
          <p:nvPr/>
        </p:nvSpPr>
        <p:spPr>
          <a:xfrm>
            <a:off x="5074920" y="5669280"/>
            <a:ext cx="6720840" cy="438912"/>
          </a:xfrm>
          <a:prstGeom prst="rect">
            <a:avLst/>
          </a:prstGeom>
          <a:solidFill>
            <a:srgbClr val="E8F0F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212080" y="5669280"/>
            <a:ext cx="6492240" cy="438912"/>
          </a:xfrm>
          <a:prstGeom prst="rect">
            <a:avLst/>
          </a:prstGeom>
          <a:noFill/>
        </p:spPr>
        <p:txBody>
          <a:bodyPr wrap="square" anchor="ctr">
            <a:spAutoFit/>
          </a:bodyPr>
          <a:lstStyle/>
          <a:p>
            <a:pPr algn="l"/>
            <a:r>
              <a:rPr sz="1200" b="0">
                <a:solidFill>
                  <a:srgbClr val="1A1A1A"/>
                </a:solidFill>
                <a:latin typeface="微软雅黑"/>
                <a:ea typeface="微软雅黑"/>
              </a:rPr>
              <a:t>配偶陪护，子女外地工作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高级健康评估</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274320" y="914400"/>
            <a:ext cx="2194560" cy="5303520"/>
          </a:xfrm>
          <a:prstGeom prst="roundRect">
            <a:avLst/>
          </a:prstGeom>
          <a:solidFill>
            <a:srgbClr val="F5F8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051560"/>
            <a:ext cx="2011680" cy="365760"/>
          </a:xfrm>
          <a:prstGeom prst="rect">
            <a:avLst/>
          </a:prstGeom>
          <a:noFill/>
        </p:spPr>
        <p:txBody>
          <a:bodyPr wrap="square" anchor="t">
            <a:spAutoFit/>
          </a:bodyPr>
          <a:lstStyle/>
          <a:p>
            <a:pPr algn="ctr"/>
            <a:r>
              <a:rPr sz="1400" b="1">
                <a:solidFill>
                  <a:srgbClr val="1E3A8A"/>
                </a:solidFill>
                <a:latin typeface="微软雅黑"/>
                <a:ea typeface="微软雅黑"/>
              </a:rPr>
              <a:t>评估维度</a:t>
            </a:r>
          </a:p>
        </p:txBody>
      </p:sp>
      <p:sp>
        <p:nvSpPr>
          <p:cNvPr id="15" name="Rounded Rectangle 14"/>
          <p:cNvSpPr/>
          <p:nvPr/>
        </p:nvSpPr>
        <p:spPr>
          <a:xfrm>
            <a:off x="411480" y="155448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155448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疾病症状</a:t>
            </a:r>
          </a:p>
        </p:txBody>
      </p:sp>
      <p:sp>
        <p:nvSpPr>
          <p:cNvPr id="17" name="Rounded Rectangle 16"/>
          <p:cNvSpPr/>
          <p:nvPr/>
        </p:nvSpPr>
        <p:spPr>
          <a:xfrm>
            <a:off x="411480" y="233172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33172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整体健康评估</a:t>
            </a:r>
          </a:p>
        </p:txBody>
      </p:sp>
      <p:sp>
        <p:nvSpPr>
          <p:cNvPr id="19" name="Rounded Rectangle 18"/>
          <p:cNvSpPr/>
          <p:nvPr/>
        </p:nvSpPr>
        <p:spPr>
          <a:xfrm>
            <a:off x="411480" y="3108960"/>
            <a:ext cx="1920240" cy="64008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3108960"/>
            <a:ext cx="1920240" cy="640080"/>
          </a:xfrm>
          <a:prstGeom prst="rect">
            <a:avLst/>
          </a:prstGeom>
          <a:noFill/>
        </p:spPr>
        <p:txBody>
          <a:bodyPr wrap="square" anchor="ctr">
            <a:spAutoFit/>
          </a:bodyPr>
          <a:lstStyle/>
          <a:p>
            <a:pPr algn="ctr"/>
            <a:r>
              <a:rPr sz="1200" b="1">
                <a:solidFill>
                  <a:srgbClr val="FFFFFF"/>
                </a:solidFill>
                <a:latin typeface="微软雅黑"/>
                <a:ea typeface="微软雅黑"/>
              </a:rPr>
              <a:t>生理功能</a:t>
            </a:r>
          </a:p>
        </p:txBody>
      </p:sp>
      <p:sp>
        <p:nvSpPr>
          <p:cNvPr id="21" name="Rounded Rectangle 20"/>
          <p:cNvSpPr/>
          <p:nvPr/>
        </p:nvSpPr>
        <p:spPr>
          <a:xfrm>
            <a:off x="411480" y="388620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388620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自理能力ICF评估</a:t>
            </a:r>
          </a:p>
        </p:txBody>
      </p:sp>
      <p:sp>
        <p:nvSpPr>
          <p:cNvPr id="23" name="Rounded Rectangle 22"/>
          <p:cNvSpPr/>
          <p:nvPr/>
        </p:nvSpPr>
        <p:spPr>
          <a:xfrm>
            <a:off x="411480" y="466344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466344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风险与并发症</a:t>
            </a:r>
          </a:p>
        </p:txBody>
      </p:sp>
      <p:sp>
        <p:nvSpPr>
          <p:cNvPr id="25" name="Rounded Rectangle 24"/>
          <p:cNvSpPr/>
          <p:nvPr/>
        </p:nvSpPr>
        <p:spPr>
          <a:xfrm>
            <a:off x="2697480" y="1005840"/>
            <a:ext cx="9098280" cy="59436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834640" y="1097280"/>
            <a:ext cx="237744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34640" y="1097280"/>
            <a:ext cx="2377440" cy="411480"/>
          </a:xfrm>
          <a:prstGeom prst="rect">
            <a:avLst/>
          </a:prstGeom>
          <a:noFill/>
        </p:spPr>
        <p:txBody>
          <a:bodyPr wrap="square" anchor="ctr">
            <a:spAutoFit/>
          </a:bodyPr>
          <a:lstStyle/>
          <a:p>
            <a:pPr algn="ctr"/>
            <a:r>
              <a:rPr sz="1200" b="1">
                <a:solidFill>
                  <a:srgbClr val="FFFFFF"/>
                </a:solidFill>
                <a:latin typeface="微软雅黑"/>
                <a:ea typeface="微软雅黑"/>
              </a:rPr>
              <a:t>神经系统</a:t>
            </a:r>
          </a:p>
        </p:txBody>
      </p:sp>
      <p:sp>
        <p:nvSpPr>
          <p:cNvPr id="28" name="TextBox 27"/>
          <p:cNvSpPr txBox="1"/>
          <p:nvPr/>
        </p:nvSpPr>
        <p:spPr>
          <a:xfrm>
            <a:off x="5394960" y="1097280"/>
            <a:ext cx="6217920" cy="411480"/>
          </a:xfrm>
          <a:prstGeom prst="rect">
            <a:avLst/>
          </a:prstGeom>
          <a:noFill/>
        </p:spPr>
        <p:txBody>
          <a:bodyPr wrap="square" anchor="ctr">
            <a:spAutoFit/>
          </a:bodyPr>
          <a:lstStyle/>
          <a:p>
            <a:pPr algn="l"/>
            <a:r>
              <a:rPr sz="1300" b="0">
                <a:solidFill>
                  <a:srgbClr val="1A1A1A"/>
                </a:solidFill>
                <a:latin typeface="微软雅黑"/>
                <a:ea typeface="微软雅黑"/>
              </a:rPr>
              <a:t>意识清醒，病理征阴性（-）。</a:t>
            </a:r>
          </a:p>
        </p:txBody>
      </p:sp>
      <p:sp>
        <p:nvSpPr>
          <p:cNvPr id="29" name="Rounded Rectangle 28"/>
          <p:cNvSpPr/>
          <p:nvPr/>
        </p:nvSpPr>
        <p:spPr>
          <a:xfrm>
            <a:off x="2697480" y="1691640"/>
            <a:ext cx="9098280" cy="59436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834640" y="1783080"/>
            <a:ext cx="237744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34640" y="1783080"/>
            <a:ext cx="2377440" cy="411480"/>
          </a:xfrm>
          <a:prstGeom prst="rect">
            <a:avLst/>
          </a:prstGeom>
          <a:noFill/>
        </p:spPr>
        <p:txBody>
          <a:bodyPr wrap="square" anchor="ctr">
            <a:spAutoFit/>
          </a:bodyPr>
          <a:lstStyle/>
          <a:p>
            <a:pPr algn="ctr"/>
            <a:r>
              <a:rPr sz="1200" b="1">
                <a:solidFill>
                  <a:srgbClr val="FFFFFF"/>
                </a:solidFill>
                <a:latin typeface="微软雅黑"/>
                <a:ea typeface="微软雅黑"/>
              </a:rPr>
              <a:t>呼吸系统</a:t>
            </a:r>
          </a:p>
        </p:txBody>
      </p:sp>
      <p:sp>
        <p:nvSpPr>
          <p:cNvPr id="32" name="TextBox 31"/>
          <p:cNvSpPr txBox="1"/>
          <p:nvPr/>
        </p:nvSpPr>
        <p:spPr>
          <a:xfrm>
            <a:off x="5394960" y="1783080"/>
            <a:ext cx="6217920" cy="411480"/>
          </a:xfrm>
          <a:prstGeom prst="rect">
            <a:avLst/>
          </a:prstGeom>
          <a:noFill/>
        </p:spPr>
        <p:txBody>
          <a:bodyPr wrap="square" anchor="ctr">
            <a:spAutoFit/>
          </a:bodyPr>
          <a:lstStyle/>
          <a:p>
            <a:pPr algn="l"/>
            <a:r>
              <a:rPr sz="1300" b="0">
                <a:solidFill>
                  <a:srgbClr val="1A1A1A"/>
                </a:solidFill>
                <a:latin typeface="微软雅黑"/>
                <a:ea typeface="微软雅黑"/>
              </a:rPr>
              <a:t>活动后呼吸困难加重，听诊双肺哮鸣音及湿啰音。</a:t>
            </a:r>
          </a:p>
        </p:txBody>
      </p:sp>
      <p:sp>
        <p:nvSpPr>
          <p:cNvPr id="33" name="Rounded Rectangle 32"/>
          <p:cNvSpPr/>
          <p:nvPr/>
        </p:nvSpPr>
        <p:spPr>
          <a:xfrm>
            <a:off x="2697480" y="2377440"/>
            <a:ext cx="9098280" cy="59436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834640" y="2468880"/>
            <a:ext cx="237744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34640" y="2468880"/>
            <a:ext cx="2377440" cy="411480"/>
          </a:xfrm>
          <a:prstGeom prst="rect">
            <a:avLst/>
          </a:prstGeom>
          <a:noFill/>
        </p:spPr>
        <p:txBody>
          <a:bodyPr wrap="square" anchor="ctr">
            <a:spAutoFit/>
          </a:bodyPr>
          <a:lstStyle/>
          <a:p>
            <a:pPr algn="ctr"/>
            <a:r>
              <a:rPr sz="1200" b="1">
                <a:solidFill>
                  <a:srgbClr val="FFFFFF"/>
                </a:solidFill>
                <a:latin typeface="微软雅黑"/>
                <a:ea typeface="微软雅黑"/>
              </a:rPr>
              <a:t>循环系统</a:t>
            </a:r>
          </a:p>
        </p:txBody>
      </p:sp>
      <p:sp>
        <p:nvSpPr>
          <p:cNvPr id="36" name="TextBox 35"/>
          <p:cNvSpPr txBox="1"/>
          <p:nvPr/>
        </p:nvSpPr>
        <p:spPr>
          <a:xfrm>
            <a:off x="5394960" y="2468880"/>
            <a:ext cx="6217920" cy="411480"/>
          </a:xfrm>
          <a:prstGeom prst="rect">
            <a:avLst/>
          </a:prstGeom>
          <a:noFill/>
        </p:spPr>
        <p:txBody>
          <a:bodyPr wrap="square" anchor="ctr">
            <a:spAutoFit/>
          </a:bodyPr>
          <a:lstStyle/>
          <a:p>
            <a:pPr algn="l"/>
            <a:r>
              <a:rPr sz="1300" b="0">
                <a:solidFill>
                  <a:srgbClr val="1A1A1A"/>
                </a:solidFill>
                <a:latin typeface="微软雅黑"/>
                <a:ea typeface="微软雅黑"/>
              </a:rPr>
              <a:t>右心衰竭，颈静脉怒张 + 肝大 + 水肿。</a:t>
            </a:r>
          </a:p>
        </p:txBody>
      </p:sp>
      <p:sp>
        <p:nvSpPr>
          <p:cNvPr id="37" name="Rounded Rectangle 36"/>
          <p:cNvSpPr/>
          <p:nvPr/>
        </p:nvSpPr>
        <p:spPr>
          <a:xfrm>
            <a:off x="2697480" y="3063240"/>
            <a:ext cx="9098280" cy="59436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834640" y="3154680"/>
            <a:ext cx="237744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34640" y="3154680"/>
            <a:ext cx="2377440" cy="411480"/>
          </a:xfrm>
          <a:prstGeom prst="rect">
            <a:avLst/>
          </a:prstGeom>
          <a:noFill/>
        </p:spPr>
        <p:txBody>
          <a:bodyPr wrap="square" anchor="ctr">
            <a:spAutoFit/>
          </a:bodyPr>
          <a:lstStyle/>
          <a:p>
            <a:pPr algn="ctr"/>
            <a:r>
              <a:rPr sz="1200" b="1">
                <a:solidFill>
                  <a:srgbClr val="FFFFFF"/>
                </a:solidFill>
                <a:latin typeface="微软雅黑"/>
                <a:ea typeface="微软雅黑"/>
              </a:rPr>
              <a:t>消化系统</a:t>
            </a:r>
          </a:p>
        </p:txBody>
      </p:sp>
      <p:sp>
        <p:nvSpPr>
          <p:cNvPr id="40" name="TextBox 39"/>
          <p:cNvSpPr txBox="1"/>
          <p:nvPr/>
        </p:nvSpPr>
        <p:spPr>
          <a:xfrm>
            <a:off x="5394960" y="3154680"/>
            <a:ext cx="6217920" cy="411480"/>
          </a:xfrm>
          <a:prstGeom prst="rect">
            <a:avLst/>
          </a:prstGeom>
          <a:noFill/>
        </p:spPr>
        <p:txBody>
          <a:bodyPr wrap="square" anchor="ctr">
            <a:spAutoFit/>
          </a:bodyPr>
          <a:lstStyle/>
          <a:p>
            <a:pPr algn="l"/>
            <a:r>
              <a:rPr sz="1300" b="0">
                <a:solidFill>
                  <a:srgbClr val="1A1A1A"/>
                </a:solidFill>
                <a:latin typeface="微软雅黑"/>
                <a:ea typeface="微软雅黑"/>
              </a:rPr>
              <a:t>肝淤血损伤 ALT 68 U/L，AST 72 U/L。</a:t>
            </a:r>
          </a:p>
        </p:txBody>
      </p:sp>
      <p:sp>
        <p:nvSpPr>
          <p:cNvPr id="41" name="Rounded Rectangle 40"/>
          <p:cNvSpPr/>
          <p:nvPr/>
        </p:nvSpPr>
        <p:spPr>
          <a:xfrm>
            <a:off x="2697480" y="3749040"/>
            <a:ext cx="9098280" cy="59436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834640" y="3840480"/>
            <a:ext cx="237744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834640" y="3840480"/>
            <a:ext cx="2377440" cy="411480"/>
          </a:xfrm>
          <a:prstGeom prst="rect">
            <a:avLst/>
          </a:prstGeom>
          <a:noFill/>
        </p:spPr>
        <p:txBody>
          <a:bodyPr wrap="square" anchor="ctr">
            <a:spAutoFit/>
          </a:bodyPr>
          <a:lstStyle/>
          <a:p>
            <a:pPr algn="ctr"/>
            <a:r>
              <a:rPr sz="1200" b="1">
                <a:solidFill>
                  <a:srgbClr val="FFFFFF"/>
                </a:solidFill>
                <a:latin typeface="微软雅黑"/>
                <a:ea typeface="微软雅黑"/>
              </a:rPr>
              <a:t>泌尿系统</a:t>
            </a:r>
          </a:p>
        </p:txBody>
      </p:sp>
      <p:sp>
        <p:nvSpPr>
          <p:cNvPr id="44" name="TextBox 43"/>
          <p:cNvSpPr txBox="1"/>
          <p:nvPr/>
        </p:nvSpPr>
        <p:spPr>
          <a:xfrm>
            <a:off x="5394960" y="3840480"/>
            <a:ext cx="6217920" cy="411480"/>
          </a:xfrm>
          <a:prstGeom prst="rect">
            <a:avLst/>
          </a:prstGeom>
          <a:noFill/>
        </p:spPr>
        <p:txBody>
          <a:bodyPr wrap="square" anchor="ctr">
            <a:spAutoFit/>
          </a:bodyPr>
          <a:lstStyle/>
          <a:p>
            <a:pPr algn="l"/>
            <a:r>
              <a:rPr sz="1300" b="0">
                <a:solidFill>
                  <a:srgbClr val="1A1A1A"/>
                </a:solidFill>
                <a:latin typeface="微软雅黑"/>
                <a:ea typeface="微软雅黑"/>
              </a:rPr>
              <a:t>尿量减少 800 ml/24h。</a:t>
            </a:r>
          </a:p>
        </p:txBody>
      </p:sp>
      <p:sp>
        <p:nvSpPr>
          <p:cNvPr id="45" name="Rounded Rectangle 44"/>
          <p:cNvSpPr/>
          <p:nvPr/>
        </p:nvSpPr>
        <p:spPr>
          <a:xfrm>
            <a:off x="2697480" y="4434840"/>
            <a:ext cx="9098280" cy="59436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2834640" y="4526280"/>
            <a:ext cx="237744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834640" y="4526280"/>
            <a:ext cx="2377440" cy="411480"/>
          </a:xfrm>
          <a:prstGeom prst="rect">
            <a:avLst/>
          </a:prstGeom>
          <a:noFill/>
        </p:spPr>
        <p:txBody>
          <a:bodyPr wrap="square" anchor="ctr">
            <a:spAutoFit/>
          </a:bodyPr>
          <a:lstStyle/>
          <a:p>
            <a:pPr algn="ctr"/>
            <a:r>
              <a:rPr sz="1200" b="1">
                <a:solidFill>
                  <a:srgbClr val="FFFFFF"/>
                </a:solidFill>
                <a:latin typeface="微软雅黑"/>
                <a:ea typeface="微软雅黑"/>
              </a:rPr>
              <a:t>血液系统</a:t>
            </a:r>
          </a:p>
        </p:txBody>
      </p:sp>
      <p:sp>
        <p:nvSpPr>
          <p:cNvPr id="48" name="TextBox 47"/>
          <p:cNvSpPr txBox="1"/>
          <p:nvPr/>
        </p:nvSpPr>
        <p:spPr>
          <a:xfrm>
            <a:off x="5394960" y="4526280"/>
            <a:ext cx="6217920" cy="411480"/>
          </a:xfrm>
          <a:prstGeom prst="rect">
            <a:avLst/>
          </a:prstGeom>
          <a:noFill/>
        </p:spPr>
        <p:txBody>
          <a:bodyPr wrap="square" anchor="ctr">
            <a:spAutoFit/>
          </a:bodyPr>
          <a:lstStyle/>
          <a:p>
            <a:pPr algn="l"/>
            <a:r>
              <a:rPr sz="1300" b="0">
                <a:solidFill>
                  <a:srgbClr val="1A1A1A"/>
                </a:solidFill>
                <a:latin typeface="微软雅黑"/>
                <a:ea typeface="微软雅黑"/>
              </a:rPr>
              <a:t>白细胞升高，WBC 12.5×10⁹/L。</a:t>
            </a:r>
          </a:p>
        </p:txBody>
      </p:sp>
      <p:sp>
        <p:nvSpPr>
          <p:cNvPr id="49" name="Rounded Rectangle 48"/>
          <p:cNvSpPr/>
          <p:nvPr/>
        </p:nvSpPr>
        <p:spPr>
          <a:xfrm>
            <a:off x="2697480" y="5120640"/>
            <a:ext cx="9098280" cy="59436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2834640" y="5212080"/>
            <a:ext cx="237744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34640" y="5212080"/>
            <a:ext cx="2377440" cy="411480"/>
          </a:xfrm>
          <a:prstGeom prst="rect">
            <a:avLst/>
          </a:prstGeom>
          <a:noFill/>
        </p:spPr>
        <p:txBody>
          <a:bodyPr wrap="square" anchor="ctr">
            <a:spAutoFit/>
          </a:bodyPr>
          <a:lstStyle/>
          <a:p>
            <a:pPr algn="ctr"/>
            <a:r>
              <a:rPr sz="1200" b="1">
                <a:solidFill>
                  <a:srgbClr val="FFFFFF"/>
                </a:solidFill>
                <a:latin typeface="微软雅黑"/>
                <a:ea typeface="微软雅黑"/>
              </a:rPr>
              <a:t>电解质/酸碱平衡</a:t>
            </a:r>
          </a:p>
        </p:txBody>
      </p:sp>
      <p:sp>
        <p:nvSpPr>
          <p:cNvPr id="52" name="TextBox 51"/>
          <p:cNvSpPr txBox="1"/>
          <p:nvPr/>
        </p:nvSpPr>
        <p:spPr>
          <a:xfrm>
            <a:off x="5394960" y="5212080"/>
            <a:ext cx="6217920" cy="411480"/>
          </a:xfrm>
          <a:prstGeom prst="rect">
            <a:avLst/>
          </a:prstGeom>
          <a:noFill/>
        </p:spPr>
        <p:txBody>
          <a:bodyPr wrap="square" anchor="ctr">
            <a:spAutoFit/>
          </a:bodyPr>
          <a:lstStyle/>
          <a:p>
            <a:pPr algn="l"/>
            <a:r>
              <a:rPr sz="1300" b="0">
                <a:solidFill>
                  <a:srgbClr val="1A1A1A"/>
                </a:solidFill>
                <a:latin typeface="微软雅黑"/>
                <a:ea typeface="微软雅黑"/>
              </a:rPr>
              <a:t>失代偿性呼吸性酸中毒（pH 7.32），血钾 4.0 mmol/L。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高级健康评估</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274320" y="914400"/>
            <a:ext cx="2194560" cy="5303520"/>
          </a:xfrm>
          <a:prstGeom prst="roundRect">
            <a:avLst/>
          </a:prstGeom>
          <a:solidFill>
            <a:srgbClr val="F5F8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051560"/>
            <a:ext cx="2011680" cy="365760"/>
          </a:xfrm>
          <a:prstGeom prst="rect">
            <a:avLst/>
          </a:prstGeom>
          <a:noFill/>
        </p:spPr>
        <p:txBody>
          <a:bodyPr wrap="square" anchor="t">
            <a:spAutoFit/>
          </a:bodyPr>
          <a:lstStyle/>
          <a:p>
            <a:pPr algn="ctr"/>
            <a:r>
              <a:rPr sz="1400" b="1">
                <a:solidFill>
                  <a:srgbClr val="1E3A8A"/>
                </a:solidFill>
                <a:latin typeface="微软雅黑"/>
                <a:ea typeface="微软雅黑"/>
              </a:rPr>
              <a:t>评估维度</a:t>
            </a:r>
          </a:p>
        </p:txBody>
      </p:sp>
      <p:sp>
        <p:nvSpPr>
          <p:cNvPr id="15" name="Rounded Rectangle 14"/>
          <p:cNvSpPr/>
          <p:nvPr/>
        </p:nvSpPr>
        <p:spPr>
          <a:xfrm>
            <a:off x="411480" y="155448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155448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疾病症状</a:t>
            </a:r>
          </a:p>
        </p:txBody>
      </p:sp>
      <p:sp>
        <p:nvSpPr>
          <p:cNvPr id="17" name="Rounded Rectangle 16"/>
          <p:cNvSpPr/>
          <p:nvPr/>
        </p:nvSpPr>
        <p:spPr>
          <a:xfrm>
            <a:off x="411480" y="233172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33172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整体健康评估</a:t>
            </a:r>
          </a:p>
        </p:txBody>
      </p:sp>
      <p:sp>
        <p:nvSpPr>
          <p:cNvPr id="19" name="Rounded Rectangle 18"/>
          <p:cNvSpPr/>
          <p:nvPr/>
        </p:nvSpPr>
        <p:spPr>
          <a:xfrm>
            <a:off x="411480" y="310896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310896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生理功能</a:t>
            </a:r>
          </a:p>
        </p:txBody>
      </p:sp>
      <p:sp>
        <p:nvSpPr>
          <p:cNvPr id="21" name="Rounded Rectangle 20"/>
          <p:cNvSpPr/>
          <p:nvPr/>
        </p:nvSpPr>
        <p:spPr>
          <a:xfrm>
            <a:off x="411480" y="3886200"/>
            <a:ext cx="1920240" cy="64008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3886200"/>
            <a:ext cx="1920240" cy="640080"/>
          </a:xfrm>
          <a:prstGeom prst="rect">
            <a:avLst/>
          </a:prstGeom>
          <a:noFill/>
        </p:spPr>
        <p:txBody>
          <a:bodyPr wrap="square" anchor="ctr">
            <a:spAutoFit/>
          </a:bodyPr>
          <a:lstStyle/>
          <a:p>
            <a:pPr algn="ctr"/>
            <a:r>
              <a:rPr sz="1200" b="1">
                <a:solidFill>
                  <a:srgbClr val="FFFFFF"/>
                </a:solidFill>
                <a:latin typeface="微软雅黑"/>
                <a:ea typeface="微软雅黑"/>
              </a:rPr>
              <a:t>自理能力ICF评估</a:t>
            </a:r>
          </a:p>
        </p:txBody>
      </p:sp>
      <p:sp>
        <p:nvSpPr>
          <p:cNvPr id="23" name="Rounded Rectangle 22"/>
          <p:cNvSpPr/>
          <p:nvPr/>
        </p:nvSpPr>
        <p:spPr>
          <a:xfrm>
            <a:off x="411480" y="466344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466344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风险与并发症</a:t>
            </a:r>
          </a:p>
        </p:txBody>
      </p:sp>
      <p:sp>
        <p:nvSpPr>
          <p:cNvPr id="25" name="Rounded Rectangle 24"/>
          <p:cNvSpPr/>
          <p:nvPr/>
        </p:nvSpPr>
        <p:spPr>
          <a:xfrm>
            <a:off x="2697480" y="1005840"/>
            <a:ext cx="4434840" cy="1143000"/>
          </a:xfrm>
          <a:prstGeom prst="roundRect">
            <a:avLst/>
          </a:prstGeom>
          <a:solidFill>
            <a:srgbClr val="FFFFFF"/>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80360" y="1143000"/>
            <a:ext cx="4069080" cy="320040"/>
          </a:xfrm>
          <a:prstGeom prst="rect">
            <a:avLst/>
          </a:prstGeom>
          <a:noFill/>
        </p:spPr>
        <p:txBody>
          <a:bodyPr wrap="square" anchor="t">
            <a:spAutoFit/>
          </a:bodyPr>
          <a:lstStyle/>
          <a:p>
            <a:pPr algn="l"/>
            <a:r>
              <a:rPr sz="1400" b="1">
                <a:solidFill>
                  <a:srgbClr val="1E3A8A"/>
                </a:solidFill>
                <a:latin typeface="微软雅黑"/>
                <a:ea typeface="微软雅黑"/>
              </a:rPr>
              <a:t>认知功能</a:t>
            </a:r>
          </a:p>
        </p:txBody>
      </p:sp>
      <p:sp>
        <p:nvSpPr>
          <p:cNvPr id="27" name="TextBox 26"/>
          <p:cNvSpPr txBox="1"/>
          <p:nvPr/>
        </p:nvSpPr>
        <p:spPr>
          <a:xfrm>
            <a:off x="2880360" y="1508760"/>
            <a:ext cx="4069080" cy="502920"/>
          </a:xfrm>
          <a:prstGeom prst="rect">
            <a:avLst/>
          </a:prstGeom>
          <a:noFill/>
        </p:spPr>
        <p:txBody>
          <a:bodyPr wrap="square" anchor="t">
            <a:spAutoFit/>
          </a:bodyPr>
          <a:lstStyle/>
          <a:p>
            <a:pPr algn="l"/>
            <a:r>
              <a:rPr sz="1300" b="0">
                <a:solidFill>
                  <a:srgbClr val="1A1A1A"/>
                </a:solidFill>
                <a:latin typeface="微软雅黑"/>
                <a:ea typeface="微软雅黑"/>
              </a:rPr>
              <a:t>MMSE评分28分，认知功能正常。</a:t>
            </a:r>
          </a:p>
        </p:txBody>
      </p:sp>
      <p:sp>
        <p:nvSpPr>
          <p:cNvPr id="28" name="Rounded Rectangle 27"/>
          <p:cNvSpPr/>
          <p:nvPr/>
        </p:nvSpPr>
        <p:spPr>
          <a:xfrm>
            <a:off x="7315200" y="1005840"/>
            <a:ext cx="4434840" cy="1143000"/>
          </a:xfrm>
          <a:prstGeom prst="roundRect">
            <a:avLst/>
          </a:prstGeom>
          <a:solidFill>
            <a:srgbClr val="FFFFFF"/>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0" y="1143000"/>
            <a:ext cx="4069080" cy="320040"/>
          </a:xfrm>
          <a:prstGeom prst="rect">
            <a:avLst/>
          </a:prstGeom>
          <a:noFill/>
        </p:spPr>
        <p:txBody>
          <a:bodyPr wrap="square" anchor="t">
            <a:spAutoFit/>
          </a:bodyPr>
          <a:lstStyle/>
          <a:p>
            <a:pPr algn="l"/>
            <a:r>
              <a:rPr sz="1400" b="1">
                <a:solidFill>
                  <a:srgbClr val="1E3A8A"/>
                </a:solidFill>
                <a:latin typeface="微软雅黑"/>
                <a:ea typeface="微软雅黑"/>
              </a:rPr>
              <a:t>吞咽功能</a:t>
            </a:r>
          </a:p>
        </p:txBody>
      </p:sp>
      <p:sp>
        <p:nvSpPr>
          <p:cNvPr id="30" name="TextBox 29"/>
          <p:cNvSpPr txBox="1"/>
          <p:nvPr/>
        </p:nvSpPr>
        <p:spPr>
          <a:xfrm>
            <a:off x="7498080" y="1508760"/>
            <a:ext cx="4069080" cy="502920"/>
          </a:xfrm>
          <a:prstGeom prst="rect">
            <a:avLst/>
          </a:prstGeom>
          <a:noFill/>
        </p:spPr>
        <p:txBody>
          <a:bodyPr wrap="square" anchor="t">
            <a:spAutoFit/>
          </a:bodyPr>
          <a:lstStyle/>
          <a:p>
            <a:pPr algn="l"/>
            <a:r>
              <a:rPr sz="1300" b="0">
                <a:solidFill>
                  <a:srgbClr val="1A1A1A"/>
                </a:solidFill>
                <a:latin typeface="微软雅黑"/>
                <a:ea typeface="微软雅黑"/>
              </a:rPr>
              <a:t>饮水试验1级，安全吞咽正常。</a:t>
            </a:r>
          </a:p>
        </p:txBody>
      </p:sp>
      <p:sp>
        <p:nvSpPr>
          <p:cNvPr id="31" name="Rounded Rectangle 30"/>
          <p:cNvSpPr/>
          <p:nvPr/>
        </p:nvSpPr>
        <p:spPr>
          <a:xfrm>
            <a:off x="2697480" y="2286000"/>
            <a:ext cx="4434840" cy="1143000"/>
          </a:xfrm>
          <a:prstGeom prst="roundRect">
            <a:avLst/>
          </a:prstGeom>
          <a:solidFill>
            <a:srgbClr val="FFFFFF"/>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80360" y="2423160"/>
            <a:ext cx="4069080" cy="320040"/>
          </a:xfrm>
          <a:prstGeom prst="rect">
            <a:avLst/>
          </a:prstGeom>
          <a:noFill/>
        </p:spPr>
        <p:txBody>
          <a:bodyPr wrap="square" anchor="t">
            <a:spAutoFit/>
          </a:bodyPr>
          <a:lstStyle/>
          <a:p>
            <a:pPr algn="l"/>
            <a:r>
              <a:rPr sz="1400" b="1">
                <a:solidFill>
                  <a:srgbClr val="1E3A8A"/>
                </a:solidFill>
                <a:latin typeface="微软雅黑"/>
                <a:ea typeface="微软雅黑"/>
              </a:rPr>
              <a:t>躯体活动与移动</a:t>
            </a:r>
          </a:p>
        </p:txBody>
      </p:sp>
      <p:sp>
        <p:nvSpPr>
          <p:cNvPr id="33" name="TextBox 32"/>
          <p:cNvSpPr txBox="1"/>
          <p:nvPr/>
        </p:nvSpPr>
        <p:spPr>
          <a:xfrm>
            <a:off x="2880360" y="2788920"/>
            <a:ext cx="4069080" cy="502920"/>
          </a:xfrm>
          <a:prstGeom prst="rect">
            <a:avLst/>
          </a:prstGeom>
          <a:noFill/>
        </p:spPr>
        <p:txBody>
          <a:bodyPr wrap="square" anchor="t">
            <a:spAutoFit/>
          </a:bodyPr>
          <a:lstStyle/>
          <a:p>
            <a:pPr algn="l"/>
            <a:r>
              <a:rPr sz="1300" b="0">
                <a:solidFill>
                  <a:srgbClr val="1A1A1A"/>
                </a:solidFill>
                <a:latin typeface="微软雅黑"/>
                <a:ea typeface="微软雅黑"/>
              </a:rPr>
              <a:t>Barthel指数45分，重度依赖。</a:t>
            </a:r>
          </a:p>
        </p:txBody>
      </p:sp>
      <p:sp>
        <p:nvSpPr>
          <p:cNvPr id="34" name="Rounded Rectangle 33"/>
          <p:cNvSpPr/>
          <p:nvPr/>
        </p:nvSpPr>
        <p:spPr>
          <a:xfrm>
            <a:off x="7315200" y="2286000"/>
            <a:ext cx="4434840" cy="1143000"/>
          </a:xfrm>
          <a:prstGeom prst="roundRect">
            <a:avLst/>
          </a:prstGeom>
          <a:solidFill>
            <a:srgbClr val="FFFFFF"/>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0" y="2423160"/>
            <a:ext cx="4069080" cy="320040"/>
          </a:xfrm>
          <a:prstGeom prst="rect">
            <a:avLst/>
          </a:prstGeom>
          <a:noFill/>
        </p:spPr>
        <p:txBody>
          <a:bodyPr wrap="square" anchor="t">
            <a:spAutoFit/>
          </a:bodyPr>
          <a:lstStyle/>
          <a:p>
            <a:pPr algn="l"/>
            <a:r>
              <a:rPr sz="1400" b="1">
                <a:solidFill>
                  <a:srgbClr val="1E3A8A"/>
                </a:solidFill>
                <a:latin typeface="微软雅黑"/>
                <a:ea typeface="微软雅黑"/>
              </a:rPr>
              <a:t>自理能力</a:t>
            </a:r>
          </a:p>
        </p:txBody>
      </p:sp>
      <p:sp>
        <p:nvSpPr>
          <p:cNvPr id="36" name="TextBox 35"/>
          <p:cNvSpPr txBox="1"/>
          <p:nvPr/>
        </p:nvSpPr>
        <p:spPr>
          <a:xfrm>
            <a:off x="7498080" y="2788920"/>
            <a:ext cx="4069080" cy="502920"/>
          </a:xfrm>
          <a:prstGeom prst="rect">
            <a:avLst/>
          </a:prstGeom>
          <a:noFill/>
        </p:spPr>
        <p:txBody>
          <a:bodyPr wrap="square" anchor="t">
            <a:spAutoFit/>
          </a:bodyPr>
          <a:lstStyle/>
          <a:p>
            <a:pPr algn="l"/>
            <a:r>
              <a:rPr sz="1300" b="0">
                <a:solidFill>
                  <a:srgbClr val="1A1A1A"/>
                </a:solidFill>
                <a:latin typeface="微软雅黑"/>
                <a:ea typeface="微软雅黑"/>
              </a:rPr>
              <a:t>洗漱、穿衣、如厕需全程协助。</a:t>
            </a:r>
          </a:p>
        </p:txBody>
      </p:sp>
      <p:sp>
        <p:nvSpPr>
          <p:cNvPr id="37" name="Rounded Rectangle 36"/>
          <p:cNvSpPr/>
          <p:nvPr/>
        </p:nvSpPr>
        <p:spPr>
          <a:xfrm>
            <a:off x="2697480" y="3566160"/>
            <a:ext cx="4434840" cy="1143000"/>
          </a:xfrm>
          <a:prstGeom prst="roundRect">
            <a:avLst/>
          </a:prstGeom>
          <a:solidFill>
            <a:srgbClr val="FFFFFF"/>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80360" y="3703320"/>
            <a:ext cx="4069080" cy="320040"/>
          </a:xfrm>
          <a:prstGeom prst="rect">
            <a:avLst/>
          </a:prstGeom>
          <a:noFill/>
        </p:spPr>
        <p:txBody>
          <a:bodyPr wrap="square" anchor="t">
            <a:spAutoFit/>
          </a:bodyPr>
          <a:lstStyle/>
          <a:p>
            <a:pPr algn="l"/>
            <a:r>
              <a:rPr sz="1400" b="1">
                <a:solidFill>
                  <a:srgbClr val="1E3A8A"/>
                </a:solidFill>
                <a:latin typeface="微软雅黑"/>
                <a:ea typeface="微软雅黑"/>
              </a:rPr>
              <a:t>排泄功能</a:t>
            </a:r>
          </a:p>
        </p:txBody>
      </p:sp>
      <p:sp>
        <p:nvSpPr>
          <p:cNvPr id="39" name="TextBox 38"/>
          <p:cNvSpPr txBox="1"/>
          <p:nvPr/>
        </p:nvSpPr>
        <p:spPr>
          <a:xfrm>
            <a:off x="2880360" y="4069080"/>
            <a:ext cx="4069080" cy="502920"/>
          </a:xfrm>
          <a:prstGeom prst="rect">
            <a:avLst/>
          </a:prstGeom>
          <a:noFill/>
        </p:spPr>
        <p:txBody>
          <a:bodyPr wrap="square" anchor="t">
            <a:spAutoFit/>
          </a:bodyPr>
          <a:lstStyle/>
          <a:p>
            <a:pPr algn="l"/>
            <a:r>
              <a:rPr sz="1300" b="0">
                <a:solidFill>
                  <a:srgbClr val="1A1A1A"/>
                </a:solidFill>
                <a:latin typeface="微软雅黑"/>
                <a:ea typeface="微软雅黑"/>
              </a:rPr>
              <a:t>尿便控制可，但如厕需搀扶。</a:t>
            </a:r>
          </a:p>
        </p:txBody>
      </p:sp>
      <p:sp>
        <p:nvSpPr>
          <p:cNvPr id="40" name="Rounded Rectangle 39"/>
          <p:cNvSpPr/>
          <p:nvPr/>
        </p:nvSpPr>
        <p:spPr>
          <a:xfrm>
            <a:off x="7315200" y="3566160"/>
            <a:ext cx="4434840" cy="1143000"/>
          </a:xfrm>
          <a:prstGeom prst="roundRect">
            <a:avLst/>
          </a:prstGeom>
          <a:solidFill>
            <a:srgbClr val="FFFFFF"/>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98080" y="3703320"/>
            <a:ext cx="4069080" cy="320040"/>
          </a:xfrm>
          <a:prstGeom prst="rect">
            <a:avLst/>
          </a:prstGeom>
          <a:noFill/>
        </p:spPr>
        <p:txBody>
          <a:bodyPr wrap="square" anchor="t">
            <a:spAutoFit/>
          </a:bodyPr>
          <a:lstStyle/>
          <a:p>
            <a:pPr algn="l"/>
            <a:r>
              <a:rPr sz="1400" b="1">
                <a:solidFill>
                  <a:srgbClr val="1E3A8A"/>
                </a:solidFill>
                <a:latin typeface="微软雅黑"/>
                <a:ea typeface="微软雅黑"/>
              </a:rPr>
              <a:t>交流能力</a:t>
            </a:r>
          </a:p>
        </p:txBody>
      </p:sp>
      <p:sp>
        <p:nvSpPr>
          <p:cNvPr id="42" name="TextBox 41"/>
          <p:cNvSpPr txBox="1"/>
          <p:nvPr/>
        </p:nvSpPr>
        <p:spPr>
          <a:xfrm>
            <a:off x="7498080" y="4069080"/>
            <a:ext cx="4069080" cy="502920"/>
          </a:xfrm>
          <a:prstGeom prst="rect">
            <a:avLst/>
          </a:prstGeom>
          <a:noFill/>
        </p:spPr>
        <p:txBody>
          <a:bodyPr wrap="square" anchor="t">
            <a:spAutoFit/>
          </a:bodyPr>
          <a:lstStyle/>
          <a:p>
            <a:pPr algn="l"/>
            <a:r>
              <a:rPr sz="1300" b="0">
                <a:solidFill>
                  <a:srgbClr val="1A1A1A"/>
                </a:solidFill>
                <a:latin typeface="微软雅黑"/>
                <a:ea typeface="微软雅黑"/>
              </a:rPr>
              <a:t>能理解医护指导，可有效表达需求。</a:t>
            </a:r>
          </a:p>
        </p:txBody>
      </p:sp>
      <p:sp>
        <p:nvSpPr>
          <p:cNvPr id="43" name="Rounded Rectangle 42"/>
          <p:cNvSpPr/>
          <p:nvPr/>
        </p:nvSpPr>
        <p:spPr>
          <a:xfrm>
            <a:off x="2697480" y="4846319"/>
            <a:ext cx="9098280" cy="1143000"/>
          </a:xfrm>
          <a:prstGeom prst="roundRect">
            <a:avLst/>
          </a:prstGeom>
          <a:solidFill>
            <a:srgbClr val="FFFFFF"/>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80360" y="4983479"/>
            <a:ext cx="8732520" cy="320040"/>
          </a:xfrm>
          <a:prstGeom prst="rect">
            <a:avLst/>
          </a:prstGeom>
          <a:noFill/>
        </p:spPr>
        <p:txBody>
          <a:bodyPr wrap="square" anchor="t">
            <a:spAutoFit/>
          </a:bodyPr>
          <a:lstStyle/>
          <a:p>
            <a:pPr algn="l"/>
            <a:r>
              <a:rPr sz="1400" b="1">
                <a:solidFill>
                  <a:srgbClr val="1E3A8A"/>
                </a:solidFill>
                <a:latin typeface="微软雅黑"/>
                <a:ea typeface="微软雅黑"/>
              </a:rPr>
              <a:t>社会能力</a:t>
            </a:r>
          </a:p>
        </p:txBody>
      </p:sp>
      <p:sp>
        <p:nvSpPr>
          <p:cNvPr id="45" name="TextBox 44"/>
          <p:cNvSpPr txBox="1"/>
          <p:nvPr/>
        </p:nvSpPr>
        <p:spPr>
          <a:xfrm>
            <a:off x="2880360" y="5349239"/>
            <a:ext cx="8732520" cy="502920"/>
          </a:xfrm>
          <a:prstGeom prst="rect">
            <a:avLst/>
          </a:prstGeom>
          <a:noFill/>
        </p:spPr>
        <p:txBody>
          <a:bodyPr wrap="square" anchor="t">
            <a:spAutoFit/>
          </a:bodyPr>
          <a:lstStyle/>
          <a:p>
            <a:pPr algn="l"/>
            <a:r>
              <a:rPr sz="1300" b="0">
                <a:solidFill>
                  <a:srgbClr val="1A1A1A"/>
                </a:solidFill>
                <a:latin typeface="微软雅黑"/>
                <a:ea typeface="微软雅黑"/>
              </a:rPr>
              <a:t>家庭角色明确，社会适应良好。</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高级健康评估</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274320" y="914400"/>
            <a:ext cx="2194560" cy="5303520"/>
          </a:xfrm>
          <a:prstGeom prst="roundRect">
            <a:avLst/>
          </a:prstGeom>
          <a:solidFill>
            <a:srgbClr val="F5F8FC"/>
          </a:solidFill>
          <a:ln w="1905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1051560"/>
            <a:ext cx="2011680" cy="365760"/>
          </a:xfrm>
          <a:prstGeom prst="rect">
            <a:avLst/>
          </a:prstGeom>
          <a:noFill/>
        </p:spPr>
        <p:txBody>
          <a:bodyPr wrap="square" anchor="t">
            <a:spAutoFit/>
          </a:bodyPr>
          <a:lstStyle/>
          <a:p>
            <a:pPr algn="ctr"/>
            <a:r>
              <a:rPr sz="1400" b="1">
                <a:solidFill>
                  <a:srgbClr val="1E3A8A"/>
                </a:solidFill>
                <a:latin typeface="微软雅黑"/>
                <a:ea typeface="微软雅黑"/>
              </a:rPr>
              <a:t>评估维度</a:t>
            </a:r>
          </a:p>
        </p:txBody>
      </p:sp>
      <p:sp>
        <p:nvSpPr>
          <p:cNvPr id="15" name="Rounded Rectangle 14"/>
          <p:cNvSpPr/>
          <p:nvPr/>
        </p:nvSpPr>
        <p:spPr>
          <a:xfrm>
            <a:off x="411480" y="155448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155448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疾病症状</a:t>
            </a:r>
          </a:p>
        </p:txBody>
      </p:sp>
      <p:sp>
        <p:nvSpPr>
          <p:cNvPr id="17" name="Rounded Rectangle 16"/>
          <p:cNvSpPr/>
          <p:nvPr/>
        </p:nvSpPr>
        <p:spPr>
          <a:xfrm>
            <a:off x="411480" y="233172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33172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整体健康评估</a:t>
            </a:r>
          </a:p>
        </p:txBody>
      </p:sp>
      <p:sp>
        <p:nvSpPr>
          <p:cNvPr id="19" name="Rounded Rectangle 18"/>
          <p:cNvSpPr/>
          <p:nvPr/>
        </p:nvSpPr>
        <p:spPr>
          <a:xfrm>
            <a:off x="411480" y="310896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310896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生理功能</a:t>
            </a:r>
          </a:p>
        </p:txBody>
      </p:sp>
      <p:sp>
        <p:nvSpPr>
          <p:cNvPr id="21" name="Rounded Rectangle 20"/>
          <p:cNvSpPr/>
          <p:nvPr/>
        </p:nvSpPr>
        <p:spPr>
          <a:xfrm>
            <a:off x="411480" y="3886200"/>
            <a:ext cx="1920240" cy="640080"/>
          </a:xfrm>
          <a:prstGeom prst="roundRect">
            <a:avLst/>
          </a:prstGeom>
          <a:solidFill>
            <a:srgbClr val="FFFFFF"/>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3886200"/>
            <a:ext cx="1920240" cy="640080"/>
          </a:xfrm>
          <a:prstGeom prst="rect">
            <a:avLst/>
          </a:prstGeom>
          <a:noFill/>
        </p:spPr>
        <p:txBody>
          <a:bodyPr wrap="square" anchor="ctr">
            <a:spAutoFit/>
          </a:bodyPr>
          <a:lstStyle/>
          <a:p>
            <a:pPr algn="ctr"/>
            <a:r>
              <a:rPr sz="1200" b="1">
                <a:solidFill>
                  <a:srgbClr val="4A5568"/>
                </a:solidFill>
                <a:latin typeface="微软雅黑"/>
                <a:ea typeface="微软雅黑"/>
              </a:rPr>
              <a:t>自理能力ICF评估</a:t>
            </a:r>
          </a:p>
        </p:txBody>
      </p:sp>
      <p:sp>
        <p:nvSpPr>
          <p:cNvPr id="23" name="Rounded Rectangle 22"/>
          <p:cNvSpPr/>
          <p:nvPr/>
        </p:nvSpPr>
        <p:spPr>
          <a:xfrm>
            <a:off x="411480" y="4663440"/>
            <a:ext cx="1920240" cy="640080"/>
          </a:xfrm>
          <a:prstGeom prst="roundRect">
            <a:avLst/>
          </a:prstGeom>
          <a:solidFill>
            <a:srgbClr val="1E3A8A"/>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4663440"/>
            <a:ext cx="1920240" cy="640080"/>
          </a:xfrm>
          <a:prstGeom prst="rect">
            <a:avLst/>
          </a:prstGeom>
          <a:noFill/>
        </p:spPr>
        <p:txBody>
          <a:bodyPr wrap="square" anchor="ctr">
            <a:spAutoFit/>
          </a:bodyPr>
          <a:lstStyle/>
          <a:p>
            <a:pPr algn="ctr"/>
            <a:r>
              <a:rPr sz="1200" b="1">
                <a:solidFill>
                  <a:srgbClr val="FFFFFF"/>
                </a:solidFill>
                <a:latin typeface="微软雅黑"/>
                <a:ea typeface="微软雅黑"/>
              </a:rPr>
              <a:t>风险与并发症</a:t>
            </a:r>
          </a:p>
        </p:txBody>
      </p:sp>
      <p:sp>
        <p:nvSpPr>
          <p:cNvPr id="25" name="Rectangle 24"/>
          <p:cNvSpPr/>
          <p:nvPr/>
        </p:nvSpPr>
        <p:spPr>
          <a:xfrm>
            <a:off x="2697480" y="1051560"/>
            <a:ext cx="909828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97480" y="1051560"/>
            <a:ext cx="3291840" cy="502920"/>
          </a:xfrm>
          <a:prstGeom prst="rect">
            <a:avLst/>
          </a:prstGeom>
          <a:noFill/>
        </p:spPr>
        <p:txBody>
          <a:bodyPr wrap="square" anchor="ctr">
            <a:spAutoFit/>
          </a:bodyPr>
          <a:lstStyle/>
          <a:p>
            <a:pPr algn="ctr"/>
            <a:r>
              <a:rPr sz="1400" b="1">
                <a:solidFill>
                  <a:srgbClr val="FFFFFF"/>
                </a:solidFill>
                <a:latin typeface="微软雅黑"/>
                <a:ea typeface="微软雅黑"/>
              </a:rPr>
              <a:t>评估项目</a:t>
            </a:r>
          </a:p>
        </p:txBody>
      </p:sp>
      <p:sp>
        <p:nvSpPr>
          <p:cNvPr id="27" name="TextBox 26"/>
          <p:cNvSpPr txBox="1"/>
          <p:nvPr/>
        </p:nvSpPr>
        <p:spPr>
          <a:xfrm>
            <a:off x="5989320" y="1051560"/>
            <a:ext cx="2926080" cy="502920"/>
          </a:xfrm>
          <a:prstGeom prst="rect">
            <a:avLst/>
          </a:prstGeom>
          <a:noFill/>
        </p:spPr>
        <p:txBody>
          <a:bodyPr wrap="square" anchor="ctr">
            <a:spAutoFit/>
          </a:bodyPr>
          <a:lstStyle/>
          <a:p>
            <a:pPr algn="ctr"/>
            <a:r>
              <a:rPr sz="1400" b="1">
                <a:solidFill>
                  <a:srgbClr val="FFFFFF"/>
                </a:solidFill>
                <a:latin typeface="微软雅黑"/>
                <a:ea typeface="微软雅黑"/>
              </a:rPr>
              <a:t>评分</a:t>
            </a:r>
          </a:p>
        </p:txBody>
      </p:sp>
      <p:sp>
        <p:nvSpPr>
          <p:cNvPr id="28" name="TextBox 27"/>
          <p:cNvSpPr txBox="1"/>
          <p:nvPr/>
        </p:nvSpPr>
        <p:spPr>
          <a:xfrm>
            <a:off x="8915400" y="1051560"/>
            <a:ext cx="2880360" cy="502920"/>
          </a:xfrm>
          <a:prstGeom prst="rect">
            <a:avLst/>
          </a:prstGeom>
          <a:noFill/>
        </p:spPr>
        <p:txBody>
          <a:bodyPr wrap="square" anchor="ctr">
            <a:spAutoFit/>
          </a:bodyPr>
          <a:lstStyle/>
          <a:p>
            <a:pPr algn="ctr"/>
            <a:r>
              <a:rPr sz="1400" b="1">
                <a:solidFill>
                  <a:srgbClr val="FFFFFF"/>
                </a:solidFill>
                <a:latin typeface="微软雅黑"/>
                <a:ea typeface="微软雅黑"/>
              </a:rPr>
              <a:t>风险</a:t>
            </a:r>
          </a:p>
        </p:txBody>
      </p:sp>
      <p:sp>
        <p:nvSpPr>
          <p:cNvPr id="29" name="Rectangle 28"/>
          <p:cNvSpPr/>
          <p:nvPr/>
        </p:nvSpPr>
        <p:spPr>
          <a:xfrm>
            <a:off x="2697480" y="1554480"/>
            <a:ext cx="9098280" cy="502920"/>
          </a:xfrm>
          <a:prstGeom prst="rect">
            <a:avLst/>
          </a:prstGeom>
          <a:solidFill>
            <a:srgbClr val="FFEB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97480" y="1554480"/>
            <a:ext cx="3291840" cy="502920"/>
          </a:xfrm>
          <a:prstGeom prst="rect">
            <a:avLst/>
          </a:prstGeom>
          <a:noFill/>
        </p:spPr>
        <p:txBody>
          <a:bodyPr wrap="square" anchor="ctr">
            <a:spAutoFit/>
          </a:bodyPr>
          <a:lstStyle/>
          <a:p>
            <a:pPr algn="ctr"/>
            <a:r>
              <a:rPr sz="1300" b="0">
                <a:solidFill>
                  <a:srgbClr val="1A1A1A"/>
                </a:solidFill>
                <a:latin typeface="微软雅黑"/>
                <a:ea typeface="微软雅黑"/>
              </a:rPr>
              <a:t>跌倒/坠床风险</a:t>
            </a:r>
          </a:p>
        </p:txBody>
      </p:sp>
      <p:sp>
        <p:nvSpPr>
          <p:cNvPr id="31" name="TextBox 30"/>
          <p:cNvSpPr txBox="1"/>
          <p:nvPr/>
        </p:nvSpPr>
        <p:spPr>
          <a:xfrm>
            <a:off x="5989320" y="1554480"/>
            <a:ext cx="2926080" cy="502920"/>
          </a:xfrm>
          <a:prstGeom prst="rect">
            <a:avLst/>
          </a:prstGeom>
          <a:noFill/>
        </p:spPr>
        <p:txBody>
          <a:bodyPr wrap="square" anchor="ctr">
            <a:spAutoFit/>
          </a:bodyPr>
          <a:lstStyle/>
          <a:p>
            <a:pPr algn="ctr"/>
            <a:r>
              <a:rPr sz="1300" b="0">
                <a:solidFill>
                  <a:srgbClr val="1A1A1A"/>
                </a:solidFill>
                <a:latin typeface="微软雅黑"/>
                <a:ea typeface="微软雅黑"/>
              </a:rPr>
              <a:t>55分</a:t>
            </a:r>
          </a:p>
        </p:txBody>
      </p:sp>
      <p:sp>
        <p:nvSpPr>
          <p:cNvPr id="32" name="TextBox 31"/>
          <p:cNvSpPr txBox="1"/>
          <p:nvPr/>
        </p:nvSpPr>
        <p:spPr>
          <a:xfrm>
            <a:off x="8915400" y="1554480"/>
            <a:ext cx="2880360" cy="502920"/>
          </a:xfrm>
          <a:prstGeom prst="rect">
            <a:avLst/>
          </a:prstGeom>
          <a:noFill/>
        </p:spPr>
        <p:txBody>
          <a:bodyPr wrap="square" anchor="ctr">
            <a:spAutoFit/>
          </a:bodyPr>
          <a:lstStyle/>
          <a:p>
            <a:pPr algn="ctr"/>
            <a:r>
              <a:rPr sz="1300" b="1">
                <a:solidFill>
                  <a:srgbClr val="D32F2F"/>
                </a:solidFill>
                <a:latin typeface="微软雅黑"/>
                <a:ea typeface="微软雅黑"/>
              </a:rPr>
              <a:t>高风险</a:t>
            </a:r>
          </a:p>
        </p:txBody>
      </p:sp>
      <p:sp>
        <p:nvSpPr>
          <p:cNvPr id="33" name="Rectangle 32"/>
          <p:cNvSpPr/>
          <p:nvPr/>
        </p:nvSpPr>
        <p:spPr>
          <a:xfrm>
            <a:off x="2697480" y="2057400"/>
            <a:ext cx="9098280" cy="502920"/>
          </a:xfrm>
          <a:prstGeom prst="rect">
            <a:avLst/>
          </a:prstGeom>
          <a:solidFill>
            <a:srgbClr val="FFEB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97480" y="2057400"/>
            <a:ext cx="3291840" cy="502920"/>
          </a:xfrm>
          <a:prstGeom prst="rect">
            <a:avLst/>
          </a:prstGeom>
          <a:noFill/>
        </p:spPr>
        <p:txBody>
          <a:bodyPr wrap="square" anchor="ctr">
            <a:spAutoFit/>
          </a:bodyPr>
          <a:lstStyle/>
          <a:p>
            <a:pPr algn="ctr"/>
            <a:r>
              <a:rPr sz="1300" b="0">
                <a:solidFill>
                  <a:srgbClr val="1A1A1A"/>
                </a:solidFill>
                <a:latin typeface="微软雅黑"/>
                <a:ea typeface="微软雅黑"/>
              </a:rPr>
              <a:t>VTE风险评估</a:t>
            </a:r>
          </a:p>
        </p:txBody>
      </p:sp>
      <p:sp>
        <p:nvSpPr>
          <p:cNvPr id="35" name="TextBox 34"/>
          <p:cNvSpPr txBox="1"/>
          <p:nvPr/>
        </p:nvSpPr>
        <p:spPr>
          <a:xfrm>
            <a:off x="5989320" y="2057400"/>
            <a:ext cx="2926080" cy="502920"/>
          </a:xfrm>
          <a:prstGeom prst="rect">
            <a:avLst/>
          </a:prstGeom>
          <a:noFill/>
        </p:spPr>
        <p:txBody>
          <a:bodyPr wrap="square" anchor="ctr">
            <a:spAutoFit/>
          </a:bodyPr>
          <a:lstStyle/>
          <a:p>
            <a:pPr algn="ctr"/>
            <a:r>
              <a:rPr sz="1300" b="0">
                <a:solidFill>
                  <a:srgbClr val="1A1A1A"/>
                </a:solidFill>
                <a:latin typeface="微软雅黑"/>
                <a:ea typeface="微软雅黑"/>
              </a:rPr>
              <a:t>5分</a:t>
            </a:r>
          </a:p>
        </p:txBody>
      </p:sp>
      <p:sp>
        <p:nvSpPr>
          <p:cNvPr id="36" name="TextBox 35"/>
          <p:cNvSpPr txBox="1"/>
          <p:nvPr/>
        </p:nvSpPr>
        <p:spPr>
          <a:xfrm>
            <a:off x="8915400" y="2057400"/>
            <a:ext cx="2880360" cy="502920"/>
          </a:xfrm>
          <a:prstGeom prst="rect">
            <a:avLst/>
          </a:prstGeom>
          <a:noFill/>
        </p:spPr>
        <p:txBody>
          <a:bodyPr wrap="square" anchor="ctr">
            <a:spAutoFit/>
          </a:bodyPr>
          <a:lstStyle/>
          <a:p>
            <a:pPr algn="ctr"/>
            <a:r>
              <a:rPr sz="1300" b="1">
                <a:solidFill>
                  <a:srgbClr val="D32F2F"/>
                </a:solidFill>
                <a:latin typeface="微软雅黑"/>
                <a:ea typeface="微软雅黑"/>
              </a:rPr>
              <a:t>高风险</a:t>
            </a:r>
          </a:p>
        </p:txBody>
      </p:sp>
      <p:sp>
        <p:nvSpPr>
          <p:cNvPr id="37" name="Rectangle 36"/>
          <p:cNvSpPr/>
          <p:nvPr/>
        </p:nvSpPr>
        <p:spPr>
          <a:xfrm>
            <a:off x="2697480" y="2560320"/>
            <a:ext cx="9098280" cy="502920"/>
          </a:xfrm>
          <a:prstGeom prst="rect">
            <a:avLst/>
          </a:prstGeom>
          <a:solidFill>
            <a:srgbClr val="FFEB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97480" y="2560320"/>
            <a:ext cx="3291840" cy="502920"/>
          </a:xfrm>
          <a:prstGeom prst="rect">
            <a:avLst/>
          </a:prstGeom>
          <a:noFill/>
        </p:spPr>
        <p:txBody>
          <a:bodyPr wrap="square" anchor="ctr">
            <a:spAutoFit/>
          </a:bodyPr>
          <a:lstStyle/>
          <a:p>
            <a:pPr algn="ctr"/>
            <a:r>
              <a:rPr sz="1300" b="0">
                <a:solidFill>
                  <a:srgbClr val="1A1A1A"/>
                </a:solidFill>
                <a:latin typeface="微软雅黑"/>
                <a:ea typeface="微软雅黑"/>
              </a:rPr>
              <a:t>Braden压疮风险评估</a:t>
            </a:r>
          </a:p>
        </p:txBody>
      </p:sp>
      <p:sp>
        <p:nvSpPr>
          <p:cNvPr id="39" name="TextBox 38"/>
          <p:cNvSpPr txBox="1"/>
          <p:nvPr/>
        </p:nvSpPr>
        <p:spPr>
          <a:xfrm>
            <a:off x="5989320" y="2560320"/>
            <a:ext cx="2926080" cy="502920"/>
          </a:xfrm>
          <a:prstGeom prst="rect">
            <a:avLst/>
          </a:prstGeom>
          <a:noFill/>
        </p:spPr>
        <p:txBody>
          <a:bodyPr wrap="square" anchor="ctr">
            <a:spAutoFit/>
          </a:bodyPr>
          <a:lstStyle/>
          <a:p>
            <a:pPr algn="ctr"/>
            <a:r>
              <a:rPr sz="1300" b="0">
                <a:solidFill>
                  <a:srgbClr val="1A1A1A"/>
                </a:solidFill>
                <a:latin typeface="微软雅黑"/>
                <a:ea typeface="微软雅黑"/>
              </a:rPr>
              <a:t>14分</a:t>
            </a:r>
          </a:p>
        </p:txBody>
      </p:sp>
      <p:sp>
        <p:nvSpPr>
          <p:cNvPr id="40" name="TextBox 39"/>
          <p:cNvSpPr txBox="1"/>
          <p:nvPr/>
        </p:nvSpPr>
        <p:spPr>
          <a:xfrm>
            <a:off x="8915400" y="2560320"/>
            <a:ext cx="2880360" cy="502920"/>
          </a:xfrm>
          <a:prstGeom prst="rect">
            <a:avLst/>
          </a:prstGeom>
          <a:noFill/>
        </p:spPr>
        <p:txBody>
          <a:bodyPr wrap="square" anchor="ctr">
            <a:spAutoFit/>
          </a:bodyPr>
          <a:lstStyle/>
          <a:p>
            <a:pPr algn="ctr"/>
            <a:r>
              <a:rPr sz="1300" b="1">
                <a:solidFill>
                  <a:srgbClr val="D32F2F"/>
                </a:solidFill>
                <a:latin typeface="微软雅黑"/>
                <a:ea typeface="微软雅黑"/>
              </a:rPr>
              <a:t>高风险</a:t>
            </a:r>
          </a:p>
        </p:txBody>
      </p:sp>
      <p:sp>
        <p:nvSpPr>
          <p:cNvPr id="41" name="Rectangle 40"/>
          <p:cNvSpPr/>
          <p:nvPr/>
        </p:nvSpPr>
        <p:spPr>
          <a:xfrm>
            <a:off x="2697480" y="3063240"/>
            <a:ext cx="9098280" cy="502920"/>
          </a:xfrm>
          <a:prstGeom prst="rect">
            <a:avLst/>
          </a:prstGeom>
          <a:solidFill>
            <a:srgbClr val="FFF8E1"/>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97480" y="3063240"/>
            <a:ext cx="3291840" cy="502920"/>
          </a:xfrm>
          <a:prstGeom prst="rect">
            <a:avLst/>
          </a:prstGeom>
          <a:noFill/>
        </p:spPr>
        <p:txBody>
          <a:bodyPr wrap="square" anchor="ctr">
            <a:spAutoFit/>
          </a:bodyPr>
          <a:lstStyle/>
          <a:p>
            <a:pPr algn="ctr"/>
            <a:r>
              <a:rPr sz="1300" b="0">
                <a:solidFill>
                  <a:srgbClr val="1A1A1A"/>
                </a:solidFill>
                <a:latin typeface="微软雅黑"/>
                <a:ea typeface="微软雅黑"/>
              </a:rPr>
              <a:t>营养风险评估</a:t>
            </a:r>
          </a:p>
        </p:txBody>
      </p:sp>
      <p:sp>
        <p:nvSpPr>
          <p:cNvPr id="43" name="TextBox 42"/>
          <p:cNvSpPr txBox="1"/>
          <p:nvPr/>
        </p:nvSpPr>
        <p:spPr>
          <a:xfrm>
            <a:off x="5989320" y="3063240"/>
            <a:ext cx="2926080" cy="502920"/>
          </a:xfrm>
          <a:prstGeom prst="rect">
            <a:avLst/>
          </a:prstGeom>
          <a:noFill/>
        </p:spPr>
        <p:txBody>
          <a:bodyPr wrap="square" anchor="ctr">
            <a:spAutoFit/>
          </a:bodyPr>
          <a:lstStyle/>
          <a:p>
            <a:pPr algn="ctr"/>
            <a:r>
              <a:rPr sz="1300" b="0">
                <a:solidFill>
                  <a:srgbClr val="1A1A1A"/>
                </a:solidFill>
                <a:latin typeface="微软雅黑"/>
                <a:ea typeface="微软雅黑"/>
              </a:rPr>
              <a:t>NRS 2002：4分</a:t>
            </a:r>
          </a:p>
        </p:txBody>
      </p:sp>
      <p:sp>
        <p:nvSpPr>
          <p:cNvPr id="44" name="TextBox 43"/>
          <p:cNvSpPr txBox="1"/>
          <p:nvPr/>
        </p:nvSpPr>
        <p:spPr>
          <a:xfrm>
            <a:off x="8915400" y="3063240"/>
            <a:ext cx="2880360" cy="502920"/>
          </a:xfrm>
          <a:prstGeom prst="rect">
            <a:avLst/>
          </a:prstGeom>
          <a:noFill/>
        </p:spPr>
        <p:txBody>
          <a:bodyPr wrap="square" anchor="ctr">
            <a:spAutoFit/>
          </a:bodyPr>
          <a:lstStyle/>
          <a:p>
            <a:pPr algn="ctr"/>
            <a:r>
              <a:rPr sz="1300" b="1">
                <a:solidFill>
                  <a:srgbClr val="1A1A1A"/>
                </a:solidFill>
                <a:latin typeface="微软雅黑"/>
                <a:ea typeface="微软雅黑"/>
              </a:rPr>
              <a:t>中风险</a:t>
            </a:r>
          </a:p>
        </p:txBody>
      </p:sp>
      <p:sp>
        <p:nvSpPr>
          <p:cNvPr id="45" name="Rectangle 44"/>
          <p:cNvSpPr/>
          <p:nvPr/>
        </p:nvSpPr>
        <p:spPr>
          <a:xfrm>
            <a:off x="2697480" y="3566160"/>
            <a:ext cx="9098280" cy="502920"/>
          </a:xfrm>
          <a:prstGeom prst="rect">
            <a:avLst/>
          </a:prstGeom>
          <a:solidFill>
            <a:srgbClr val="E8F0F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97480" y="3566160"/>
            <a:ext cx="3291840" cy="502920"/>
          </a:xfrm>
          <a:prstGeom prst="rect">
            <a:avLst/>
          </a:prstGeom>
          <a:noFill/>
        </p:spPr>
        <p:txBody>
          <a:bodyPr wrap="square" anchor="ctr">
            <a:spAutoFit/>
          </a:bodyPr>
          <a:lstStyle/>
          <a:p>
            <a:pPr algn="ctr"/>
            <a:r>
              <a:rPr sz="1300" b="0">
                <a:solidFill>
                  <a:srgbClr val="1A1A1A"/>
                </a:solidFill>
                <a:latin typeface="微软雅黑"/>
                <a:ea typeface="微软雅黑"/>
              </a:rPr>
              <a:t>感染风险</a:t>
            </a:r>
          </a:p>
        </p:txBody>
      </p:sp>
      <p:sp>
        <p:nvSpPr>
          <p:cNvPr id="47" name="TextBox 46"/>
          <p:cNvSpPr txBox="1"/>
          <p:nvPr/>
        </p:nvSpPr>
        <p:spPr>
          <a:xfrm>
            <a:off x="5989320" y="3566160"/>
            <a:ext cx="2926080" cy="502920"/>
          </a:xfrm>
          <a:prstGeom prst="rect">
            <a:avLst/>
          </a:prstGeom>
          <a:noFill/>
        </p:spPr>
        <p:txBody>
          <a:bodyPr wrap="square" anchor="ctr">
            <a:spAutoFit/>
          </a:bodyPr>
          <a:lstStyle/>
          <a:p>
            <a:pPr algn="ctr"/>
            <a:r>
              <a:rPr sz="1300" b="0">
                <a:solidFill>
                  <a:srgbClr val="1A1A1A"/>
                </a:solidFill>
                <a:latin typeface="微软雅黑"/>
                <a:ea typeface="微软雅黑"/>
              </a:rPr>
              <a:t>铜绿假单胞菌阳性</a:t>
            </a:r>
          </a:p>
        </p:txBody>
      </p:sp>
      <p:sp>
        <p:nvSpPr>
          <p:cNvPr id="48" name="TextBox 47"/>
          <p:cNvSpPr txBox="1"/>
          <p:nvPr/>
        </p:nvSpPr>
        <p:spPr>
          <a:xfrm>
            <a:off x="8915400" y="3566160"/>
            <a:ext cx="2880360" cy="502920"/>
          </a:xfrm>
          <a:prstGeom prst="rect">
            <a:avLst/>
          </a:prstGeom>
          <a:noFill/>
        </p:spPr>
        <p:txBody>
          <a:bodyPr wrap="square" anchor="ctr">
            <a:spAutoFit/>
          </a:bodyPr>
          <a:lstStyle/>
          <a:p>
            <a:pPr algn="ctr"/>
            <a:r>
              <a:rPr sz="1300" b="1">
                <a:solidFill>
                  <a:srgbClr val="1A1A1A"/>
                </a:solidFill>
                <a:latin typeface="微软雅黑"/>
                <a:ea typeface="微软雅黑"/>
              </a:rPr>
              <a:t>菌血症风险</a:t>
            </a:r>
          </a:p>
        </p:txBody>
      </p:sp>
      <p:sp>
        <p:nvSpPr>
          <p:cNvPr id="49" name="Rectangle 48"/>
          <p:cNvSpPr/>
          <p:nvPr/>
        </p:nvSpPr>
        <p:spPr>
          <a:xfrm>
            <a:off x="2697480" y="4069080"/>
            <a:ext cx="9098280" cy="502920"/>
          </a:xfrm>
          <a:prstGeom prst="rect">
            <a:avLst/>
          </a:prstGeom>
          <a:solidFill>
            <a:srgbClr val="E8F0F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697480" y="4069080"/>
            <a:ext cx="3291840" cy="502920"/>
          </a:xfrm>
          <a:prstGeom prst="rect">
            <a:avLst/>
          </a:prstGeom>
          <a:noFill/>
        </p:spPr>
        <p:txBody>
          <a:bodyPr wrap="square" anchor="ctr">
            <a:spAutoFit/>
          </a:bodyPr>
          <a:lstStyle/>
          <a:p>
            <a:pPr algn="ctr"/>
            <a:r>
              <a:rPr sz="1300" b="0">
                <a:solidFill>
                  <a:srgbClr val="1A1A1A"/>
                </a:solidFill>
                <a:latin typeface="微软雅黑"/>
                <a:ea typeface="微软雅黑"/>
              </a:rPr>
              <a:t>疾病潜在并发症</a:t>
            </a:r>
          </a:p>
        </p:txBody>
      </p:sp>
      <p:sp>
        <p:nvSpPr>
          <p:cNvPr id="51" name="TextBox 50"/>
          <p:cNvSpPr txBox="1"/>
          <p:nvPr/>
        </p:nvSpPr>
        <p:spPr>
          <a:xfrm>
            <a:off x="5989320" y="4069080"/>
            <a:ext cx="2926080" cy="502920"/>
          </a:xfrm>
          <a:prstGeom prst="rect">
            <a:avLst/>
          </a:prstGeom>
          <a:noFill/>
        </p:spPr>
        <p:txBody>
          <a:bodyPr wrap="square" anchor="ctr">
            <a:spAutoFit/>
          </a:bodyPr>
          <a:lstStyle/>
          <a:p>
            <a:pPr algn="ctr"/>
            <a:r>
              <a:rPr sz="1300" b="0">
                <a:solidFill>
                  <a:srgbClr val="1A1A1A"/>
                </a:solidFill>
                <a:latin typeface="微软雅黑"/>
                <a:ea typeface="微软雅黑"/>
              </a:rPr>
              <a:t>心肾综合征、急性心衰</a:t>
            </a:r>
          </a:p>
        </p:txBody>
      </p:sp>
      <p:sp>
        <p:nvSpPr>
          <p:cNvPr id="52" name="TextBox 51"/>
          <p:cNvSpPr txBox="1"/>
          <p:nvPr/>
        </p:nvSpPr>
        <p:spPr>
          <a:xfrm>
            <a:off x="8915400" y="4069080"/>
            <a:ext cx="2880360" cy="502920"/>
          </a:xfrm>
          <a:prstGeom prst="rect">
            <a:avLst/>
          </a:prstGeom>
          <a:noFill/>
        </p:spPr>
        <p:txBody>
          <a:bodyPr wrap="square" anchor="ctr">
            <a:spAutoFit/>
          </a:bodyPr>
          <a:lstStyle/>
          <a:p>
            <a:pPr algn="ctr"/>
            <a:r>
              <a:rPr sz="1300" b="1">
                <a:solidFill>
                  <a:srgbClr val="1A1A1A"/>
                </a:solidFill>
                <a:latin typeface="微软雅黑"/>
                <a:ea typeface="微软雅黑"/>
              </a:rPr>
              <a:t>需密切监测</a:t>
            </a:r>
          </a:p>
        </p:txBody>
      </p:sp>
      <p:sp>
        <p:nvSpPr>
          <p:cNvPr id="53" name="TextBox 52"/>
          <p:cNvSpPr txBox="1"/>
          <p:nvPr/>
        </p:nvSpPr>
        <p:spPr>
          <a:xfrm>
            <a:off x="2697480" y="5943600"/>
            <a:ext cx="9098280" cy="365760"/>
          </a:xfrm>
          <a:prstGeom prst="rect">
            <a:avLst/>
          </a:prstGeom>
          <a:noFill/>
        </p:spPr>
        <p:txBody>
          <a:bodyPr wrap="square" anchor="t">
            <a:spAutoFit/>
          </a:bodyPr>
          <a:lstStyle/>
          <a:p>
            <a:pPr algn="l"/>
            <a:r>
              <a:rPr sz="1300" b="1">
                <a:solidFill>
                  <a:srgbClr val="D32F2F"/>
                </a:solidFill>
                <a:latin typeface="微软雅黑"/>
                <a:ea typeface="微软雅黑"/>
              </a:rPr>
              <a:t>提示：跌倒、VTE、压疮均为高风险，需同步实施多重风险管控。</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循证护理</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Oval 12"/>
          <p:cNvSpPr/>
          <p:nvPr/>
        </p:nvSpPr>
        <p:spPr>
          <a:xfrm>
            <a:off x="457200" y="1234440"/>
            <a:ext cx="822960" cy="82296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371600"/>
            <a:ext cx="822960" cy="548640"/>
          </a:xfrm>
          <a:prstGeom prst="rect">
            <a:avLst/>
          </a:prstGeom>
          <a:noFill/>
        </p:spPr>
        <p:txBody>
          <a:bodyPr wrap="square" anchor="t">
            <a:spAutoFit/>
          </a:bodyPr>
          <a:lstStyle/>
          <a:p>
            <a:pPr algn="ctr"/>
            <a:r>
              <a:rPr sz="2200" b="1">
                <a:solidFill>
                  <a:srgbClr val="FFFFFF"/>
                </a:solidFill>
                <a:latin typeface="微软雅黑"/>
                <a:ea typeface="微软雅黑"/>
              </a:rPr>
              <a:t>1</a:t>
            </a:r>
          </a:p>
        </p:txBody>
      </p:sp>
      <p:sp>
        <p:nvSpPr>
          <p:cNvPr id="15" name="Rectangle 14"/>
          <p:cNvSpPr/>
          <p:nvPr/>
        </p:nvSpPr>
        <p:spPr>
          <a:xfrm>
            <a:off x="804672" y="2057400"/>
            <a:ext cx="109728" cy="4572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0" y="1005840"/>
            <a:ext cx="10149840" cy="10972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28800" y="1143000"/>
            <a:ext cx="9601200" cy="320040"/>
          </a:xfrm>
          <a:prstGeom prst="rect">
            <a:avLst/>
          </a:prstGeom>
          <a:noFill/>
        </p:spPr>
        <p:txBody>
          <a:bodyPr wrap="square" anchor="t">
            <a:spAutoFit/>
          </a:bodyPr>
          <a:lstStyle/>
          <a:p>
            <a:pPr algn="l"/>
            <a:r>
              <a:rPr sz="1600" b="1">
                <a:solidFill>
                  <a:srgbClr val="1E3A8A"/>
                </a:solidFill>
                <a:latin typeface="微软雅黑"/>
                <a:ea typeface="微软雅黑"/>
              </a:rPr>
              <a:t>提出问题</a:t>
            </a:r>
          </a:p>
        </p:txBody>
      </p:sp>
      <p:sp>
        <p:nvSpPr>
          <p:cNvPr id="18" name="TextBox 17"/>
          <p:cNvSpPr txBox="1"/>
          <p:nvPr/>
        </p:nvSpPr>
        <p:spPr>
          <a:xfrm>
            <a:off x="1828800" y="1508760"/>
            <a:ext cx="9601200" cy="502920"/>
          </a:xfrm>
          <a:prstGeom prst="rect">
            <a:avLst/>
          </a:prstGeom>
          <a:noFill/>
        </p:spPr>
        <p:txBody>
          <a:bodyPr wrap="square" anchor="t">
            <a:spAutoFit/>
          </a:bodyPr>
          <a:lstStyle/>
          <a:p>
            <a:pPr algn="l"/>
            <a:r>
              <a:rPr sz="1300" b="0">
                <a:solidFill>
                  <a:srgbClr val="1A1A1A"/>
                </a:solidFill>
                <a:latin typeface="微软雅黑"/>
                <a:ea typeface="微软雅黑"/>
              </a:rPr>
              <a:t>围绕气体交换受损、清理呼吸道无效、多重并发症风险提出PICO问题。</a:t>
            </a:r>
          </a:p>
        </p:txBody>
      </p:sp>
      <p:sp>
        <p:nvSpPr>
          <p:cNvPr id="19" name="Oval 18"/>
          <p:cNvSpPr/>
          <p:nvPr/>
        </p:nvSpPr>
        <p:spPr>
          <a:xfrm>
            <a:off x="457200" y="2514600"/>
            <a:ext cx="822960" cy="82296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651760"/>
            <a:ext cx="822960" cy="548640"/>
          </a:xfrm>
          <a:prstGeom prst="rect">
            <a:avLst/>
          </a:prstGeom>
          <a:noFill/>
        </p:spPr>
        <p:txBody>
          <a:bodyPr wrap="square" anchor="t">
            <a:spAutoFit/>
          </a:bodyPr>
          <a:lstStyle/>
          <a:p>
            <a:pPr algn="ctr"/>
            <a:r>
              <a:rPr sz="2200" b="1">
                <a:solidFill>
                  <a:srgbClr val="FFFFFF"/>
                </a:solidFill>
                <a:latin typeface="微软雅黑"/>
                <a:ea typeface="微软雅黑"/>
              </a:rPr>
              <a:t>2</a:t>
            </a:r>
          </a:p>
        </p:txBody>
      </p:sp>
      <p:sp>
        <p:nvSpPr>
          <p:cNvPr id="21" name="Rectangle 20"/>
          <p:cNvSpPr/>
          <p:nvPr/>
        </p:nvSpPr>
        <p:spPr>
          <a:xfrm>
            <a:off x="804672" y="3337560"/>
            <a:ext cx="109728" cy="4572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554480" y="2286000"/>
            <a:ext cx="10149840" cy="10972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28800" y="2423160"/>
            <a:ext cx="9601200" cy="320040"/>
          </a:xfrm>
          <a:prstGeom prst="rect">
            <a:avLst/>
          </a:prstGeom>
          <a:noFill/>
        </p:spPr>
        <p:txBody>
          <a:bodyPr wrap="square" anchor="t">
            <a:spAutoFit/>
          </a:bodyPr>
          <a:lstStyle/>
          <a:p>
            <a:pPr algn="l"/>
            <a:r>
              <a:rPr sz="1600" b="1">
                <a:solidFill>
                  <a:srgbClr val="1E3A8A"/>
                </a:solidFill>
                <a:latin typeface="微软雅黑"/>
                <a:ea typeface="微软雅黑"/>
              </a:rPr>
              <a:t>查找文献</a:t>
            </a:r>
          </a:p>
        </p:txBody>
      </p:sp>
      <p:sp>
        <p:nvSpPr>
          <p:cNvPr id="24" name="TextBox 23"/>
          <p:cNvSpPr txBox="1"/>
          <p:nvPr/>
        </p:nvSpPr>
        <p:spPr>
          <a:xfrm>
            <a:off x="1828800" y="2788920"/>
            <a:ext cx="9601200" cy="502920"/>
          </a:xfrm>
          <a:prstGeom prst="rect">
            <a:avLst/>
          </a:prstGeom>
          <a:noFill/>
        </p:spPr>
        <p:txBody>
          <a:bodyPr wrap="square" anchor="t">
            <a:spAutoFit/>
          </a:bodyPr>
          <a:lstStyle/>
          <a:p>
            <a:pPr algn="l"/>
            <a:r>
              <a:rPr sz="1300" b="0">
                <a:solidFill>
                  <a:srgbClr val="1A1A1A"/>
                </a:solidFill>
                <a:latin typeface="微软雅黑"/>
                <a:ea typeface="微软雅黑"/>
              </a:rPr>
              <a:t>在知网、万方、维普、中华医学会检索关键词；主题词+自由词；2020–2025年1月；可获取全文。</a:t>
            </a:r>
          </a:p>
        </p:txBody>
      </p:sp>
      <p:sp>
        <p:nvSpPr>
          <p:cNvPr id="25" name="Oval 24"/>
          <p:cNvSpPr/>
          <p:nvPr/>
        </p:nvSpPr>
        <p:spPr>
          <a:xfrm>
            <a:off x="457200" y="3794760"/>
            <a:ext cx="822960" cy="82296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931920"/>
            <a:ext cx="822960" cy="548640"/>
          </a:xfrm>
          <a:prstGeom prst="rect">
            <a:avLst/>
          </a:prstGeom>
          <a:noFill/>
        </p:spPr>
        <p:txBody>
          <a:bodyPr wrap="square" anchor="t">
            <a:spAutoFit/>
          </a:bodyPr>
          <a:lstStyle/>
          <a:p>
            <a:pPr algn="ctr"/>
            <a:r>
              <a:rPr sz="2200" b="1">
                <a:solidFill>
                  <a:srgbClr val="FFFFFF"/>
                </a:solidFill>
                <a:latin typeface="微软雅黑"/>
                <a:ea typeface="微软雅黑"/>
              </a:rPr>
              <a:t>3</a:t>
            </a:r>
          </a:p>
        </p:txBody>
      </p:sp>
      <p:sp>
        <p:nvSpPr>
          <p:cNvPr id="27" name="Rectangle 26"/>
          <p:cNvSpPr/>
          <p:nvPr/>
        </p:nvSpPr>
        <p:spPr>
          <a:xfrm>
            <a:off x="804672" y="4617720"/>
            <a:ext cx="109728" cy="457200"/>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554480" y="3566160"/>
            <a:ext cx="10149840" cy="10972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28800" y="3703320"/>
            <a:ext cx="9601200" cy="320040"/>
          </a:xfrm>
          <a:prstGeom prst="rect">
            <a:avLst/>
          </a:prstGeom>
          <a:noFill/>
        </p:spPr>
        <p:txBody>
          <a:bodyPr wrap="square" anchor="t">
            <a:spAutoFit/>
          </a:bodyPr>
          <a:lstStyle/>
          <a:p>
            <a:pPr algn="l"/>
            <a:r>
              <a:rPr sz="1600" b="1">
                <a:solidFill>
                  <a:srgbClr val="1E3A8A"/>
                </a:solidFill>
                <a:latin typeface="微软雅黑"/>
                <a:ea typeface="微软雅黑"/>
              </a:rPr>
              <a:t>检索结果</a:t>
            </a:r>
          </a:p>
        </p:txBody>
      </p:sp>
      <p:sp>
        <p:nvSpPr>
          <p:cNvPr id="30" name="TextBox 29"/>
          <p:cNvSpPr txBox="1"/>
          <p:nvPr/>
        </p:nvSpPr>
        <p:spPr>
          <a:xfrm>
            <a:off x="1828800" y="4069080"/>
            <a:ext cx="9601200" cy="502920"/>
          </a:xfrm>
          <a:prstGeom prst="rect">
            <a:avLst/>
          </a:prstGeom>
          <a:noFill/>
        </p:spPr>
        <p:txBody>
          <a:bodyPr wrap="square" anchor="t">
            <a:spAutoFit/>
          </a:bodyPr>
          <a:lstStyle/>
          <a:p>
            <a:pPr algn="l"/>
            <a:r>
              <a:rPr sz="1300" b="0">
                <a:solidFill>
                  <a:srgbClr val="1A1A1A"/>
                </a:solidFill>
                <a:latin typeface="微软雅黑"/>
                <a:ea typeface="微软雅黑"/>
              </a:rPr>
              <a:t>数据库检索 n=112 → 阅读文题摘要 n=80 → 全文阅读 n=36 → 最终纳入 n=11。</a:t>
            </a:r>
          </a:p>
        </p:txBody>
      </p:sp>
      <p:sp>
        <p:nvSpPr>
          <p:cNvPr id="31" name="Oval 30"/>
          <p:cNvSpPr/>
          <p:nvPr/>
        </p:nvSpPr>
        <p:spPr>
          <a:xfrm>
            <a:off x="457200" y="5074919"/>
            <a:ext cx="822960" cy="822960"/>
          </a:xfrm>
          <a:prstGeom prst="ellipse">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212079"/>
            <a:ext cx="822960" cy="548640"/>
          </a:xfrm>
          <a:prstGeom prst="rect">
            <a:avLst/>
          </a:prstGeom>
          <a:noFill/>
        </p:spPr>
        <p:txBody>
          <a:bodyPr wrap="square" anchor="t">
            <a:spAutoFit/>
          </a:bodyPr>
          <a:lstStyle/>
          <a:p>
            <a:pPr algn="ctr"/>
            <a:r>
              <a:rPr sz="2200" b="1">
                <a:solidFill>
                  <a:srgbClr val="FFFFFF"/>
                </a:solidFill>
                <a:latin typeface="微软雅黑"/>
                <a:ea typeface="微软雅黑"/>
              </a:rPr>
              <a:t>4</a:t>
            </a:r>
          </a:p>
        </p:txBody>
      </p:sp>
      <p:sp>
        <p:nvSpPr>
          <p:cNvPr id="33" name="Rounded Rectangle 32"/>
          <p:cNvSpPr/>
          <p:nvPr/>
        </p:nvSpPr>
        <p:spPr>
          <a:xfrm>
            <a:off x="1554480" y="4846319"/>
            <a:ext cx="10149840" cy="10972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828800" y="4983479"/>
            <a:ext cx="9601200" cy="320040"/>
          </a:xfrm>
          <a:prstGeom prst="rect">
            <a:avLst/>
          </a:prstGeom>
          <a:noFill/>
        </p:spPr>
        <p:txBody>
          <a:bodyPr wrap="square" anchor="t">
            <a:spAutoFit/>
          </a:bodyPr>
          <a:lstStyle/>
          <a:p>
            <a:pPr algn="l"/>
            <a:r>
              <a:rPr sz="1600" b="1">
                <a:solidFill>
                  <a:srgbClr val="1E3A8A"/>
                </a:solidFill>
                <a:latin typeface="微软雅黑"/>
                <a:ea typeface="微软雅黑"/>
              </a:rPr>
              <a:t>循证依据</a:t>
            </a:r>
          </a:p>
        </p:txBody>
      </p:sp>
      <p:sp>
        <p:nvSpPr>
          <p:cNvPr id="35" name="TextBox 34"/>
          <p:cNvSpPr txBox="1"/>
          <p:nvPr/>
        </p:nvSpPr>
        <p:spPr>
          <a:xfrm>
            <a:off x="1828800" y="5349239"/>
            <a:ext cx="9601200" cy="502920"/>
          </a:xfrm>
          <a:prstGeom prst="rect">
            <a:avLst/>
          </a:prstGeom>
          <a:noFill/>
        </p:spPr>
        <p:txBody>
          <a:bodyPr wrap="square" anchor="t">
            <a:spAutoFit/>
          </a:bodyPr>
          <a:lstStyle/>
          <a:p>
            <a:pPr algn="l"/>
            <a:r>
              <a:rPr sz="1300" b="0">
                <a:solidFill>
                  <a:srgbClr val="1A1A1A"/>
                </a:solidFill>
                <a:latin typeface="微软雅黑"/>
                <a:ea typeface="微软雅黑"/>
              </a:rPr>
              <a:t>形成气体交换管理、排痰护理、跌倒/VTE/压疮防控等循证护理措施。</a:t>
            </a:r>
          </a:p>
        </p:txBody>
      </p:sp>
      <p:sp>
        <p:nvSpPr>
          <p:cNvPr id="36" name="Rounded Rectangle 35"/>
          <p:cNvSpPr/>
          <p:nvPr/>
        </p:nvSpPr>
        <p:spPr>
          <a:xfrm>
            <a:off x="2743200" y="5989320"/>
            <a:ext cx="2011680" cy="36576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0" y="5989320"/>
            <a:ext cx="2011680" cy="365760"/>
          </a:xfrm>
          <a:prstGeom prst="rect">
            <a:avLst/>
          </a:prstGeom>
          <a:noFill/>
        </p:spPr>
        <p:txBody>
          <a:bodyPr wrap="square" anchor="ctr">
            <a:spAutoFit/>
          </a:bodyPr>
          <a:lstStyle/>
          <a:p>
            <a:pPr algn="ctr"/>
            <a:r>
              <a:rPr sz="1100" b="1">
                <a:solidFill>
                  <a:srgbClr val="1E3A8A"/>
                </a:solidFill>
                <a:latin typeface="微软雅黑"/>
                <a:ea typeface="微软雅黑"/>
              </a:rPr>
              <a:t>知网 n=45</a:t>
            </a:r>
          </a:p>
        </p:txBody>
      </p:sp>
      <p:sp>
        <p:nvSpPr>
          <p:cNvPr id="38" name="Rounded Rectangle 37"/>
          <p:cNvSpPr/>
          <p:nvPr/>
        </p:nvSpPr>
        <p:spPr>
          <a:xfrm>
            <a:off x="4937760" y="5989320"/>
            <a:ext cx="2011680" cy="36576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37760" y="5989320"/>
            <a:ext cx="2011680" cy="365760"/>
          </a:xfrm>
          <a:prstGeom prst="rect">
            <a:avLst/>
          </a:prstGeom>
          <a:noFill/>
        </p:spPr>
        <p:txBody>
          <a:bodyPr wrap="square" anchor="ctr">
            <a:spAutoFit/>
          </a:bodyPr>
          <a:lstStyle/>
          <a:p>
            <a:pPr algn="ctr"/>
            <a:r>
              <a:rPr sz="1100" b="1">
                <a:solidFill>
                  <a:srgbClr val="1E3A8A"/>
                </a:solidFill>
                <a:latin typeface="微软雅黑"/>
                <a:ea typeface="微软雅黑"/>
              </a:rPr>
              <a:t>万方 n=26</a:t>
            </a:r>
          </a:p>
        </p:txBody>
      </p:sp>
      <p:sp>
        <p:nvSpPr>
          <p:cNvPr id="40" name="Rounded Rectangle 39"/>
          <p:cNvSpPr/>
          <p:nvPr/>
        </p:nvSpPr>
        <p:spPr>
          <a:xfrm>
            <a:off x="7132320" y="5989320"/>
            <a:ext cx="2011680" cy="36576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0" y="5989320"/>
            <a:ext cx="2011680" cy="365760"/>
          </a:xfrm>
          <a:prstGeom prst="rect">
            <a:avLst/>
          </a:prstGeom>
          <a:noFill/>
        </p:spPr>
        <p:txBody>
          <a:bodyPr wrap="square" anchor="ctr">
            <a:spAutoFit/>
          </a:bodyPr>
          <a:lstStyle/>
          <a:p>
            <a:pPr algn="ctr"/>
            <a:r>
              <a:rPr sz="1100" b="1">
                <a:solidFill>
                  <a:srgbClr val="1E3A8A"/>
                </a:solidFill>
                <a:latin typeface="微软雅黑"/>
                <a:ea typeface="微软雅黑"/>
              </a:rPr>
              <a:t>维普 n=18</a:t>
            </a:r>
          </a:p>
        </p:txBody>
      </p:sp>
      <p:sp>
        <p:nvSpPr>
          <p:cNvPr id="42" name="Rounded Rectangle 41"/>
          <p:cNvSpPr/>
          <p:nvPr/>
        </p:nvSpPr>
        <p:spPr>
          <a:xfrm>
            <a:off x="9326879" y="5989320"/>
            <a:ext cx="2011680" cy="36576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26879" y="5989320"/>
            <a:ext cx="2011680" cy="365760"/>
          </a:xfrm>
          <a:prstGeom prst="rect">
            <a:avLst/>
          </a:prstGeom>
          <a:noFill/>
        </p:spPr>
        <p:txBody>
          <a:bodyPr wrap="square" anchor="ctr">
            <a:spAutoFit/>
          </a:bodyPr>
          <a:lstStyle/>
          <a:p>
            <a:pPr algn="ctr"/>
            <a:r>
              <a:rPr sz="1100" b="1">
                <a:solidFill>
                  <a:srgbClr val="1E3A8A"/>
                </a:solidFill>
                <a:latin typeface="微软雅黑"/>
                <a:ea typeface="微软雅黑"/>
              </a:rPr>
              <a:t>中华医学会 n=23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健康问题</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ectangle 12"/>
          <p:cNvSpPr/>
          <p:nvPr/>
        </p:nvSpPr>
        <p:spPr>
          <a:xfrm>
            <a:off x="365760" y="960120"/>
            <a:ext cx="370332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960120"/>
            <a:ext cx="3703320" cy="502920"/>
          </a:xfrm>
          <a:prstGeom prst="rect">
            <a:avLst/>
          </a:prstGeom>
          <a:noFill/>
        </p:spPr>
        <p:txBody>
          <a:bodyPr wrap="square" anchor="ctr">
            <a:spAutoFit/>
          </a:bodyPr>
          <a:lstStyle/>
          <a:p>
            <a:pPr algn="ctr"/>
            <a:r>
              <a:rPr sz="1600" b="1">
                <a:solidFill>
                  <a:srgbClr val="FFFFFF"/>
                </a:solidFill>
                <a:latin typeface="微软雅黑"/>
                <a:ea typeface="微软雅黑"/>
              </a:rPr>
              <a:t>P  健康问题</a:t>
            </a:r>
          </a:p>
        </p:txBody>
      </p:sp>
      <p:sp>
        <p:nvSpPr>
          <p:cNvPr id="15" name="Rectangle 14"/>
          <p:cNvSpPr/>
          <p:nvPr/>
        </p:nvSpPr>
        <p:spPr>
          <a:xfrm>
            <a:off x="4251960" y="960120"/>
            <a:ext cx="3703320" cy="502920"/>
          </a:xfrm>
          <a:prstGeom prst="rect">
            <a:avLst/>
          </a:prstGeom>
          <a:solidFill>
            <a:srgbClr val="2E5B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51960" y="960120"/>
            <a:ext cx="3703320" cy="502920"/>
          </a:xfrm>
          <a:prstGeom prst="rect">
            <a:avLst/>
          </a:prstGeom>
          <a:noFill/>
        </p:spPr>
        <p:txBody>
          <a:bodyPr wrap="square" anchor="ctr">
            <a:spAutoFit/>
          </a:bodyPr>
          <a:lstStyle/>
          <a:p>
            <a:pPr algn="ctr"/>
            <a:r>
              <a:rPr sz="1600" b="1">
                <a:solidFill>
                  <a:srgbClr val="FFFFFF"/>
                </a:solidFill>
                <a:latin typeface="微软雅黑"/>
                <a:ea typeface="微软雅黑"/>
              </a:rPr>
              <a:t>E  相关因素</a:t>
            </a:r>
          </a:p>
        </p:txBody>
      </p:sp>
      <p:sp>
        <p:nvSpPr>
          <p:cNvPr id="17" name="Rectangle 16"/>
          <p:cNvSpPr/>
          <p:nvPr/>
        </p:nvSpPr>
        <p:spPr>
          <a:xfrm>
            <a:off x="8138160" y="960120"/>
            <a:ext cx="3703320" cy="50292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60" y="960120"/>
            <a:ext cx="3703320" cy="502920"/>
          </a:xfrm>
          <a:prstGeom prst="rect">
            <a:avLst/>
          </a:prstGeom>
          <a:noFill/>
        </p:spPr>
        <p:txBody>
          <a:bodyPr wrap="square" anchor="ctr">
            <a:spAutoFit/>
          </a:bodyPr>
          <a:lstStyle/>
          <a:p>
            <a:pPr algn="ctr"/>
            <a:r>
              <a:rPr sz="1600" b="1">
                <a:solidFill>
                  <a:srgbClr val="FFFFFF"/>
                </a:solidFill>
                <a:latin typeface="微软雅黑"/>
                <a:ea typeface="微软雅黑"/>
              </a:rPr>
              <a:t>S  症状和体征</a:t>
            </a:r>
          </a:p>
        </p:txBody>
      </p:sp>
      <p:sp>
        <p:nvSpPr>
          <p:cNvPr id="19" name="Rounded Rectangle 18"/>
          <p:cNvSpPr/>
          <p:nvPr/>
        </p:nvSpPr>
        <p:spPr>
          <a:xfrm>
            <a:off x="365760" y="1645920"/>
            <a:ext cx="3703320" cy="13258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1828800"/>
            <a:ext cx="3429000" cy="1005840"/>
          </a:xfrm>
          <a:prstGeom prst="rect">
            <a:avLst/>
          </a:prstGeom>
          <a:noFill/>
        </p:spPr>
        <p:txBody>
          <a:bodyPr wrap="square" anchor="t">
            <a:spAutoFit/>
          </a:bodyPr>
          <a:lstStyle/>
          <a:p>
            <a:pPr algn="l"/>
            <a:r>
              <a:rPr sz="1300" b="1">
                <a:solidFill>
                  <a:srgbClr val="1E3A8A"/>
                </a:solidFill>
                <a:latin typeface="微软雅黑"/>
                <a:ea typeface="微软雅黑"/>
              </a:rPr>
              <a:t>P1：气体交换受损</a:t>
            </a:r>
          </a:p>
        </p:txBody>
      </p:sp>
      <p:sp>
        <p:nvSpPr>
          <p:cNvPr id="21" name="Rounded Rectangle 20"/>
          <p:cNvSpPr/>
          <p:nvPr/>
        </p:nvSpPr>
        <p:spPr>
          <a:xfrm>
            <a:off x="4251960" y="1645920"/>
            <a:ext cx="3703320" cy="132588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1828800"/>
            <a:ext cx="3429000" cy="1005840"/>
          </a:xfrm>
          <a:prstGeom prst="rect">
            <a:avLst/>
          </a:prstGeom>
          <a:noFill/>
        </p:spPr>
        <p:txBody>
          <a:bodyPr wrap="square" anchor="t">
            <a:spAutoFit/>
          </a:bodyPr>
          <a:lstStyle/>
          <a:p>
            <a:pPr algn="l"/>
            <a:r>
              <a:rPr sz="1300" b="0">
                <a:solidFill>
                  <a:srgbClr val="1A1A1A"/>
                </a:solidFill>
                <a:latin typeface="微软雅黑"/>
                <a:ea typeface="微软雅黑"/>
              </a:rPr>
              <a:t>与COPD导致的肺气肿改变、血流比例失调及铜绿假单胞菌感染加重炎症反应有关</a:t>
            </a:r>
          </a:p>
        </p:txBody>
      </p:sp>
      <p:sp>
        <p:nvSpPr>
          <p:cNvPr id="23" name="Rounded Rectangle 22"/>
          <p:cNvSpPr/>
          <p:nvPr/>
        </p:nvSpPr>
        <p:spPr>
          <a:xfrm>
            <a:off x="8138160" y="1645920"/>
            <a:ext cx="3703320" cy="132588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20" y="1828800"/>
            <a:ext cx="3429000" cy="1005840"/>
          </a:xfrm>
          <a:prstGeom prst="rect">
            <a:avLst/>
          </a:prstGeom>
          <a:noFill/>
        </p:spPr>
        <p:txBody>
          <a:bodyPr wrap="square" anchor="t">
            <a:spAutoFit/>
          </a:bodyPr>
          <a:lstStyle/>
          <a:p>
            <a:pPr algn="l"/>
            <a:r>
              <a:rPr sz="1300" b="0">
                <a:solidFill>
                  <a:srgbClr val="1A1A1A"/>
                </a:solidFill>
                <a:latin typeface="微软雅黑"/>
                <a:ea typeface="微软雅黑"/>
              </a:rPr>
              <a:t>活动后气短（需辅助呼吸）；夜间不能平卧；SpO₂下降；桶状胸</a:t>
            </a:r>
          </a:p>
        </p:txBody>
      </p:sp>
      <p:sp>
        <p:nvSpPr>
          <p:cNvPr id="25" name="Rounded Rectangle 24"/>
          <p:cNvSpPr/>
          <p:nvPr/>
        </p:nvSpPr>
        <p:spPr>
          <a:xfrm>
            <a:off x="365760" y="3154680"/>
            <a:ext cx="3703320" cy="13258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3337560"/>
            <a:ext cx="3429000" cy="1005840"/>
          </a:xfrm>
          <a:prstGeom prst="rect">
            <a:avLst/>
          </a:prstGeom>
          <a:noFill/>
        </p:spPr>
        <p:txBody>
          <a:bodyPr wrap="square" anchor="t">
            <a:spAutoFit/>
          </a:bodyPr>
          <a:lstStyle/>
          <a:p>
            <a:pPr algn="l"/>
            <a:r>
              <a:rPr sz="1300" b="1">
                <a:solidFill>
                  <a:srgbClr val="1E3A8A"/>
                </a:solidFill>
                <a:latin typeface="微软雅黑"/>
                <a:ea typeface="微软雅黑"/>
              </a:rPr>
              <a:t>P2：清理呼吸道无效</a:t>
            </a:r>
          </a:p>
        </p:txBody>
      </p:sp>
      <p:sp>
        <p:nvSpPr>
          <p:cNvPr id="27" name="Rounded Rectangle 26"/>
          <p:cNvSpPr/>
          <p:nvPr/>
        </p:nvSpPr>
        <p:spPr>
          <a:xfrm>
            <a:off x="4251960" y="3154680"/>
            <a:ext cx="3703320" cy="132588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0" y="3337560"/>
            <a:ext cx="3429000" cy="1005840"/>
          </a:xfrm>
          <a:prstGeom prst="rect">
            <a:avLst/>
          </a:prstGeom>
          <a:noFill/>
        </p:spPr>
        <p:txBody>
          <a:bodyPr wrap="square" anchor="t">
            <a:spAutoFit/>
          </a:bodyPr>
          <a:lstStyle/>
          <a:p>
            <a:pPr algn="l"/>
            <a:r>
              <a:rPr sz="1300" b="0">
                <a:solidFill>
                  <a:srgbClr val="1A1A1A"/>
                </a:solidFill>
                <a:latin typeface="微软雅黑"/>
                <a:ea typeface="微软雅黑"/>
              </a:rPr>
              <a:t>与痰液黏稠、咳嗽无力及支气管痉挛有关</a:t>
            </a:r>
          </a:p>
        </p:txBody>
      </p:sp>
      <p:sp>
        <p:nvSpPr>
          <p:cNvPr id="29" name="Rounded Rectangle 28"/>
          <p:cNvSpPr/>
          <p:nvPr/>
        </p:nvSpPr>
        <p:spPr>
          <a:xfrm>
            <a:off x="8138160" y="3154680"/>
            <a:ext cx="3703320" cy="132588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20" y="3337560"/>
            <a:ext cx="3429000" cy="1005840"/>
          </a:xfrm>
          <a:prstGeom prst="rect">
            <a:avLst/>
          </a:prstGeom>
          <a:noFill/>
        </p:spPr>
        <p:txBody>
          <a:bodyPr wrap="square" anchor="t">
            <a:spAutoFit/>
          </a:bodyPr>
          <a:lstStyle/>
          <a:p>
            <a:pPr algn="l"/>
            <a:r>
              <a:rPr sz="1300" b="0">
                <a:solidFill>
                  <a:srgbClr val="1A1A1A"/>
                </a:solidFill>
                <a:latin typeface="微软雅黑"/>
                <a:ea typeface="微软雅黑"/>
              </a:rPr>
              <a:t>咳痰不畅、痰液黏稠；肺部听诊湿啰音；无效咳嗽</a:t>
            </a:r>
          </a:p>
        </p:txBody>
      </p:sp>
      <p:sp>
        <p:nvSpPr>
          <p:cNvPr id="31" name="Rounded Rectangle 30"/>
          <p:cNvSpPr/>
          <p:nvPr/>
        </p:nvSpPr>
        <p:spPr>
          <a:xfrm>
            <a:off x="365760" y="4663440"/>
            <a:ext cx="3703320" cy="132588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4846320"/>
            <a:ext cx="3429000" cy="1005840"/>
          </a:xfrm>
          <a:prstGeom prst="rect">
            <a:avLst/>
          </a:prstGeom>
          <a:noFill/>
        </p:spPr>
        <p:txBody>
          <a:bodyPr wrap="square" anchor="t">
            <a:spAutoFit/>
          </a:bodyPr>
          <a:lstStyle/>
          <a:p>
            <a:pPr algn="l"/>
            <a:r>
              <a:rPr sz="1300" b="1">
                <a:solidFill>
                  <a:srgbClr val="1E3A8A"/>
                </a:solidFill>
                <a:latin typeface="微软雅黑"/>
                <a:ea typeface="微软雅黑"/>
              </a:rPr>
              <a:t>P3：多重并发症风险</a:t>
            </a:r>
          </a:p>
        </p:txBody>
      </p:sp>
      <p:sp>
        <p:nvSpPr>
          <p:cNvPr id="33" name="Rounded Rectangle 32"/>
          <p:cNvSpPr/>
          <p:nvPr/>
        </p:nvSpPr>
        <p:spPr>
          <a:xfrm>
            <a:off x="4251960" y="4663440"/>
            <a:ext cx="3703320" cy="132588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0" y="4846320"/>
            <a:ext cx="3429000" cy="1005840"/>
          </a:xfrm>
          <a:prstGeom prst="rect">
            <a:avLst/>
          </a:prstGeom>
          <a:noFill/>
        </p:spPr>
        <p:txBody>
          <a:bodyPr wrap="square" anchor="t">
            <a:spAutoFit/>
          </a:bodyPr>
          <a:lstStyle/>
          <a:p>
            <a:pPr algn="l"/>
            <a:r>
              <a:rPr sz="1300" b="0">
                <a:solidFill>
                  <a:srgbClr val="1A1A1A"/>
                </a:solidFill>
                <a:latin typeface="微软雅黑"/>
                <a:ea typeface="微软雅黑"/>
              </a:rPr>
              <a:t>与患者活动耐力下降、血栓风险有关</a:t>
            </a:r>
          </a:p>
        </p:txBody>
      </p:sp>
      <p:sp>
        <p:nvSpPr>
          <p:cNvPr id="35" name="Rounded Rectangle 34"/>
          <p:cNvSpPr/>
          <p:nvPr/>
        </p:nvSpPr>
        <p:spPr>
          <a:xfrm>
            <a:off x="8138160" y="4663440"/>
            <a:ext cx="3703320" cy="132588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75320" y="4846320"/>
            <a:ext cx="3429000" cy="1005840"/>
          </a:xfrm>
          <a:prstGeom prst="rect">
            <a:avLst/>
          </a:prstGeom>
          <a:noFill/>
        </p:spPr>
        <p:txBody>
          <a:bodyPr wrap="square" anchor="t">
            <a:spAutoFit/>
          </a:bodyPr>
          <a:lstStyle/>
          <a:p>
            <a:pPr algn="l"/>
            <a:r>
              <a:rPr sz="1300" b="0">
                <a:solidFill>
                  <a:srgbClr val="1A1A1A"/>
                </a:solidFill>
                <a:latin typeface="微软雅黑"/>
                <a:ea typeface="微软雅黑"/>
              </a:rPr>
              <a:t>跌倒/坠床、VTE、压疮 Braden 风险均为高风险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护理措施</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365760" y="914400"/>
            <a:ext cx="292608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914400"/>
            <a:ext cx="2926080" cy="411480"/>
          </a:xfrm>
          <a:prstGeom prst="rect">
            <a:avLst/>
          </a:prstGeom>
          <a:noFill/>
        </p:spPr>
        <p:txBody>
          <a:bodyPr wrap="square" anchor="ctr">
            <a:spAutoFit/>
          </a:bodyPr>
          <a:lstStyle/>
          <a:p>
            <a:pPr algn="ctr"/>
            <a:r>
              <a:rPr sz="1400" b="1">
                <a:solidFill>
                  <a:srgbClr val="FFFFFF"/>
                </a:solidFill>
                <a:latin typeface="微软雅黑"/>
                <a:ea typeface="微软雅黑"/>
              </a:rPr>
              <a:t>诊断一  气体交换受损</a:t>
            </a:r>
          </a:p>
        </p:txBody>
      </p:sp>
      <p:sp>
        <p:nvSpPr>
          <p:cNvPr id="15" name="Rounded Rectangle 14"/>
          <p:cNvSpPr/>
          <p:nvPr/>
        </p:nvSpPr>
        <p:spPr>
          <a:xfrm>
            <a:off x="3474720" y="914400"/>
            <a:ext cx="2926080" cy="4114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914400"/>
            <a:ext cx="2926080" cy="411480"/>
          </a:xfrm>
          <a:prstGeom prst="rect">
            <a:avLst/>
          </a:prstGeom>
          <a:noFill/>
        </p:spPr>
        <p:txBody>
          <a:bodyPr wrap="square" anchor="ctr">
            <a:spAutoFit/>
          </a:bodyPr>
          <a:lstStyle/>
          <a:p>
            <a:pPr algn="ctr"/>
            <a:r>
              <a:rPr sz="1300" b="1">
                <a:solidFill>
                  <a:srgbClr val="1E3A8A"/>
                </a:solidFill>
                <a:latin typeface="微软雅黑"/>
                <a:ea typeface="微软雅黑"/>
              </a:rPr>
              <a:t>气体交换 + 感染控制</a:t>
            </a:r>
          </a:p>
        </p:txBody>
      </p:sp>
      <p:sp>
        <p:nvSpPr>
          <p:cNvPr id="17" name="TextBox 16"/>
          <p:cNvSpPr txBox="1"/>
          <p:nvPr/>
        </p:nvSpPr>
        <p:spPr>
          <a:xfrm>
            <a:off x="365760" y="1463040"/>
            <a:ext cx="11430000" cy="365760"/>
          </a:xfrm>
          <a:prstGeom prst="rect">
            <a:avLst/>
          </a:prstGeom>
          <a:noFill/>
        </p:spPr>
        <p:txBody>
          <a:bodyPr wrap="square" anchor="t">
            <a:spAutoFit/>
          </a:bodyPr>
          <a:lstStyle/>
          <a:p>
            <a:pPr algn="l"/>
            <a:r>
              <a:rPr sz="1500" b="1">
                <a:solidFill>
                  <a:srgbClr val="4A5568"/>
                </a:solidFill>
                <a:latin typeface="微软雅黑"/>
                <a:ea typeface="微软雅黑"/>
              </a:rPr>
              <a:t>如何处理患者的气体交换受损症状，改善患者呼吸？</a:t>
            </a:r>
          </a:p>
        </p:txBody>
      </p:sp>
      <p:sp>
        <p:nvSpPr>
          <p:cNvPr id="18" name="Rounded Rectangle 17"/>
          <p:cNvSpPr/>
          <p:nvPr/>
        </p:nvSpPr>
        <p:spPr>
          <a:xfrm>
            <a:off x="365760" y="1965960"/>
            <a:ext cx="11430000" cy="4114800"/>
          </a:xfrm>
          <a:prstGeom prst="roundRect">
            <a:avLst/>
          </a:prstGeom>
          <a:solidFill>
            <a:srgbClr val="F5F8FC"/>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148840"/>
            <a:ext cx="7315200" cy="365760"/>
          </a:xfrm>
          <a:prstGeom prst="rect">
            <a:avLst/>
          </a:prstGeom>
          <a:noFill/>
        </p:spPr>
        <p:txBody>
          <a:bodyPr wrap="square" anchor="t">
            <a:spAutoFit/>
          </a:bodyPr>
          <a:lstStyle/>
          <a:p>
            <a:pPr algn="l"/>
            <a:r>
              <a:rPr sz="1600" b="1">
                <a:solidFill>
                  <a:srgbClr val="1E3A8A"/>
                </a:solidFill>
                <a:latin typeface="微软雅黑"/>
                <a:ea typeface="微软雅黑"/>
              </a:rPr>
              <a:t>急性期 · 氧疗精准化管理</a:t>
            </a:r>
          </a:p>
        </p:txBody>
      </p:sp>
      <p:sp>
        <p:nvSpPr>
          <p:cNvPr id="20" name="TextBox 19"/>
          <p:cNvSpPr txBox="1"/>
          <p:nvPr/>
        </p:nvSpPr>
        <p:spPr>
          <a:xfrm>
            <a:off x="731520" y="2743200"/>
            <a:ext cx="10789920" cy="457200"/>
          </a:xfrm>
          <a:prstGeom prst="rect">
            <a:avLst/>
          </a:prstGeom>
          <a:noFill/>
        </p:spPr>
        <p:txBody>
          <a:bodyPr wrap="square" anchor="t">
            <a:spAutoFit/>
          </a:bodyPr>
          <a:lstStyle/>
          <a:p>
            <a:pPr algn="l"/>
            <a:r>
              <a:rPr sz="1400" b="0">
                <a:solidFill>
                  <a:srgbClr val="1A1A1A"/>
                </a:solidFill>
                <a:latin typeface="微软雅黑"/>
                <a:ea typeface="微软雅黑"/>
              </a:rPr>
              <a:t>▶ 给予文丘里面罩吸氧，根据动脉血气（每4小时监测）调整氧流量，维持 SpO₂ 88%–92%</a:t>
            </a:r>
          </a:p>
        </p:txBody>
      </p:sp>
      <p:sp>
        <p:nvSpPr>
          <p:cNvPr id="21" name="TextBox 20"/>
          <p:cNvSpPr txBox="1"/>
          <p:nvPr/>
        </p:nvSpPr>
        <p:spPr>
          <a:xfrm>
            <a:off x="731520" y="3246120"/>
            <a:ext cx="10789920" cy="457200"/>
          </a:xfrm>
          <a:prstGeom prst="rect">
            <a:avLst/>
          </a:prstGeom>
          <a:noFill/>
        </p:spPr>
        <p:txBody>
          <a:bodyPr wrap="square" anchor="t">
            <a:spAutoFit/>
          </a:bodyPr>
          <a:lstStyle/>
          <a:p>
            <a:pPr algn="l"/>
            <a:r>
              <a:rPr sz="1400" b="0">
                <a:solidFill>
                  <a:srgbClr val="1A1A1A"/>
                </a:solidFill>
                <a:latin typeface="微软雅黑"/>
                <a:ea typeface="微软雅黑"/>
              </a:rPr>
              <a:t>▶ 床头悬挂“低流量吸氧”警示牌，班班交接氧疗参数</a:t>
            </a:r>
          </a:p>
        </p:txBody>
      </p:sp>
      <p:sp>
        <p:nvSpPr>
          <p:cNvPr id="22" name="TextBox 21"/>
          <p:cNvSpPr txBox="1"/>
          <p:nvPr/>
        </p:nvSpPr>
        <p:spPr>
          <a:xfrm>
            <a:off x="731520" y="3749040"/>
            <a:ext cx="10789920" cy="457200"/>
          </a:xfrm>
          <a:prstGeom prst="rect">
            <a:avLst/>
          </a:prstGeom>
          <a:noFill/>
        </p:spPr>
        <p:txBody>
          <a:bodyPr wrap="square" anchor="t">
            <a:spAutoFit/>
          </a:bodyPr>
          <a:lstStyle/>
          <a:p>
            <a:pPr algn="l"/>
            <a:r>
              <a:rPr sz="1400" b="0">
                <a:solidFill>
                  <a:srgbClr val="1A1A1A"/>
                </a:solidFill>
                <a:latin typeface="微软雅黑"/>
                <a:ea typeface="微软雅黑"/>
              </a:rPr>
              <a:t>▶ 密切观察呼吸频率、节律、发绀及意识变化</a:t>
            </a:r>
          </a:p>
        </p:txBody>
      </p:sp>
      <p:sp>
        <p:nvSpPr>
          <p:cNvPr id="23" name="TextBox 22"/>
          <p:cNvSpPr txBox="1"/>
          <p:nvPr/>
        </p:nvSpPr>
        <p:spPr>
          <a:xfrm>
            <a:off x="731520" y="4251960"/>
            <a:ext cx="10789920" cy="457200"/>
          </a:xfrm>
          <a:prstGeom prst="rect">
            <a:avLst/>
          </a:prstGeom>
          <a:noFill/>
        </p:spPr>
        <p:txBody>
          <a:bodyPr wrap="square" anchor="t">
            <a:spAutoFit/>
          </a:bodyPr>
          <a:lstStyle/>
          <a:p>
            <a:pPr algn="l"/>
            <a:r>
              <a:rPr sz="1400" b="0">
                <a:solidFill>
                  <a:srgbClr val="1A1A1A"/>
                </a:solidFill>
                <a:latin typeface="微软雅黑"/>
                <a:ea typeface="微软雅黑"/>
              </a:rPr>
              <a:t>▶ 结合循证证据实施无创通气相关护理（必要时）</a:t>
            </a:r>
          </a:p>
        </p:txBody>
      </p:sp>
      <p:sp>
        <p:nvSpPr>
          <p:cNvPr id="24" name="TextBox 23"/>
          <p:cNvSpPr txBox="1"/>
          <p:nvPr/>
        </p:nvSpPr>
        <p:spPr>
          <a:xfrm>
            <a:off x="365760" y="6446520"/>
            <a:ext cx="11430000" cy="365760"/>
          </a:xfrm>
          <a:prstGeom prst="rect">
            <a:avLst/>
          </a:prstGeom>
          <a:noFill/>
        </p:spPr>
        <p:txBody>
          <a:bodyPr wrap="square" anchor="t">
            <a:spAutoFit/>
          </a:bodyPr>
          <a:lstStyle/>
          <a:p>
            <a:pPr algn="l"/>
            <a:r>
              <a:rPr sz="900" b="0">
                <a:solidFill>
                  <a:srgbClr val="90A0B0"/>
                </a:solidFill>
                <a:latin typeface="微软雅黑"/>
                <a:ea typeface="微软雅黑"/>
              </a:rPr>
              <a:t>[6]王亮等.临床合理用药,2025,18(16):5-7,26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护理措施</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365760" y="914400"/>
            <a:ext cx="292608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914400"/>
            <a:ext cx="2926080" cy="411480"/>
          </a:xfrm>
          <a:prstGeom prst="rect">
            <a:avLst/>
          </a:prstGeom>
          <a:noFill/>
        </p:spPr>
        <p:txBody>
          <a:bodyPr wrap="square" anchor="ctr">
            <a:spAutoFit/>
          </a:bodyPr>
          <a:lstStyle/>
          <a:p>
            <a:pPr algn="ctr"/>
            <a:r>
              <a:rPr sz="1400" b="1">
                <a:solidFill>
                  <a:srgbClr val="FFFFFF"/>
                </a:solidFill>
                <a:latin typeface="微软雅黑"/>
                <a:ea typeface="微软雅黑"/>
              </a:rPr>
              <a:t>诊断一  气体交换受损</a:t>
            </a:r>
          </a:p>
        </p:txBody>
      </p:sp>
      <p:sp>
        <p:nvSpPr>
          <p:cNvPr id="15" name="Rounded Rectangle 14"/>
          <p:cNvSpPr/>
          <p:nvPr/>
        </p:nvSpPr>
        <p:spPr>
          <a:xfrm>
            <a:off x="3474720" y="914400"/>
            <a:ext cx="2011680" cy="411480"/>
          </a:xfrm>
          <a:prstGeom prst="round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914400"/>
            <a:ext cx="2011680" cy="411480"/>
          </a:xfrm>
          <a:prstGeom prst="rect">
            <a:avLst/>
          </a:prstGeom>
          <a:noFill/>
        </p:spPr>
        <p:txBody>
          <a:bodyPr wrap="square" anchor="ctr">
            <a:spAutoFit/>
          </a:bodyPr>
          <a:lstStyle/>
          <a:p>
            <a:pPr algn="ctr"/>
            <a:r>
              <a:rPr sz="1300" b="1">
                <a:solidFill>
                  <a:srgbClr val="FFFFFF"/>
                </a:solidFill>
                <a:latin typeface="微软雅黑"/>
                <a:ea typeface="微软雅黑"/>
              </a:rPr>
              <a:t>急性期</a:t>
            </a:r>
          </a:p>
        </p:txBody>
      </p:sp>
      <p:sp>
        <p:nvSpPr>
          <p:cNvPr id="17" name="Rounded Rectangle 16"/>
          <p:cNvSpPr/>
          <p:nvPr/>
        </p:nvSpPr>
        <p:spPr>
          <a:xfrm>
            <a:off x="365760" y="1554480"/>
            <a:ext cx="5577840" cy="4480560"/>
          </a:xfrm>
          <a:prstGeom prst="roundRect">
            <a:avLst/>
          </a:prstGeom>
          <a:solidFill>
            <a:srgbClr val="FFFFFF"/>
          </a:solidFill>
          <a:ln w="25400">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1554480"/>
            <a:ext cx="5577840" cy="5486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1645920"/>
            <a:ext cx="5577840" cy="365760"/>
          </a:xfrm>
          <a:prstGeom prst="rect">
            <a:avLst/>
          </a:prstGeom>
          <a:noFill/>
        </p:spPr>
        <p:txBody>
          <a:bodyPr wrap="square" anchor="t">
            <a:spAutoFit/>
          </a:bodyPr>
          <a:lstStyle/>
          <a:p>
            <a:pPr algn="ctr"/>
            <a:r>
              <a:rPr sz="1800" b="1">
                <a:solidFill>
                  <a:srgbClr val="FFFFFF"/>
                </a:solidFill>
                <a:latin typeface="微软雅黑"/>
                <a:ea typeface="微软雅黑"/>
              </a:rPr>
              <a:t>抗感染护理</a:t>
            </a:r>
          </a:p>
        </p:txBody>
      </p:sp>
      <p:sp>
        <p:nvSpPr>
          <p:cNvPr id="20" name="TextBox 19"/>
          <p:cNvSpPr txBox="1"/>
          <p:nvPr/>
        </p:nvSpPr>
        <p:spPr>
          <a:xfrm>
            <a:off x="640080" y="2331720"/>
            <a:ext cx="5029200" cy="502920"/>
          </a:xfrm>
          <a:prstGeom prst="rect">
            <a:avLst/>
          </a:prstGeom>
          <a:noFill/>
        </p:spPr>
        <p:txBody>
          <a:bodyPr wrap="square" anchor="t">
            <a:spAutoFit/>
          </a:bodyPr>
          <a:lstStyle/>
          <a:p>
            <a:pPr algn="l"/>
            <a:r>
              <a:rPr sz="1400" b="0">
                <a:solidFill>
                  <a:srgbClr val="1A1A1A"/>
                </a:solidFill>
                <a:latin typeface="微软雅黑"/>
                <a:ea typeface="微软雅黑"/>
              </a:rPr>
              <a:t>●  静脉输注左氧氟沙星（0.5 g q12h）</a:t>
            </a:r>
          </a:p>
        </p:txBody>
      </p:sp>
      <p:sp>
        <p:nvSpPr>
          <p:cNvPr id="21" name="TextBox 20"/>
          <p:cNvSpPr txBox="1"/>
          <p:nvPr/>
        </p:nvSpPr>
        <p:spPr>
          <a:xfrm>
            <a:off x="640080" y="2926080"/>
            <a:ext cx="5029200" cy="502920"/>
          </a:xfrm>
          <a:prstGeom prst="rect">
            <a:avLst/>
          </a:prstGeom>
          <a:noFill/>
        </p:spPr>
        <p:txBody>
          <a:bodyPr wrap="square" anchor="t">
            <a:spAutoFit/>
          </a:bodyPr>
          <a:lstStyle/>
          <a:p>
            <a:pPr algn="l"/>
            <a:r>
              <a:rPr sz="1400" b="0">
                <a:solidFill>
                  <a:srgbClr val="1A1A1A"/>
                </a:solidFill>
                <a:latin typeface="微软雅黑"/>
                <a:ea typeface="微软雅黑"/>
              </a:rPr>
              <a:t>●  输注前核查皮试结果，控制滴速（60滴/分）</a:t>
            </a:r>
          </a:p>
        </p:txBody>
      </p:sp>
      <p:sp>
        <p:nvSpPr>
          <p:cNvPr id="22" name="TextBox 21"/>
          <p:cNvSpPr txBox="1"/>
          <p:nvPr/>
        </p:nvSpPr>
        <p:spPr>
          <a:xfrm>
            <a:off x="640080" y="3520440"/>
            <a:ext cx="5029200" cy="502920"/>
          </a:xfrm>
          <a:prstGeom prst="rect">
            <a:avLst/>
          </a:prstGeom>
          <a:noFill/>
        </p:spPr>
        <p:txBody>
          <a:bodyPr wrap="square" anchor="t">
            <a:spAutoFit/>
          </a:bodyPr>
          <a:lstStyle/>
          <a:p>
            <a:pPr algn="l"/>
            <a:r>
              <a:rPr sz="1400" b="0">
                <a:solidFill>
                  <a:srgbClr val="1A1A1A"/>
                </a:solidFill>
                <a:latin typeface="微软雅黑"/>
                <a:ea typeface="微软雅黑"/>
              </a:rPr>
              <a:t>●  输注后观察皮疹、消化道反应</a:t>
            </a:r>
          </a:p>
        </p:txBody>
      </p:sp>
      <p:sp>
        <p:nvSpPr>
          <p:cNvPr id="23" name="TextBox 22"/>
          <p:cNvSpPr txBox="1"/>
          <p:nvPr/>
        </p:nvSpPr>
        <p:spPr>
          <a:xfrm>
            <a:off x="640080" y="4114800"/>
            <a:ext cx="5029200" cy="502920"/>
          </a:xfrm>
          <a:prstGeom prst="rect">
            <a:avLst/>
          </a:prstGeom>
          <a:noFill/>
        </p:spPr>
        <p:txBody>
          <a:bodyPr wrap="square" anchor="t">
            <a:spAutoFit/>
          </a:bodyPr>
          <a:lstStyle/>
          <a:p>
            <a:pPr algn="l"/>
            <a:r>
              <a:rPr sz="1400" b="0">
                <a:solidFill>
                  <a:srgbClr val="1A1A1A"/>
                </a:solidFill>
                <a:latin typeface="微软雅黑"/>
                <a:ea typeface="微软雅黑"/>
              </a:rPr>
              <a:t>●  单间隔离：专用听诊器、体温计</a:t>
            </a:r>
          </a:p>
        </p:txBody>
      </p:sp>
      <p:sp>
        <p:nvSpPr>
          <p:cNvPr id="24" name="TextBox 23"/>
          <p:cNvSpPr txBox="1"/>
          <p:nvPr/>
        </p:nvSpPr>
        <p:spPr>
          <a:xfrm>
            <a:off x="640080" y="4709160"/>
            <a:ext cx="5029200" cy="502920"/>
          </a:xfrm>
          <a:prstGeom prst="rect">
            <a:avLst/>
          </a:prstGeom>
          <a:noFill/>
        </p:spPr>
        <p:txBody>
          <a:bodyPr wrap="square" anchor="t">
            <a:spAutoFit/>
          </a:bodyPr>
          <a:lstStyle/>
          <a:p>
            <a:pPr algn="l"/>
            <a:r>
              <a:rPr sz="1400" b="0">
                <a:solidFill>
                  <a:srgbClr val="1A1A1A"/>
                </a:solidFill>
                <a:latin typeface="微软雅黑"/>
                <a:ea typeface="微软雅黑"/>
              </a:rPr>
              <a:t>●  医疗垃圾用双层黄色袋密封</a:t>
            </a:r>
          </a:p>
        </p:txBody>
      </p:sp>
      <p:sp>
        <p:nvSpPr>
          <p:cNvPr id="25" name="Rounded Rectangle 24"/>
          <p:cNvSpPr/>
          <p:nvPr/>
        </p:nvSpPr>
        <p:spPr>
          <a:xfrm>
            <a:off x="6217920" y="1554480"/>
            <a:ext cx="5577840" cy="4480560"/>
          </a:xfrm>
          <a:prstGeom prst="roundRect">
            <a:avLst/>
          </a:prstGeom>
          <a:solidFill>
            <a:srgbClr val="FFFFFF"/>
          </a:solidFill>
          <a:ln w="25400">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1554480"/>
            <a:ext cx="5577840" cy="5486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1645920"/>
            <a:ext cx="5577840" cy="365760"/>
          </a:xfrm>
          <a:prstGeom prst="rect">
            <a:avLst/>
          </a:prstGeom>
          <a:noFill/>
        </p:spPr>
        <p:txBody>
          <a:bodyPr wrap="square" anchor="t">
            <a:spAutoFit/>
          </a:bodyPr>
          <a:lstStyle/>
          <a:p>
            <a:pPr algn="ctr"/>
            <a:r>
              <a:rPr sz="1800" b="1">
                <a:solidFill>
                  <a:srgbClr val="FFFFFF"/>
                </a:solidFill>
                <a:latin typeface="微软雅黑"/>
                <a:ea typeface="微软雅黑"/>
              </a:rPr>
              <a:t>环境管理</a:t>
            </a:r>
          </a:p>
        </p:txBody>
      </p:sp>
      <p:sp>
        <p:nvSpPr>
          <p:cNvPr id="28" name="TextBox 27"/>
          <p:cNvSpPr txBox="1"/>
          <p:nvPr/>
        </p:nvSpPr>
        <p:spPr>
          <a:xfrm>
            <a:off x="6492240" y="2331720"/>
            <a:ext cx="5029200" cy="502920"/>
          </a:xfrm>
          <a:prstGeom prst="rect">
            <a:avLst/>
          </a:prstGeom>
          <a:noFill/>
        </p:spPr>
        <p:txBody>
          <a:bodyPr wrap="square" anchor="t">
            <a:spAutoFit/>
          </a:bodyPr>
          <a:lstStyle/>
          <a:p>
            <a:pPr algn="l"/>
            <a:r>
              <a:rPr sz="1400" b="0">
                <a:solidFill>
                  <a:srgbClr val="1A1A1A"/>
                </a:solidFill>
                <a:latin typeface="微软雅黑"/>
                <a:ea typeface="微软雅黑"/>
              </a:rPr>
              <a:t>●  保持病房空气清新</a:t>
            </a:r>
          </a:p>
        </p:txBody>
      </p:sp>
      <p:sp>
        <p:nvSpPr>
          <p:cNvPr id="29" name="TextBox 28"/>
          <p:cNvSpPr txBox="1"/>
          <p:nvPr/>
        </p:nvSpPr>
        <p:spPr>
          <a:xfrm>
            <a:off x="6492240" y="2926080"/>
            <a:ext cx="5029200" cy="502920"/>
          </a:xfrm>
          <a:prstGeom prst="rect">
            <a:avLst/>
          </a:prstGeom>
          <a:noFill/>
        </p:spPr>
        <p:txBody>
          <a:bodyPr wrap="square" anchor="t">
            <a:spAutoFit/>
          </a:bodyPr>
          <a:lstStyle/>
          <a:p>
            <a:pPr algn="l"/>
            <a:r>
              <a:rPr sz="1400" b="0">
                <a:solidFill>
                  <a:srgbClr val="1A1A1A"/>
                </a:solidFill>
                <a:latin typeface="微软雅黑"/>
                <a:ea typeface="微软雅黑"/>
              </a:rPr>
              <a:t>●  温度控制在22–24℃</a:t>
            </a:r>
          </a:p>
        </p:txBody>
      </p:sp>
      <p:sp>
        <p:nvSpPr>
          <p:cNvPr id="30" name="TextBox 29"/>
          <p:cNvSpPr txBox="1"/>
          <p:nvPr/>
        </p:nvSpPr>
        <p:spPr>
          <a:xfrm>
            <a:off x="6492240" y="3520440"/>
            <a:ext cx="5029200" cy="502920"/>
          </a:xfrm>
          <a:prstGeom prst="rect">
            <a:avLst/>
          </a:prstGeom>
          <a:noFill/>
        </p:spPr>
        <p:txBody>
          <a:bodyPr wrap="square" anchor="t">
            <a:spAutoFit/>
          </a:bodyPr>
          <a:lstStyle/>
          <a:p>
            <a:pPr algn="l"/>
            <a:r>
              <a:rPr sz="1400" b="0">
                <a:solidFill>
                  <a:srgbClr val="1A1A1A"/>
                </a:solidFill>
                <a:latin typeface="微软雅黑"/>
                <a:ea typeface="微软雅黑"/>
              </a:rPr>
              <a:t>●  湿度维持在50%–60%</a:t>
            </a:r>
          </a:p>
        </p:txBody>
      </p:sp>
      <p:sp>
        <p:nvSpPr>
          <p:cNvPr id="31" name="TextBox 30"/>
          <p:cNvSpPr txBox="1"/>
          <p:nvPr/>
        </p:nvSpPr>
        <p:spPr>
          <a:xfrm>
            <a:off x="6492240" y="4114800"/>
            <a:ext cx="5029200" cy="502920"/>
          </a:xfrm>
          <a:prstGeom prst="rect">
            <a:avLst/>
          </a:prstGeom>
          <a:noFill/>
        </p:spPr>
        <p:txBody>
          <a:bodyPr wrap="square" anchor="t">
            <a:spAutoFit/>
          </a:bodyPr>
          <a:lstStyle/>
          <a:p>
            <a:pPr algn="l"/>
            <a:r>
              <a:rPr sz="1400" b="0">
                <a:solidFill>
                  <a:srgbClr val="1A1A1A"/>
                </a:solidFill>
                <a:latin typeface="微软雅黑"/>
                <a:ea typeface="微软雅黑"/>
              </a:rPr>
              <a:t>●  定期进行空气消毒</a:t>
            </a:r>
          </a:p>
        </p:txBody>
      </p:sp>
      <p:sp>
        <p:nvSpPr>
          <p:cNvPr id="32" name="TextBox 31"/>
          <p:cNvSpPr txBox="1"/>
          <p:nvPr/>
        </p:nvSpPr>
        <p:spPr>
          <a:xfrm>
            <a:off x="6492240" y="4709160"/>
            <a:ext cx="5029200" cy="502920"/>
          </a:xfrm>
          <a:prstGeom prst="rect">
            <a:avLst/>
          </a:prstGeom>
          <a:noFill/>
        </p:spPr>
        <p:txBody>
          <a:bodyPr wrap="square" anchor="t">
            <a:spAutoFit/>
          </a:bodyPr>
          <a:lstStyle/>
          <a:p>
            <a:pPr algn="l"/>
            <a:r>
              <a:rPr sz="1400" b="0">
                <a:solidFill>
                  <a:srgbClr val="1A1A1A"/>
                </a:solidFill>
                <a:latin typeface="微软雅黑"/>
                <a:ea typeface="微软雅黑"/>
              </a:rPr>
              <a:t>●  适宜温湿度减少呼吸道刺激，改善舒适度[7]</a:t>
            </a:r>
          </a:p>
        </p:txBody>
      </p:sp>
      <p:sp>
        <p:nvSpPr>
          <p:cNvPr id="33" name="TextBox 32"/>
          <p:cNvSpPr txBox="1"/>
          <p:nvPr/>
        </p:nvSpPr>
        <p:spPr>
          <a:xfrm>
            <a:off x="365760" y="6446520"/>
            <a:ext cx="11430000" cy="365760"/>
          </a:xfrm>
          <a:prstGeom prst="rect">
            <a:avLst/>
          </a:prstGeom>
          <a:noFill/>
        </p:spPr>
        <p:txBody>
          <a:bodyPr wrap="square" anchor="t">
            <a:spAutoFit/>
          </a:bodyPr>
          <a:lstStyle/>
          <a:p>
            <a:pPr algn="l"/>
            <a:r>
              <a:rPr sz="900" b="0">
                <a:solidFill>
                  <a:srgbClr val="90A0B0"/>
                </a:solidFill>
                <a:latin typeface="微软雅黑"/>
                <a:ea typeface="微软雅黑"/>
              </a:rPr>
              <a:t>[7]王婷婷等.中西医结合护理(中英文),2025,11(3):41-44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护理措施</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365760" y="914400"/>
            <a:ext cx="292608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914400"/>
            <a:ext cx="2926080" cy="411480"/>
          </a:xfrm>
          <a:prstGeom prst="rect">
            <a:avLst/>
          </a:prstGeom>
          <a:noFill/>
        </p:spPr>
        <p:txBody>
          <a:bodyPr wrap="square" anchor="ctr">
            <a:spAutoFit/>
          </a:bodyPr>
          <a:lstStyle/>
          <a:p>
            <a:pPr algn="ctr"/>
            <a:r>
              <a:rPr sz="1400" b="1">
                <a:solidFill>
                  <a:srgbClr val="FFFFFF"/>
                </a:solidFill>
                <a:latin typeface="微软雅黑"/>
                <a:ea typeface="微软雅黑"/>
              </a:rPr>
              <a:t>诊断一  气体交换受损</a:t>
            </a:r>
          </a:p>
        </p:txBody>
      </p:sp>
      <p:sp>
        <p:nvSpPr>
          <p:cNvPr id="15" name="Rounded Rectangle 14"/>
          <p:cNvSpPr/>
          <p:nvPr/>
        </p:nvSpPr>
        <p:spPr>
          <a:xfrm>
            <a:off x="3474720" y="914400"/>
            <a:ext cx="2011680" cy="4114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914400"/>
            <a:ext cx="2011680" cy="411480"/>
          </a:xfrm>
          <a:prstGeom prst="rect">
            <a:avLst/>
          </a:prstGeom>
          <a:noFill/>
        </p:spPr>
        <p:txBody>
          <a:bodyPr wrap="square" anchor="ctr">
            <a:spAutoFit/>
          </a:bodyPr>
          <a:lstStyle/>
          <a:p>
            <a:pPr algn="ctr"/>
            <a:r>
              <a:rPr sz="1300" b="1">
                <a:solidFill>
                  <a:srgbClr val="FFFFFF"/>
                </a:solidFill>
                <a:latin typeface="微软雅黑"/>
                <a:ea typeface="微软雅黑"/>
              </a:rPr>
              <a:t>好转期</a:t>
            </a:r>
          </a:p>
        </p:txBody>
      </p:sp>
      <p:sp>
        <p:nvSpPr>
          <p:cNvPr id="17" name="Rounded Rectangle 16"/>
          <p:cNvSpPr/>
          <p:nvPr/>
        </p:nvSpPr>
        <p:spPr>
          <a:xfrm>
            <a:off x="365760" y="1508760"/>
            <a:ext cx="7132320" cy="4572000"/>
          </a:xfrm>
          <a:prstGeom prst="roundRect">
            <a:avLst/>
          </a:prstGeom>
          <a:solidFill>
            <a:srgbClr val="F5F8FC"/>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1691640"/>
            <a:ext cx="6400800" cy="365760"/>
          </a:xfrm>
          <a:prstGeom prst="rect">
            <a:avLst/>
          </a:prstGeom>
          <a:noFill/>
        </p:spPr>
        <p:txBody>
          <a:bodyPr wrap="square" anchor="t">
            <a:spAutoFit/>
          </a:bodyPr>
          <a:lstStyle/>
          <a:p>
            <a:pPr algn="l"/>
            <a:r>
              <a:rPr sz="1600" b="1">
                <a:solidFill>
                  <a:srgbClr val="1E3A8A"/>
                </a:solidFill>
                <a:latin typeface="微软雅黑"/>
                <a:ea typeface="微软雅黑"/>
              </a:rPr>
              <a:t>呼吸训练 · 强化措施</a:t>
            </a:r>
          </a:p>
        </p:txBody>
      </p:sp>
      <p:sp>
        <p:nvSpPr>
          <p:cNvPr id="19" name="TextBox 18"/>
          <p:cNvSpPr txBox="1"/>
          <p:nvPr/>
        </p:nvSpPr>
        <p:spPr>
          <a:xfrm>
            <a:off x="640080" y="2194560"/>
            <a:ext cx="6675120" cy="365760"/>
          </a:xfrm>
          <a:prstGeom prst="rect">
            <a:avLst/>
          </a:prstGeom>
          <a:noFill/>
        </p:spPr>
        <p:txBody>
          <a:bodyPr wrap="square" anchor="t">
            <a:spAutoFit/>
          </a:bodyPr>
          <a:lstStyle/>
          <a:p>
            <a:pPr algn="l"/>
            <a:r>
              <a:rPr sz="1300" b="0">
                <a:solidFill>
                  <a:srgbClr val="1A1A1A"/>
                </a:solidFill>
                <a:latin typeface="微软雅黑"/>
                <a:ea typeface="微软雅黑"/>
              </a:rPr>
              <a:t>▶ 指导缩唇呼吸 + 腹式呼吸组合训练</a:t>
            </a:r>
          </a:p>
        </p:txBody>
      </p:sp>
      <p:sp>
        <p:nvSpPr>
          <p:cNvPr id="20" name="TextBox 19"/>
          <p:cNvSpPr txBox="1"/>
          <p:nvPr/>
        </p:nvSpPr>
        <p:spPr>
          <a:xfrm>
            <a:off x="640080" y="2578608"/>
            <a:ext cx="6675120" cy="365760"/>
          </a:xfrm>
          <a:prstGeom prst="rect">
            <a:avLst/>
          </a:prstGeom>
          <a:noFill/>
        </p:spPr>
        <p:txBody>
          <a:bodyPr wrap="square" anchor="t">
            <a:spAutoFit/>
          </a:bodyPr>
          <a:lstStyle/>
          <a:p>
            <a:pPr algn="l"/>
            <a:r>
              <a:rPr sz="1300" b="0">
                <a:solidFill>
                  <a:srgbClr val="1A1A1A"/>
                </a:solidFill>
                <a:latin typeface="微软雅黑"/>
                <a:ea typeface="微软雅黑"/>
              </a:rPr>
              <a:t>  半卧位，鼻吸气2秒 → 缩唇呼气4–6秒（吸呼比1:2）</a:t>
            </a:r>
          </a:p>
        </p:txBody>
      </p:sp>
      <p:sp>
        <p:nvSpPr>
          <p:cNvPr id="21" name="TextBox 20"/>
          <p:cNvSpPr txBox="1"/>
          <p:nvPr/>
        </p:nvSpPr>
        <p:spPr>
          <a:xfrm>
            <a:off x="640080" y="2962656"/>
            <a:ext cx="6675120" cy="365760"/>
          </a:xfrm>
          <a:prstGeom prst="rect">
            <a:avLst/>
          </a:prstGeom>
          <a:noFill/>
        </p:spPr>
        <p:txBody>
          <a:bodyPr wrap="square" anchor="t">
            <a:spAutoFit/>
          </a:bodyPr>
          <a:lstStyle/>
          <a:p>
            <a:pPr algn="l"/>
            <a:r>
              <a:rPr sz="1300" b="0">
                <a:solidFill>
                  <a:srgbClr val="1A1A1A"/>
                </a:solidFill>
                <a:latin typeface="微软雅黑"/>
                <a:ea typeface="微软雅黑"/>
              </a:rPr>
              <a:t>  每日3次 × 10分钟</a:t>
            </a:r>
          </a:p>
        </p:txBody>
      </p:sp>
      <p:sp>
        <p:nvSpPr>
          <p:cNvPr id="22" name="TextBox 21"/>
          <p:cNvSpPr txBox="1"/>
          <p:nvPr/>
        </p:nvSpPr>
        <p:spPr>
          <a:xfrm>
            <a:off x="640080" y="3346704"/>
            <a:ext cx="6675120" cy="365760"/>
          </a:xfrm>
          <a:prstGeom prst="rect">
            <a:avLst/>
          </a:prstGeom>
          <a:noFill/>
        </p:spPr>
        <p:txBody>
          <a:bodyPr wrap="square" anchor="t">
            <a:spAutoFit/>
          </a:bodyPr>
          <a:lstStyle/>
          <a:p>
            <a:pPr algn="l"/>
            <a:r>
              <a:rPr sz="1300" b="0">
                <a:solidFill>
                  <a:srgbClr val="1A1A1A"/>
                </a:solidFill>
                <a:latin typeface="微软雅黑"/>
                <a:ea typeface="微软雅黑"/>
              </a:rPr>
              <a:t>▶ 缩唇呼吸：吸呼比1:3，5分钟/次，3次/日</a:t>
            </a:r>
          </a:p>
        </p:txBody>
      </p:sp>
      <p:sp>
        <p:nvSpPr>
          <p:cNvPr id="23" name="TextBox 22"/>
          <p:cNvSpPr txBox="1"/>
          <p:nvPr/>
        </p:nvSpPr>
        <p:spPr>
          <a:xfrm>
            <a:off x="640080" y="3730752"/>
            <a:ext cx="6675120" cy="365760"/>
          </a:xfrm>
          <a:prstGeom prst="rect">
            <a:avLst/>
          </a:prstGeom>
          <a:noFill/>
        </p:spPr>
        <p:txBody>
          <a:bodyPr wrap="square" anchor="t">
            <a:spAutoFit/>
          </a:bodyPr>
          <a:lstStyle/>
          <a:p>
            <a:pPr algn="l"/>
            <a:r>
              <a:rPr sz="1300" b="0">
                <a:solidFill>
                  <a:srgbClr val="1A1A1A"/>
                </a:solidFill>
                <a:latin typeface="微软雅黑"/>
                <a:ea typeface="微软雅黑"/>
              </a:rPr>
              <a:t>▶ 腹式呼吸：仰卧屈膝，手置腹部感受起伏</a:t>
            </a:r>
          </a:p>
        </p:txBody>
      </p:sp>
      <p:sp>
        <p:nvSpPr>
          <p:cNvPr id="24" name="TextBox 23"/>
          <p:cNvSpPr txBox="1"/>
          <p:nvPr/>
        </p:nvSpPr>
        <p:spPr>
          <a:xfrm>
            <a:off x="640080" y="4114800"/>
            <a:ext cx="6675120" cy="365760"/>
          </a:xfrm>
          <a:prstGeom prst="rect">
            <a:avLst/>
          </a:prstGeom>
          <a:noFill/>
        </p:spPr>
        <p:txBody>
          <a:bodyPr wrap="square" anchor="t">
            <a:spAutoFit/>
          </a:bodyPr>
          <a:lstStyle/>
          <a:p>
            <a:pPr algn="l"/>
            <a:r>
              <a:rPr sz="1300" b="0">
                <a:solidFill>
                  <a:srgbClr val="1A1A1A"/>
                </a:solidFill>
                <a:latin typeface="微软雅黑"/>
                <a:ea typeface="微软雅黑"/>
              </a:rPr>
              <a:t>▶ 训练后立即监测 RR、SpO₂ 并记录</a:t>
            </a:r>
          </a:p>
        </p:txBody>
      </p:sp>
      <p:sp>
        <p:nvSpPr>
          <p:cNvPr id="25" name="TextBox 24"/>
          <p:cNvSpPr txBox="1"/>
          <p:nvPr/>
        </p:nvSpPr>
        <p:spPr>
          <a:xfrm>
            <a:off x="640080" y="4498848"/>
            <a:ext cx="6675120" cy="365760"/>
          </a:xfrm>
          <a:prstGeom prst="rect">
            <a:avLst/>
          </a:prstGeom>
          <a:noFill/>
        </p:spPr>
        <p:txBody>
          <a:bodyPr wrap="square" anchor="t">
            <a:spAutoFit/>
          </a:bodyPr>
          <a:lstStyle/>
          <a:p>
            <a:pPr algn="l"/>
            <a:r>
              <a:rPr sz="1300" b="0">
                <a:solidFill>
                  <a:srgbClr val="1A1A1A"/>
                </a:solidFill>
                <a:latin typeface="微软雅黑"/>
                <a:ea typeface="微软雅黑"/>
              </a:rPr>
              <a:t>▶ 氧疗降阶梯：改为鼻导管吸氧（2 L/min）</a:t>
            </a:r>
          </a:p>
        </p:txBody>
      </p:sp>
      <p:sp>
        <p:nvSpPr>
          <p:cNvPr id="26" name="TextBox 25"/>
          <p:cNvSpPr txBox="1"/>
          <p:nvPr/>
        </p:nvSpPr>
        <p:spPr>
          <a:xfrm>
            <a:off x="640080" y="4882896"/>
            <a:ext cx="6675120" cy="365760"/>
          </a:xfrm>
          <a:prstGeom prst="rect">
            <a:avLst/>
          </a:prstGeom>
          <a:noFill/>
        </p:spPr>
        <p:txBody>
          <a:bodyPr wrap="square" anchor="t">
            <a:spAutoFit/>
          </a:bodyPr>
          <a:lstStyle/>
          <a:p>
            <a:pPr algn="l"/>
            <a:r>
              <a:rPr sz="1300" b="0">
                <a:solidFill>
                  <a:srgbClr val="1A1A1A"/>
                </a:solidFill>
                <a:latin typeface="微软雅黑"/>
                <a:ea typeface="微软雅黑"/>
              </a:rPr>
              <a:t>▶ 强化感染控制：晨起深部吸痰送培养至连续2次阴性</a:t>
            </a:r>
          </a:p>
        </p:txBody>
      </p:sp>
      <p:sp>
        <p:nvSpPr>
          <p:cNvPr id="27" name="TextBox 26"/>
          <p:cNvSpPr txBox="1"/>
          <p:nvPr/>
        </p:nvSpPr>
        <p:spPr>
          <a:xfrm>
            <a:off x="640080" y="5266944"/>
            <a:ext cx="6675120" cy="365760"/>
          </a:xfrm>
          <a:prstGeom prst="rect">
            <a:avLst/>
          </a:prstGeom>
          <a:noFill/>
        </p:spPr>
        <p:txBody>
          <a:bodyPr wrap="square" anchor="t">
            <a:spAutoFit/>
          </a:bodyPr>
          <a:lstStyle/>
          <a:p>
            <a:pPr algn="l"/>
            <a:r>
              <a:rPr sz="1300" b="0">
                <a:solidFill>
                  <a:srgbClr val="1A1A1A"/>
                </a:solidFill>
                <a:latin typeface="微软雅黑"/>
                <a:ea typeface="微软雅黑"/>
              </a:rPr>
              <a:t>▶ 口腔护理 bid（氯己定漱口水）</a:t>
            </a:r>
          </a:p>
        </p:txBody>
      </p:sp>
      <p:sp>
        <p:nvSpPr>
          <p:cNvPr id="28" name="Rounded Rectangle 27"/>
          <p:cNvSpPr/>
          <p:nvPr/>
        </p:nvSpPr>
        <p:spPr>
          <a:xfrm>
            <a:off x="7772400" y="1508760"/>
            <a:ext cx="4023360" cy="4572000"/>
          </a:xfrm>
          <a:prstGeom prst="roundRect">
            <a:avLst/>
          </a:prstGeom>
          <a:solidFill>
            <a:srgbClr val="FFFFFF"/>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0" y="1645920"/>
            <a:ext cx="4023360" cy="365760"/>
          </a:xfrm>
          <a:prstGeom prst="rect">
            <a:avLst/>
          </a:prstGeom>
          <a:noFill/>
        </p:spPr>
        <p:txBody>
          <a:bodyPr wrap="square" anchor="t">
            <a:spAutoFit/>
          </a:bodyPr>
          <a:lstStyle/>
          <a:p>
            <a:pPr algn="ctr"/>
            <a:r>
              <a:rPr sz="1600" b="1">
                <a:solidFill>
                  <a:srgbClr val="2E7D32"/>
                </a:solidFill>
                <a:latin typeface="微软雅黑"/>
                <a:ea typeface="微软雅黑"/>
              </a:rPr>
              <a:t>效果评价</a:t>
            </a:r>
          </a:p>
        </p:txBody>
      </p:sp>
      <p:sp>
        <p:nvSpPr>
          <p:cNvPr id="30" name="Rounded Rectangle 29"/>
          <p:cNvSpPr/>
          <p:nvPr/>
        </p:nvSpPr>
        <p:spPr>
          <a:xfrm>
            <a:off x="8046720" y="2194560"/>
            <a:ext cx="3474720" cy="36576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0" y="2194560"/>
            <a:ext cx="3474720" cy="365760"/>
          </a:xfrm>
          <a:prstGeom prst="rect">
            <a:avLst/>
          </a:prstGeom>
          <a:noFill/>
        </p:spPr>
        <p:txBody>
          <a:bodyPr wrap="square" anchor="ctr">
            <a:spAutoFit/>
          </a:bodyPr>
          <a:lstStyle/>
          <a:p>
            <a:pPr algn="ctr"/>
            <a:r>
              <a:rPr sz="1200" b="1">
                <a:solidFill>
                  <a:srgbClr val="1E3A8A"/>
                </a:solidFill>
                <a:latin typeface="微软雅黑"/>
                <a:ea typeface="微软雅黑"/>
              </a:rPr>
              <a:t>第3天</a:t>
            </a:r>
          </a:p>
        </p:txBody>
      </p:sp>
      <p:sp>
        <p:nvSpPr>
          <p:cNvPr id="32" name="TextBox 31"/>
          <p:cNvSpPr txBox="1"/>
          <p:nvPr/>
        </p:nvSpPr>
        <p:spPr>
          <a:xfrm>
            <a:off x="8046720" y="2606040"/>
            <a:ext cx="3474720" cy="640080"/>
          </a:xfrm>
          <a:prstGeom prst="rect">
            <a:avLst/>
          </a:prstGeom>
          <a:noFill/>
        </p:spPr>
        <p:txBody>
          <a:bodyPr wrap="square" anchor="t">
            <a:spAutoFit/>
          </a:bodyPr>
          <a:lstStyle/>
          <a:p>
            <a:pPr algn="ctr"/>
            <a:r>
              <a:rPr sz="1300" b="1">
                <a:solidFill>
                  <a:srgbClr val="1A1A1A"/>
                </a:solidFill>
                <a:latin typeface="微软雅黑"/>
                <a:ea typeface="微软雅黑"/>
              </a:rPr>
              <a:t>SpO₂ 94%（静息）
痰量减少50%</a:t>
            </a:r>
          </a:p>
        </p:txBody>
      </p:sp>
      <p:sp>
        <p:nvSpPr>
          <p:cNvPr id="33" name="Rounded Rectangle 32"/>
          <p:cNvSpPr/>
          <p:nvPr/>
        </p:nvSpPr>
        <p:spPr>
          <a:xfrm>
            <a:off x="8046720" y="3383280"/>
            <a:ext cx="3474720" cy="36576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0" y="3383280"/>
            <a:ext cx="3474720" cy="365760"/>
          </a:xfrm>
          <a:prstGeom prst="rect">
            <a:avLst/>
          </a:prstGeom>
          <a:noFill/>
        </p:spPr>
        <p:txBody>
          <a:bodyPr wrap="square" anchor="ctr">
            <a:spAutoFit/>
          </a:bodyPr>
          <a:lstStyle/>
          <a:p>
            <a:pPr algn="ctr"/>
            <a:r>
              <a:rPr sz="1200" b="1">
                <a:solidFill>
                  <a:srgbClr val="1E3A8A"/>
                </a:solidFill>
                <a:latin typeface="微软雅黑"/>
                <a:ea typeface="微软雅黑"/>
              </a:rPr>
              <a:t>第7天</a:t>
            </a:r>
          </a:p>
        </p:txBody>
      </p:sp>
      <p:sp>
        <p:nvSpPr>
          <p:cNvPr id="35" name="TextBox 34"/>
          <p:cNvSpPr txBox="1"/>
          <p:nvPr/>
        </p:nvSpPr>
        <p:spPr>
          <a:xfrm>
            <a:off x="8046720" y="3794760"/>
            <a:ext cx="3474720" cy="640080"/>
          </a:xfrm>
          <a:prstGeom prst="rect">
            <a:avLst/>
          </a:prstGeom>
          <a:noFill/>
        </p:spPr>
        <p:txBody>
          <a:bodyPr wrap="square" anchor="t">
            <a:spAutoFit/>
          </a:bodyPr>
          <a:lstStyle/>
          <a:p>
            <a:pPr algn="ctr"/>
            <a:r>
              <a:rPr sz="1300" b="1">
                <a:solidFill>
                  <a:srgbClr val="1A1A1A"/>
                </a:solidFill>
                <a:latin typeface="微软雅黑"/>
                <a:ea typeface="微软雅黑"/>
              </a:rPr>
              <a:t>PaO₂ 68 mmHg
痰培养转阴</a:t>
            </a:r>
          </a:p>
        </p:txBody>
      </p:sp>
      <p:sp>
        <p:nvSpPr>
          <p:cNvPr id="36" name="Rounded Rectangle 35"/>
          <p:cNvSpPr/>
          <p:nvPr/>
        </p:nvSpPr>
        <p:spPr>
          <a:xfrm>
            <a:off x="8046720" y="4572000"/>
            <a:ext cx="3474720" cy="36576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0" y="4572000"/>
            <a:ext cx="3474720" cy="365760"/>
          </a:xfrm>
          <a:prstGeom prst="rect">
            <a:avLst/>
          </a:prstGeom>
          <a:noFill/>
        </p:spPr>
        <p:txBody>
          <a:bodyPr wrap="square" anchor="ctr">
            <a:spAutoFit/>
          </a:bodyPr>
          <a:lstStyle/>
          <a:p>
            <a:pPr algn="ctr"/>
            <a:r>
              <a:rPr sz="1200" b="1">
                <a:solidFill>
                  <a:srgbClr val="1E3A8A"/>
                </a:solidFill>
                <a:latin typeface="微软雅黑"/>
                <a:ea typeface="微软雅黑"/>
              </a:rPr>
              <a:t>结论</a:t>
            </a:r>
          </a:p>
        </p:txBody>
      </p:sp>
      <p:sp>
        <p:nvSpPr>
          <p:cNvPr id="38" name="TextBox 37"/>
          <p:cNvSpPr txBox="1"/>
          <p:nvPr/>
        </p:nvSpPr>
        <p:spPr>
          <a:xfrm>
            <a:off x="8046720" y="4983480"/>
            <a:ext cx="3474720" cy="640080"/>
          </a:xfrm>
          <a:prstGeom prst="rect">
            <a:avLst/>
          </a:prstGeom>
          <a:noFill/>
        </p:spPr>
        <p:txBody>
          <a:bodyPr wrap="square" anchor="t">
            <a:spAutoFit/>
          </a:bodyPr>
          <a:lstStyle/>
          <a:p>
            <a:pPr algn="ctr"/>
            <a:r>
              <a:rPr sz="1300" b="1">
                <a:solidFill>
                  <a:srgbClr val="1A1A1A"/>
                </a:solidFill>
                <a:latin typeface="微软雅黑"/>
                <a:ea typeface="微软雅黑"/>
              </a:rPr>
              <a:t>氧合恢复，感染源控制
护理有效</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护理措施</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365760" y="914400"/>
            <a:ext cx="320040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914400"/>
            <a:ext cx="3200400" cy="411480"/>
          </a:xfrm>
          <a:prstGeom prst="rect">
            <a:avLst/>
          </a:prstGeom>
          <a:noFill/>
        </p:spPr>
        <p:txBody>
          <a:bodyPr wrap="square" anchor="ctr">
            <a:spAutoFit/>
          </a:bodyPr>
          <a:lstStyle/>
          <a:p>
            <a:pPr algn="ctr"/>
            <a:r>
              <a:rPr sz="1400" b="1">
                <a:solidFill>
                  <a:srgbClr val="FFFFFF"/>
                </a:solidFill>
                <a:latin typeface="微软雅黑"/>
                <a:ea typeface="微软雅黑"/>
              </a:rPr>
              <a:t>诊断二  清理呼吸道无效</a:t>
            </a:r>
          </a:p>
        </p:txBody>
      </p:sp>
      <p:sp>
        <p:nvSpPr>
          <p:cNvPr id="15" name="Rounded Rectangle 14"/>
          <p:cNvSpPr/>
          <p:nvPr/>
        </p:nvSpPr>
        <p:spPr>
          <a:xfrm>
            <a:off x="3749039" y="914400"/>
            <a:ext cx="2926080" cy="4114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39" y="914400"/>
            <a:ext cx="2926080" cy="411480"/>
          </a:xfrm>
          <a:prstGeom prst="rect">
            <a:avLst/>
          </a:prstGeom>
          <a:noFill/>
        </p:spPr>
        <p:txBody>
          <a:bodyPr wrap="square" anchor="ctr">
            <a:spAutoFit/>
          </a:bodyPr>
          <a:lstStyle/>
          <a:p>
            <a:pPr algn="ctr"/>
            <a:r>
              <a:rPr sz="1300" b="1">
                <a:solidFill>
                  <a:srgbClr val="1E3A8A"/>
                </a:solidFill>
                <a:latin typeface="微软雅黑"/>
                <a:ea typeface="微软雅黑"/>
              </a:rPr>
              <a:t>排痰 + 压疮预防</a:t>
            </a:r>
          </a:p>
        </p:txBody>
      </p:sp>
      <p:sp>
        <p:nvSpPr>
          <p:cNvPr id="17" name="TextBox 16"/>
          <p:cNvSpPr txBox="1"/>
          <p:nvPr/>
        </p:nvSpPr>
        <p:spPr>
          <a:xfrm>
            <a:off x="365760" y="1463040"/>
            <a:ext cx="11430000" cy="365760"/>
          </a:xfrm>
          <a:prstGeom prst="rect">
            <a:avLst/>
          </a:prstGeom>
          <a:noFill/>
        </p:spPr>
        <p:txBody>
          <a:bodyPr wrap="square" anchor="t">
            <a:spAutoFit/>
          </a:bodyPr>
          <a:lstStyle/>
          <a:p>
            <a:pPr algn="l"/>
            <a:r>
              <a:rPr sz="1500" b="1">
                <a:solidFill>
                  <a:srgbClr val="4A5568"/>
                </a:solidFill>
                <a:latin typeface="微软雅黑"/>
                <a:ea typeface="微软雅黑"/>
              </a:rPr>
              <a:t>如何处理患者痰液黏稠、咳嗽无力症状，改善通气？</a:t>
            </a:r>
          </a:p>
        </p:txBody>
      </p:sp>
      <p:sp>
        <p:nvSpPr>
          <p:cNvPr id="18" name="Rounded Rectangle 17"/>
          <p:cNvSpPr/>
          <p:nvPr/>
        </p:nvSpPr>
        <p:spPr>
          <a:xfrm>
            <a:off x="365760" y="1965960"/>
            <a:ext cx="11430000" cy="4114800"/>
          </a:xfrm>
          <a:prstGeom prst="roundRect">
            <a:avLst/>
          </a:prstGeom>
          <a:solidFill>
            <a:srgbClr val="F5F8FC"/>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148840"/>
            <a:ext cx="7315200" cy="365760"/>
          </a:xfrm>
          <a:prstGeom prst="rect">
            <a:avLst/>
          </a:prstGeom>
          <a:noFill/>
        </p:spPr>
        <p:txBody>
          <a:bodyPr wrap="square" anchor="t">
            <a:spAutoFit/>
          </a:bodyPr>
          <a:lstStyle/>
          <a:p>
            <a:pPr algn="l"/>
            <a:r>
              <a:rPr sz="1600" b="1">
                <a:solidFill>
                  <a:srgbClr val="1E3A8A"/>
                </a:solidFill>
                <a:latin typeface="微软雅黑"/>
                <a:ea typeface="微软雅黑"/>
              </a:rPr>
              <a:t>急性期 · 排痰物理治疗</a:t>
            </a:r>
          </a:p>
        </p:txBody>
      </p:sp>
      <p:sp>
        <p:nvSpPr>
          <p:cNvPr id="20" name="TextBox 19"/>
          <p:cNvSpPr txBox="1"/>
          <p:nvPr/>
        </p:nvSpPr>
        <p:spPr>
          <a:xfrm>
            <a:off x="731520" y="2743200"/>
            <a:ext cx="10789920" cy="411480"/>
          </a:xfrm>
          <a:prstGeom prst="rect">
            <a:avLst/>
          </a:prstGeom>
          <a:noFill/>
        </p:spPr>
        <p:txBody>
          <a:bodyPr wrap="square" anchor="t">
            <a:spAutoFit/>
          </a:bodyPr>
          <a:lstStyle/>
          <a:p>
            <a:pPr algn="l"/>
            <a:r>
              <a:rPr sz="1400" b="0">
                <a:solidFill>
                  <a:srgbClr val="1A1A1A"/>
                </a:solidFill>
                <a:latin typeface="微软雅黑"/>
                <a:ea typeface="微软雅黑"/>
              </a:rPr>
              <a:t>▶ 雾化吸入：布地奈德 2 mg + 异丙托溴铵 500 μg，bid</a:t>
            </a:r>
          </a:p>
        </p:txBody>
      </p:sp>
      <p:sp>
        <p:nvSpPr>
          <p:cNvPr id="21" name="TextBox 20"/>
          <p:cNvSpPr txBox="1"/>
          <p:nvPr/>
        </p:nvSpPr>
        <p:spPr>
          <a:xfrm>
            <a:off x="731520" y="3200400"/>
            <a:ext cx="10789920" cy="411480"/>
          </a:xfrm>
          <a:prstGeom prst="rect">
            <a:avLst/>
          </a:prstGeom>
          <a:noFill/>
        </p:spPr>
        <p:txBody>
          <a:bodyPr wrap="square" anchor="t">
            <a:spAutoFit/>
          </a:bodyPr>
          <a:lstStyle/>
          <a:p>
            <a:pPr algn="l"/>
            <a:r>
              <a:rPr sz="1400" b="0">
                <a:solidFill>
                  <a:srgbClr val="1A1A1A"/>
                </a:solidFill>
                <a:latin typeface="微软雅黑"/>
                <a:ea typeface="微软雅黑"/>
              </a:rPr>
              <a:t>▶ 面罩式雾化器使用后以75%酒精擦拭</a:t>
            </a:r>
          </a:p>
        </p:txBody>
      </p:sp>
      <p:sp>
        <p:nvSpPr>
          <p:cNvPr id="22" name="TextBox 21"/>
          <p:cNvSpPr txBox="1"/>
          <p:nvPr/>
        </p:nvSpPr>
        <p:spPr>
          <a:xfrm>
            <a:off x="731520" y="3657600"/>
            <a:ext cx="10789920" cy="411480"/>
          </a:xfrm>
          <a:prstGeom prst="rect">
            <a:avLst/>
          </a:prstGeom>
          <a:noFill/>
        </p:spPr>
        <p:txBody>
          <a:bodyPr wrap="square" anchor="t">
            <a:spAutoFit/>
          </a:bodyPr>
          <a:lstStyle/>
          <a:p>
            <a:pPr algn="l"/>
            <a:r>
              <a:rPr sz="1400" b="0">
                <a:solidFill>
                  <a:srgbClr val="1A1A1A"/>
                </a:solidFill>
                <a:latin typeface="微软雅黑"/>
                <a:ea typeface="微软雅黑"/>
              </a:rPr>
              <a:t>▶ 体位引流：根据病变部位取头低足高15°侧卧位</a:t>
            </a:r>
          </a:p>
        </p:txBody>
      </p:sp>
      <p:sp>
        <p:nvSpPr>
          <p:cNvPr id="23" name="TextBox 22"/>
          <p:cNvSpPr txBox="1"/>
          <p:nvPr/>
        </p:nvSpPr>
        <p:spPr>
          <a:xfrm>
            <a:off x="731520" y="4114800"/>
            <a:ext cx="10789920" cy="411480"/>
          </a:xfrm>
          <a:prstGeom prst="rect">
            <a:avLst/>
          </a:prstGeom>
          <a:noFill/>
        </p:spPr>
        <p:txBody>
          <a:bodyPr wrap="square" anchor="t">
            <a:spAutoFit/>
          </a:bodyPr>
          <a:lstStyle/>
          <a:p>
            <a:pPr algn="l"/>
            <a:r>
              <a:rPr sz="1400" b="0">
                <a:solidFill>
                  <a:srgbClr val="1A1A1A"/>
                </a:solidFill>
                <a:latin typeface="微软雅黑"/>
                <a:ea typeface="微软雅黑"/>
              </a:rPr>
              <a:t>▶ 餐前10分钟引流，同步叩击背部</a:t>
            </a:r>
          </a:p>
        </p:txBody>
      </p:sp>
      <p:sp>
        <p:nvSpPr>
          <p:cNvPr id="24" name="TextBox 23"/>
          <p:cNvSpPr txBox="1"/>
          <p:nvPr/>
        </p:nvSpPr>
        <p:spPr>
          <a:xfrm>
            <a:off x="731520" y="4572000"/>
            <a:ext cx="10789920" cy="411480"/>
          </a:xfrm>
          <a:prstGeom prst="rect">
            <a:avLst/>
          </a:prstGeom>
          <a:noFill/>
        </p:spPr>
        <p:txBody>
          <a:bodyPr wrap="square" anchor="t">
            <a:spAutoFit/>
          </a:bodyPr>
          <a:lstStyle/>
          <a:p>
            <a:pPr algn="l"/>
            <a:r>
              <a:rPr sz="1400" b="0">
                <a:solidFill>
                  <a:srgbClr val="1A1A1A"/>
                </a:solidFill>
                <a:latin typeface="微软雅黑"/>
                <a:ea typeface="微软雅黑"/>
              </a:rPr>
              <a:t>▶ 结合高频振动排痰系统与时效性激励模式[8]</a:t>
            </a:r>
          </a:p>
        </p:txBody>
      </p:sp>
      <p:sp>
        <p:nvSpPr>
          <p:cNvPr id="25" name="TextBox 24"/>
          <p:cNvSpPr txBox="1"/>
          <p:nvPr/>
        </p:nvSpPr>
        <p:spPr>
          <a:xfrm>
            <a:off x="731520" y="5029200"/>
            <a:ext cx="10789920" cy="411480"/>
          </a:xfrm>
          <a:prstGeom prst="rect">
            <a:avLst/>
          </a:prstGeom>
          <a:noFill/>
        </p:spPr>
        <p:txBody>
          <a:bodyPr wrap="square" anchor="t">
            <a:spAutoFit/>
          </a:bodyPr>
          <a:lstStyle/>
          <a:p>
            <a:pPr algn="l"/>
            <a:r>
              <a:rPr sz="1400" b="0">
                <a:solidFill>
                  <a:srgbClr val="1A1A1A"/>
                </a:solidFill>
                <a:latin typeface="微软雅黑"/>
                <a:ea typeface="微软雅黑"/>
              </a:rPr>
              <a:t>▶ 鼓励有效咳嗽，观察痰量、性状及颜色</a:t>
            </a:r>
          </a:p>
        </p:txBody>
      </p:sp>
      <p:sp>
        <p:nvSpPr>
          <p:cNvPr id="26" name="TextBox 25"/>
          <p:cNvSpPr txBox="1"/>
          <p:nvPr/>
        </p:nvSpPr>
        <p:spPr>
          <a:xfrm>
            <a:off x="365760" y="6446520"/>
            <a:ext cx="11430000" cy="365760"/>
          </a:xfrm>
          <a:prstGeom prst="rect">
            <a:avLst/>
          </a:prstGeom>
          <a:noFill/>
        </p:spPr>
        <p:txBody>
          <a:bodyPr wrap="square" anchor="t">
            <a:spAutoFit/>
          </a:bodyPr>
          <a:lstStyle/>
          <a:p>
            <a:pPr algn="l"/>
            <a:r>
              <a:rPr sz="900" b="0">
                <a:solidFill>
                  <a:srgbClr val="90A0B0"/>
                </a:solidFill>
                <a:latin typeface="微软雅黑"/>
                <a:ea typeface="微软雅黑"/>
              </a:rPr>
              <a:t>[8]王春霞.中国科技期刊数据库医药,2025(3):183-186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护理措施</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365760" y="914400"/>
            <a:ext cx="320040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914400"/>
            <a:ext cx="3200400" cy="411480"/>
          </a:xfrm>
          <a:prstGeom prst="rect">
            <a:avLst/>
          </a:prstGeom>
          <a:noFill/>
        </p:spPr>
        <p:txBody>
          <a:bodyPr wrap="square" anchor="ctr">
            <a:spAutoFit/>
          </a:bodyPr>
          <a:lstStyle/>
          <a:p>
            <a:pPr algn="ctr"/>
            <a:r>
              <a:rPr sz="1400" b="1">
                <a:solidFill>
                  <a:srgbClr val="FFFFFF"/>
                </a:solidFill>
                <a:latin typeface="微软雅黑"/>
                <a:ea typeface="微软雅黑"/>
              </a:rPr>
              <a:t>诊断二  清理呼吸道无效</a:t>
            </a:r>
          </a:p>
        </p:txBody>
      </p:sp>
      <p:sp>
        <p:nvSpPr>
          <p:cNvPr id="15" name="Rounded Rectangle 14"/>
          <p:cNvSpPr/>
          <p:nvPr/>
        </p:nvSpPr>
        <p:spPr>
          <a:xfrm>
            <a:off x="365760" y="1554480"/>
            <a:ext cx="3703320" cy="256032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1554480"/>
            <a:ext cx="370332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1645920"/>
            <a:ext cx="3703320" cy="365760"/>
          </a:xfrm>
          <a:prstGeom prst="rect">
            <a:avLst/>
          </a:prstGeom>
          <a:noFill/>
        </p:spPr>
        <p:txBody>
          <a:bodyPr wrap="square" anchor="t">
            <a:spAutoFit/>
          </a:bodyPr>
          <a:lstStyle/>
          <a:p>
            <a:pPr algn="ctr"/>
            <a:r>
              <a:rPr sz="1500" b="1">
                <a:solidFill>
                  <a:srgbClr val="FFFFFF"/>
                </a:solidFill>
                <a:latin typeface="微软雅黑"/>
                <a:ea typeface="微软雅黑"/>
              </a:rPr>
              <a:t>训练排痰</a:t>
            </a:r>
          </a:p>
        </p:txBody>
      </p:sp>
      <p:sp>
        <p:nvSpPr>
          <p:cNvPr id="18" name="TextBox 17"/>
          <p:cNvSpPr txBox="1"/>
          <p:nvPr/>
        </p:nvSpPr>
        <p:spPr>
          <a:xfrm>
            <a:off x="548640" y="2286000"/>
            <a:ext cx="3383280" cy="548640"/>
          </a:xfrm>
          <a:prstGeom prst="rect">
            <a:avLst/>
          </a:prstGeom>
          <a:noFill/>
        </p:spPr>
        <p:txBody>
          <a:bodyPr wrap="square" anchor="t">
            <a:spAutoFit/>
          </a:bodyPr>
          <a:lstStyle/>
          <a:p>
            <a:pPr algn="l"/>
            <a:r>
              <a:rPr sz="1300" b="0">
                <a:solidFill>
                  <a:srgbClr val="1A1A1A"/>
                </a:solidFill>
                <a:latin typeface="微软雅黑"/>
                <a:ea typeface="微软雅黑"/>
              </a:rPr>
              <a:t>●  深吸气 → 屏气3秒 → 用力咳出</a:t>
            </a:r>
          </a:p>
        </p:txBody>
      </p:sp>
      <p:sp>
        <p:nvSpPr>
          <p:cNvPr id="19" name="TextBox 18"/>
          <p:cNvSpPr txBox="1"/>
          <p:nvPr/>
        </p:nvSpPr>
        <p:spPr>
          <a:xfrm>
            <a:off x="548640" y="2926080"/>
            <a:ext cx="3383280" cy="548640"/>
          </a:xfrm>
          <a:prstGeom prst="rect">
            <a:avLst/>
          </a:prstGeom>
          <a:noFill/>
        </p:spPr>
        <p:txBody>
          <a:bodyPr wrap="square" anchor="t">
            <a:spAutoFit/>
          </a:bodyPr>
          <a:lstStyle/>
          <a:p>
            <a:pPr algn="l"/>
            <a:r>
              <a:rPr sz="1300" b="0">
                <a:solidFill>
                  <a:srgbClr val="1A1A1A"/>
                </a:solidFill>
                <a:latin typeface="微软雅黑"/>
                <a:ea typeface="微软雅黑"/>
              </a:rPr>
              <a:t>●  指导坐位呼吸联合排痰技术</a:t>
            </a:r>
          </a:p>
        </p:txBody>
      </p:sp>
      <p:sp>
        <p:nvSpPr>
          <p:cNvPr id="20" name="Rounded Rectangle 19"/>
          <p:cNvSpPr/>
          <p:nvPr/>
        </p:nvSpPr>
        <p:spPr>
          <a:xfrm>
            <a:off x="4251960" y="1554480"/>
            <a:ext cx="3703320" cy="256032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51960" y="1554480"/>
            <a:ext cx="370332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51960" y="1645920"/>
            <a:ext cx="3703320" cy="365760"/>
          </a:xfrm>
          <a:prstGeom prst="rect">
            <a:avLst/>
          </a:prstGeom>
          <a:noFill/>
        </p:spPr>
        <p:txBody>
          <a:bodyPr wrap="square" anchor="t">
            <a:spAutoFit/>
          </a:bodyPr>
          <a:lstStyle/>
          <a:p>
            <a:pPr algn="ctr"/>
            <a:r>
              <a:rPr sz="1500" b="1">
                <a:solidFill>
                  <a:srgbClr val="FFFFFF"/>
                </a:solidFill>
                <a:latin typeface="微软雅黑"/>
                <a:ea typeface="微软雅黑"/>
              </a:rPr>
              <a:t>压疮预防整合</a:t>
            </a:r>
          </a:p>
        </p:txBody>
      </p:sp>
      <p:sp>
        <p:nvSpPr>
          <p:cNvPr id="23" name="TextBox 22"/>
          <p:cNvSpPr txBox="1"/>
          <p:nvPr/>
        </p:nvSpPr>
        <p:spPr>
          <a:xfrm>
            <a:off x="4434840" y="2286000"/>
            <a:ext cx="3383280" cy="548640"/>
          </a:xfrm>
          <a:prstGeom prst="rect">
            <a:avLst/>
          </a:prstGeom>
          <a:noFill/>
        </p:spPr>
        <p:txBody>
          <a:bodyPr wrap="square" anchor="t">
            <a:spAutoFit/>
          </a:bodyPr>
          <a:lstStyle/>
          <a:p>
            <a:pPr algn="l"/>
            <a:r>
              <a:rPr sz="1300" b="0">
                <a:solidFill>
                  <a:srgbClr val="1A1A1A"/>
                </a:solidFill>
                <a:latin typeface="微软雅黑"/>
                <a:ea typeface="微软雅黑"/>
              </a:rPr>
              <a:t>●  气垫床＋泡沫敷料减压</a:t>
            </a:r>
          </a:p>
        </p:txBody>
      </p:sp>
      <p:sp>
        <p:nvSpPr>
          <p:cNvPr id="24" name="TextBox 23"/>
          <p:cNvSpPr txBox="1"/>
          <p:nvPr/>
        </p:nvSpPr>
        <p:spPr>
          <a:xfrm>
            <a:off x="4434840" y="2926080"/>
            <a:ext cx="3383280" cy="548640"/>
          </a:xfrm>
          <a:prstGeom prst="rect">
            <a:avLst/>
          </a:prstGeom>
          <a:noFill/>
        </p:spPr>
        <p:txBody>
          <a:bodyPr wrap="square" anchor="t">
            <a:spAutoFit/>
          </a:bodyPr>
          <a:lstStyle/>
          <a:p>
            <a:pPr algn="l"/>
            <a:r>
              <a:rPr sz="1300" b="0">
                <a:solidFill>
                  <a:srgbClr val="1A1A1A"/>
                </a:solidFill>
                <a:latin typeface="微软雅黑"/>
                <a:ea typeface="微软雅黑"/>
              </a:rPr>
              <a:t>●  定时翻身，检查骨突皮肤</a:t>
            </a:r>
          </a:p>
        </p:txBody>
      </p:sp>
      <p:sp>
        <p:nvSpPr>
          <p:cNvPr id="25" name="Rounded Rectangle 24"/>
          <p:cNvSpPr/>
          <p:nvPr/>
        </p:nvSpPr>
        <p:spPr>
          <a:xfrm>
            <a:off x="8138160" y="1554480"/>
            <a:ext cx="3703320" cy="256032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38160" y="1554480"/>
            <a:ext cx="3703320" cy="50292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38160" y="1645920"/>
            <a:ext cx="3703320" cy="365760"/>
          </a:xfrm>
          <a:prstGeom prst="rect">
            <a:avLst/>
          </a:prstGeom>
          <a:noFill/>
        </p:spPr>
        <p:txBody>
          <a:bodyPr wrap="square" anchor="t">
            <a:spAutoFit/>
          </a:bodyPr>
          <a:lstStyle/>
          <a:p>
            <a:pPr algn="ctr"/>
            <a:r>
              <a:rPr sz="1500" b="1">
                <a:solidFill>
                  <a:srgbClr val="FFFFFF"/>
                </a:solidFill>
                <a:latin typeface="微软雅黑"/>
                <a:ea typeface="微软雅黑"/>
              </a:rPr>
              <a:t>营养支持协作</a:t>
            </a:r>
          </a:p>
        </p:txBody>
      </p:sp>
      <p:sp>
        <p:nvSpPr>
          <p:cNvPr id="28" name="TextBox 27"/>
          <p:cNvSpPr txBox="1"/>
          <p:nvPr/>
        </p:nvSpPr>
        <p:spPr>
          <a:xfrm>
            <a:off x="8321040" y="2286000"/>
            <a:ext cx="3383280" cy="548640"/>
          </a:xfrm>
          <a:prstGeom prst="rect">
            <a:avLst/>
          </a:prstGeom>
          <a:noFill/>
        </p:spPr>
        <p:txBody>
          <a:bodyPr wrap="square" anchor="t">
            <a:spAutoFit/>
          </a:bodyPr>
          <a:lstStyle/>
          <a:p>
            <a:pPr algn="l"/>
            <a:r>
              <a:rPr sz="1300" b="0">
                <a:solidFill>
                  <a:srgbClr val="1A1A1A"/>
                </a:solidFill>
                <a:latin typeface="微软雅黑"/>
                <a:ea typeface="微软雅黑"/>
              </a:rPr>
              <a:t>●  营养科定制高蛋白流质饮食</a:t>
            </a:r>
          </a:p>
        </p:txBody>
      </p:sp>
      <p:sp>
        <p:nvSpPr>
          <p:cNvPr id="29" name="TextBox 28"/>
          <p:cNvSpPr txBox="1"/>
          <p:nvPr/>
        </p:nvSpPr>
        <p:spPr>
          <a:xfrm>
            <a:off x="8321040" y="2926080"/>
            <a:ext cx="3383280" cy="548640"/>
          </a:xfrm>
          <a:prstGeom prst="rect">
            <a:avLst/>
          </a:prstGeom>
          <a:noFill/>
        </p:spPr>
        <p:txBody>
          <a:bodyPr wrap="square" anchor="t">
            <a:spAutoFit/>
          </a:bodyPr>
          <a:lstStyle/>
          <a:p>
            <a:pPr algn="l"/>
            <a:r>
              <a:rPr sz="1300" b="0">
                <a:solidFill>
                  <a:srgbClr val="1A1A1A"/>
                </a:solidFill>
                <a:latin typeface="微软雅黑"/>
                <a:ea typeface="微软雅黑"/>
              </a:rPr>
              <a:t>●  少量多次补水，稀释痰液</a:t>
            </a:r>
          </a:p>
        </p:txBody>
      </p:sp>
      <p:sp>
        <p:nvSpPr>
          <p:cNvPr id="30" name="Rounded Rectangle 29"/>
          <p:cNvSpPr/>
          <p:nvPr/>
        </p:nvSpPr>
        <p:spPr>
          <a:xfrm>
            <a:off x="365760" y="4343400"/>
            <a:ext cx="11430000" cy="1737360"/>
          </a:xfrm>
          <a:prstGeom prst="roundRect">
            <a:avLst/>
          </a:prstGeom>
          <a:solidFill>
            <a:srgbClr val="FFFFFF"/>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480560"/>
            <a:ext cx="2743200" cy="365760"/>
          </a:xfrm>
          <a:prstGeom prst="rect">
            <a:avLst/>
          </a:prstGeom>
          <a:noFill/>
        </p:spPr>
        <p:txBody>
          <a:bodyPr wrap="square" anchor="t">
            <a:spAutoFit/>
          </a:bodyPr>
          <a:lstStyle/>
          <a:p>
            <a:pPr algn="l"/>
            <a:r>
              <a:rPr sz="1600" b="1">
                <a:solidFill>
                  <a:srgbClr val="2E7D32"/>
                </a:solidFill>
                <a:latin typeface="微软雅黑"/>
                <a:ea typeface="微软雅黑"/>
              </a:rPr>
              <a:t>效果评价</a:t>
            </a:r>
          </a:p>
        </p:txBody>
      </p:sp>
      <p:sp>
        <p:nvSpPr>
          <p:cNvPr id="32" name="TextBox 31"/>
          <p:cNvSpPr txBox="1"/>
          <p:nvPr/>
        </p:nvSpPr>
        <p:spPr>
          <a:xfrm>
            <a:off x="640080" y="4937760"/>
            <a:ext cx="10789920" cy="914400"/>
          </a:xfrm>
          <a:prstGeom prst="rect">
            <a:avLst/>
          </a:prstGeom>
          <a:noFill/>
        </p:spPr>
        <p:txBody>
          <a:bodyPr wrap="square" anchor="t">
            <a:spAutoFit/>
          </a:bodyPr>
          <a:lstStyle/>
          <a:p>
            <a:pPr algn="l"/>
            <a:r>
              <a:rPr sz="1300" b="0">
                <a:solidFill>
                  <a:srgbClr val="1A1A1A"/>
                </a:solidFill>
                <a:latin typeface="微软雅黑"/>
                <a:ea typeface="微软雅黑"/>
              </a:rPr>
              <a:t>第3天：日均痰排量40 ml，骶部皮肤完整，减压装置起效。
第7天：自主咳嗽能力提升，Braden评分→17分。护理有效。</a:t>
            </a:r>
          </a:p>
        </p:txBody>
      </p:sp>
      <p:sp>
        <p:nvSpPr>
          <p:cNvPr id="33" name="TextBox 32"/>
          <p:cNvSpPr txBox="1"/>
          <p:nvPr/>
        </p:nvSpPr>
        <p:spPr>
          <a:xfrm>
            <a:off x="365760" y="6446520"/>
            <a:ext cx="11430000" cy="365760"/>
          </a:xfrm>
          <a:prstGeom prst="rect">
            <a:avLst/>
          </a:prstGeom>
          <a:noFill/>
        </p:spPr>
        <p:txBody>
          <a:bodyPr wrap="square" anchor="t">
            <a:spAutoFit/>
          </a:bodyPr>
          <a:lstStyle/>
          <a:p>
            <a:pPr algn="l"/>
            <a:r>
              <a:rPr sz="900" b="0">
                <a:solidFill>
                  <a:srgbClr val="90A0B0"/>
                </a:solidFill>
                <a:latin typeface="微软雅黑"/>
                <a:ea typeface="微软雅黑"/>
              </a:rPr>
              <a:t>[9]苏凤华.中外医疗,2025,44(1):113-116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护理措施</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365760" y="914400"/>
            <a:ext cx="320040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914400"/>
            <a:ext cx="3200400" cy="411480"/>
          </a:xfrm>
          <a:prstGeom prst="rect">
            <a:avLst/>
          </a:prstGeom>
          <a:noFill/>
        </p:spPr>
        <p:txBody>
          <a:bodyPr wrap="square" anchor="ctr">
            <a:spAutoFit/>
          </a:bodyPr>
          <a:lstStyle/>
          <a:p>
            <a:pPr algn="ctr"/>
            <a:r>
              <a:rPr sz="1400" b="1">
                <a:solidFill>
                  <a:srgbClr val="FFFFFF"/>
                </a:solidFill>
                <a:latin typeface="微软雅黑"/>
                <a:ea typeface="微软雅黑"/>
              </a:rPr>
              <a:t>诊断三  多重并发症风险</a:t>
            </a:r>
          </a:p>
        </p:txBody>
      </p:sp>
      <p:sp>
        <p:nvSpPr>
          <p:cNvPr id="15" name="Rounded Rectangle 14"/>
          <p:cNvSpPr/>
          <p:nvPr/>
        </p:nvSpPr>
        <p:spPr>
          <a:xfrm>
            <a:off x="3749039" y="914400"/>
            <a:ext cx="3474720" cy="41148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39" y="914400"/>
            <a:ext cx="3474720" cy="411480"/>
          </a:xfrm>
          <a:prstGeom prst="rect">
            <a:avLst/>
          </a:prstGeom>
          <a:noFill/>
        </p:spPr>
        <p:txBody>
          <a:bodyPr wrap="square" anchor="ctr">
            <a:spAutoFit/>
          </a:bodyPr>
          <a:lstStyle/>
          <a:p>
            <a:pPr algn="ctr"/>
            <a:r>
              <a:rPr sz="1300" b="1">
                <a:solidFill>
                  <a:srgbClr val="1E3A8A"/>
                </a:solidFill>
                <a:latin typeface="微软雅黑"/>
                <a:ea typeface="微软雅黑"/>
              </a:rPr>
              <a:t>跌倒 + VTE + 心肾监测</a:t>
            </a:r>
          </a:p>
        </p:txBody>
      </p:sp>
      <p:sp>
        <p:nvSpPr>
          <p:cNvPr id="17" name="TextBox 16"/>
          <p:cNvSpPr txBox="1"/>
          <p:nvPr/>
        </p:nvSpPr>
        <p:spPr>
          <a:xfrm>
            <a:off x="365760" y="1463040"/>
            <a:ext cx="11430000" cy="365760"/>
          </a:xfrm>
          <a:prstGeom prst="rect">
            <a:avLst/>
          </a:prstGeom>
          <a:noFill/>
        </p:spPr>
        <p:txBody>
          <a:bodyPr wrap="square" anchor="t">
            <a:spAutoFit/>
          </a:bodyPr>
          <a:lstStyle/>
          <a:p>
            <a:pPr algn="l"/>
            <a:r>
              <a:rPr sz="1500" b="1">
                <a:solidFill>
                  <a:srgbClr val="4A5568"/>
                </a:solidFill>
                <a:latin typeface="微软雅黑"/>
                <a:ea typeface="微软雅黑"/>
              </a:rPr>
              <a:t>如何处理患者活动耐力下降导致的跌倒风险？</a:t>
            </a:r>
          </a:p>
        </p:txBody>
      </p:sp>
      <p:sp>
        <p:nvSpPr>
          <p:cNvPr id="18" name="Rounded Rectangle 17"/>
          <p:cNvSpPr/>
          <p:nvPr/>
        </p:nvSpPr>
        <p:spPr>
          <a:xfrm>
            <a:off x="365760" y="1965960"/>
            <a:ext cx="11430000" cy="4114800"/>
          </a:xfrm>
          <a:prstGeom prst="roundRect">
            <a:avLst/>
          </a:prstGeom>
          <a:solidFill>
            <a:srgbClr val="F5F8FC"/>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2148840"/>
            <a:ext cx="7315200" cy="365760"/>
          </a:xfrm>
          <a:prstGeom prst="rect">
            <a:avLst/>
          </a:prstGeom>
          <a:noFill/>
        </p:spPr>
        <p:txBody>
          <a:bodyPr wrap="square" anchor="t">
            <a:spAutoFit/>
          </a:bodyPr>
          <a:lstStyle/>
          <a:p>
            <a:pPr algn="l"/>
            <a:r>
              <a:rPr sz="1600" b="1">
                <a:solidFill>
                  <a:srgbClr val="1E3A8A"/>
                </a:solidFill>
                <a:latin typeface="微软雅黑"/>
                <a:ea typeface="微软雅黑"/>
              </a:rPr>
              <a:t>急性期 · 跌倒三级防控</a:t>
            </a:r>
          </a:p>
        </p:txBody>
      </p:sp>
      <p:sp>
        <p:nvSpPr>
          <p:cNvPr id="20" name="TextBox 19"/>
          <p:cNvSpPr txBox="1"/>
          <p:nvPr/>
        </p:nvSpPr>
        <p:spPr>
          <a:xfrm>
            <a:off x="731520" y="2743200"/>
            <a:ext cx="10789920" cy="457200"/>
          </a:xfrm>
          <a:prstGeom prst="rect">
            <a:avLst/>
          </a:prstGeom>
          <a:noFill/>
        </p:spPr>
        <p:txBody>
          <a:bodyPr wrap="square" anchor="t">
            <a:spAutoFit/>
          </a:bodyPr>
          <a:lstStyle/>
          <a:p>
            <a:pPr algn="l"/>
            <a:r>
              <a:rPr sz="1400" b="0">
                <a:solidFill>
                  <a:srgbClr val="1A1A1A"/>
                </a:solidFill>
                <a:latin typeface="微软雅黑"/>
                <a:ea typeface="微软雅黑"/>
              </a:rPr>
              <a:t>▶ 病房地面保持干燥，设置防滑标识，通道无障碍物，确保活动空间通畅[10]</a:t>
            </a:r>
          </a:p>
        </p:txBody>
      </p:sp>
      <p:sp>
        <p:nvSpPr>
          <p:cNvPr id="21" name="TextBox 20"/>
          <p:cNvSpPr txBox="1"/>
          <p:nvPr/>
        </p:nvSpPr>
        <p:spPr>
          <a:xfrm>
            <a:off x="731520" y="3246120"/>
            <a:ext cx="10789920" cy="457200"/>
          </a:xfrm>
          <a:prstGeom prst="rect">
            <a:avLst/>
          </a:prstGeom>
          <a:noFill/>
        </p:spPr>
        <p:txBody>
          <a:bodyPr wrap="square" anchor="t">
            <a:spAutoFit/>
          </a:bodyPr>
          <a:lstStyle/>
          <a:p>
            <a:pPr algn="l"/>
            <a:r>
              <a:rPr sz="1400" b="0">
                <a:solidFill>
                  <a:srgbClr val="1A1A1A"/>
                </a:solidFill>
                <a:latin typeface="微软雅黑"/>
                <a:ea typeface="微软雅黑"/>
              </a:rPr>
              <a:t>▶ 用药监护：呋塞米注射后30分钟内床旁监护，防体位性低血压</a:t>
            </a:r>
          </a:p>
        </p:txBody>
      </p:sp>
      <p:sp>
        <p:nvSpPr>
          <p:cNvPr id="22" name="TextBox 21"/>
          <p:cNvSpPr txBox="1"/>
          <p:nvPr/>
        </p:nvSpPr>
        <p:spPr>
          <a:xfrm>
            <a:off x="731520" y="3749040"/>
            <a:ext cx="10789920" cy="457200"/>
          </a:xfrm>
          <a:prstGeom prst="rect">
            <a:avLst/>
          </a:prstGeom>
          <a:noFill/>
        </p:spPr>
        <p:txBody>
          <a:bodyPr wrap="square" anchor="t">
            <a:spAutoFit/>
          </a:bodyPr>
          <a:lstStyle/>
          <a:p>
            <a:pPr algn="l"/>
            <a:r>
              <a:rPr sz="1400" b="0">
                <a:solidFill>
                  <a:srgbClr val="1A1A1A"/>
                </a:solidFill>
                <a:latin typeface="微软雅黑"/>
                <a:ea typeface="微软雅黑"/>
              </a:rPr>
              <a:t>▶ 床栏保护，呼叫器置于触手可及处，落实高危跌倒标识</a:t>
            </a:r>
          </a:p>
        </p:txBody>
      </p:sp>
      <p:sp>
        <p:nvSpPr>
          <p:cNvPr id="23" name="TextBox 22"/>
          <p:cNvSpPr txBox="1"/>
          <p:nvPr/>
        </p:nvSpPr>
        <p:spPr>
          <a:xfrm>
            <a:off x="731520" y="4251960"/>
            <a:ext cx="10789920" cy="457200"/>
          </a:xfrm>
          <a:prstGeom prst="rect">
            <a:avLst/>
          </a:prstGeom>
          <a:noFill/>
        </p:spPr>
        <p:txBody>
          <a:bodyPr wrap="square" anchor="t">
            <a:spAutoFit/>
          </a:bodyPr>
          <a:lstStyle/>
          <a:p>
            <a:pPr algn="l"/>
            <a:r>
              <a:rPr sz="1400" b="0">
                <a:solidFill>
                  <a:srgbClr val="1A1A1A"/>
                </a:solidFill>
                <a:latin typeface="微软雅黑"/>
                <a:ea typeface="微软雅黑"/>
              </a:rPr>
              <a:t>▶ 协助如厕与转移，避免夜间独自下床</a:t>
            </a:r>
          </a:p>
        </p:txBody>
      </p:sp>
      <p:sp>
        <p:nvSpPr>
          <p:cNvPr id="24" name="TextBox 23"/>
          <p:cNvSpPr txBox="1"/>
          <p:nvPr/>
        </p:nvSpPr>
        <p:spPr>
          <a:xfrm>
            <a:off x="731520" y="4754880"/>
            <a:ext cx="10789920" cy="457200"/>
          </a:xfrm>
          <a:prstGeom prst="rect">
            <a:avLst/>
          </a:prstGeom>
          <a:noFill/>
        </p:spPr>
        <p:txBody>
          <a:bodyPr wrap="square" anchor="t">
            <a:spAutoFit/>
          </a:bodyPr>
          <a:lstStyle/>
          <a:p>
            <a:pPr algn="l"/>
            <a:r>
              <a:rPr sz="1400" b="0">
                <a:solidFill>
                  <a:srgbClr val="1A1A1A"/>
                </a:solidFill>
                <a:latin typeface="微软雅黑"/>
                <a:ea typeface="微软雅黑"/>
              </a:rPr>
              <a:t>▶ 家属参与风险管理，强化健康教育</a:t>
            </a:r>
          </a:p>
        </p:txBody>
      </p:sp>
      <p:sp>
        <p:nvSpPr>
          <p:cNvPr id="25" name="TextBox 24"/>
          <p:cNvSpPr txBox="1"/>
          <p:nvPr/>
        </p:nvSpPr>
        <p:spPr>
          <a:xfrm>
            <a:off x="365760" y="6446520"/>
            <a:ext cx="11430000" cy="365760"/>
          </a:xfrm>
          <a:prstGeom prst="rect">
            <a:avLst/>
          </a:prstGeom>
          <a:noFill/>
        </p:spPr>
        <p:txBody>
          <a:bodyPr wrap="square" anchor="t">
            <a:spAutoFit/>
          </a:bodyPr>
          <a:lstStyle/>
          <a:p>
            <a:pPr algn="l"/>
            <a:r>
              <a:rPr sz="900" b="0">
                <a:solidFill>
                  <a:srgbClr val="90A0B0"/>
                </a:solidFill>
                <a:latin typeface="微软雅黑"/>
                <a:ea typeface="微软雅黑"/>
              </a:rPr>
              <a:t>[10]秦娟等.中文科技期刊数据库(文摘版)医药卫生,2025(6):177-180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护理措施</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护理过程</a:t>
            </a:r>
          </a:p>
        </p:txBody>
      </p:sp>
      <p:sp>
        <p:nvSpPr>
          <p:cNvPr id="10" name="Rectangle 9"/>
          <p:cNvSpPr/>
          <p:nvPr/>
        </p:nvSpPr>
        <p:spPr>
          <a:xfrm>
            <a:off x="909828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2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总结展望</a:t>
            </a:r>
          </a:p>
        </p:txBody>
      </p:sp>
      <p:sp>
        <p:nvSpPr>
          <p:cNvPr id="13" name="Rounded Rectangle 12"/>
          <p:cNvSpPr/>
          <p:nvPr/>
        </p:nvSpPr>
        <p:spPr>
          <a:xfrm>
            <a:off x="365760" y="914400"/>
            <a:ext cx="3200400" cy="41148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914400"/>
            <a:ext cx="3200400" cy="411480"/>
          </a:xfrm>
          <a:prstGeom prst="rect">
            <a:avLst/>
          </a:prstGeom>
          <a:noFill/>
        </p:spPr>
        <p:txBody>
          <a:bodyPr wrap="square" anchor="ctr">
            <a:spAutoFit/>
          </a:bodyPr>
          <a:lstStyle/>
          <a:p>
            <a:pPr algn="ctr"/>
            <a:r>
              <a:rPr sz="1400" b="1">
                <a:solidFill>
                  <a:srgbClr val="FFFFFF"/>
                </a:solidFill>
                <a:latin typeface="微软雅黑"/>
                <a:ea typeface="微软雅黑"/>
              </a:rPr>
              <a:t>诊断三  多重并发症风险</a:t>
            </a:r>
          </a:p>
        </p:txBody>
      </p:sp>
      <p:sp>
        <p:nvSpPr>
          <p:cNvPr id="15" name="Rounded Rectangle 14"/>
          <p:cNvSpPr/>
          <p:nvPr/>
        </p:nvSpPr>
        <p:spPr>
          <a:xfrm>
            <a:off x="365760" y="1508760"/>
            <a:ext cx="5669280" cy="4572000"/>
          </a:xfrm>
          <a:prstGeom prst="roundRect">
            <a:avLst/>
          </a:prstGeom>
          <a:solidFill>
            <a:srgbClr val="FFFFFF"/>
          </a:solidFill>
          <a:ln w="15875">
            <a:solidFill>
              <a:srgbClr val="2E5B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1645920"/>
            <a:ext cx="5303520" cy="365760"/>
          </a:xfrm>
          <a:prstGeom prst="rect">
            <a:avLst/>
          </a:prstGeom>
          <a:noFill/>
        </p:spPr>
        <p:txBody>
          <a:bodyPr wrap="square" anchor="t">
            <a:spAutoFit/>
          </a:bodyPr>
          <a:lstStyle/>
          <a:p>
            <a:pPr algn="l"/>
            <a:r>
              <a:rPr sz="1600" b="1">
                <a:solidFill>
                  <a:srgbClr val="1E3A8A"/>
                </a:solidFill>
                <a:latin typeface="微软雅黑"/>
                <a:ea typeface="微软雅黑"/>
              </a:rPr>
              <a:t>VTE预防组合</a:t>
            </a:r>
          </a:p>
        </p:txBody>
      </p:sp>
      <p:sp>
        <p:nvSpPr>
          <p:cNvPr id="17" name="TextBox 16"/>
          <p:cNvSpPr txBox="1"/>
          <p:nvPr/>
        </p:nvSpPr>
        <p:spPr>
          <a:xfrm>
            <a:off x="640080" y="2194560"/>
            <a:ext cx="5212080" cy="457200"/>
          </a:xfrm>
          <a:prstGeom prst="rect">
            <a:avLst/>
          </a:prstGeom>
          <a:noFill/>
        </p:spPr>
        <p:txBody>
          <a:bodyPr wrap="square" anchor="t">
            <a:spAutoFit/>
          </a:bodyPr>
          <a:lstStyle/>
          <a:p>
            <a:pPr algn="l"/>
            <a:r>
              <a:rPr sz="1200" b="0">
                <a:solidFill>
                  <a:srgbClr val="1A1A1A"/>
                </a:solidFill>
                <a:latin typeface="微软雅黑"/>
                <a:ea typeface="微软雅黑"/>
              </a:rPr>
              <a:t>1. 抗凝：依诺肝素40 mg皮下注射，距脐周≥5 cm，按压5 min</a:t>
            </a:r>
          </a:p>
        </p:txBody>
      </p:sp>
      <p:sp>
        <p:nvSpPr>
          <p:cNvPr id="18" name="TextBox 17"/>
          <p:cNvSpPr txBox="1"/>
          <p:nvPr/>
        </p:nvSpPr>
        <p:spPr>
          <a:xfrm>
            <a:off x="640080" y="2697480"/>
            <a:ext cx="5212080" cy="457200"/>
          </a:xfrm>
          <a:prstGeom prst="rect">
            <a:avLst/>
          </a:prstGeom>
          <a:noFill/>
        </p:spPr>
        <p:txBody>
          <a:bodyPr wrap="square" anchor="t">
            <a:spAutoFit/>
          </a:bodyPr>
          <a:lstStyle/>
          <a:p>
            <a:pPr algn="l"/>
            <a:r>
              <a:rPr sz="1200" b="0">
                <a:solidFill>
                  <a:srgbClr val="1A1A1A"/>
                </a:solidFill>
                <a:latin typeface="微软雅黑"/>
                <a:ea typeface="微软雅黑"/>
              </a:rPr>
              <a:t>2. 穿戴梯度弹力袜，每日检查下肢皮肤</a:t>
            </a:r>
          </a:p>
        </p:txBody>
      </p:sp>
      <p:sp>
        <p:nvSpPr>
          <p:cNvPr id="19" name="TextBox 18"/>
          <p:cNvSpPr txBox="1"/>
          <p:nvPr/>
        </p:nvSpPr>
        <p:spPr>
          <a:xfrm>
            <a:off x="640080" y="3200400"/>
            <a:ext cx="5212080" cy="457200"/>
          </a:xfrm>
          <a:prstGeom prst="rect">
            <a:avLst/>
          </a:prstGeom>
          <a:noFill/>
        </p:spPr>
        <p:txBody>
          <a:bodyPr wrap="square" anchor="t">
            <a:spAutoFit/>
          </a:bodyPr>
          <a:lstStyle/>
          <a:p>
            <a:pPr algn="l"/>
            <a:r>
              <a:rPr sz="1200" b="0">
                <a:solidFill>
                  <a:srgbClr val="1A1A1A"/>
                </a:solidFill>
                <a:latin typeface="微软雅黑"/>
                <a:ea typeface="微软雅黑"/>
              </a:rPr>
              <a:t>3. 每小时踝泵运动10–15次</a:t>
            </a:r>
          </a:p>
        </p:txBody>
      </p:sp>
      <p:sp>
        <p:nvSpPr>
          <p:cNvPr id="20" name="TextBox 19"/>
          <p:cNvSpPr txBox="1"/>
          <p:nvPr/>
        </p:nvSpPr>
        <p:spPr>
          <a:xfrm>
            <a:off x="640080" y="3703320"/>
            <a:ext cx="5212080" cy="457200"/>
          </a:xfrm>
          <a:prstGeom prst="rect">
            <a:avLst/>
          </a:prstGeom>
          <a:noFill/>
        </p:spPr>
        <p:txBody>
          <a:bodyPr wrap="square" anchor="t">
            <a:spAutoFit/>
          </a:bodyPr>
          <a:lstStyle/>
          <a:p>
            <a:pPr algn="l"/>
            <a:r>
              <a:rPr sz="1200" b="0">
                <a:solidFill>
                  <a:srgbClr val="1A1A1A"/>
                </a:solidFill>
                <a:latin typeface="微软雅黑"/>
                <a:ea typeface="微软雅黑"/>
              </a:rPr>
              <a:t>4. 每日下床活动3次，每次15–20 min</a:t>
            </a:r>
          </a:p>
        </p:txBody>
      </p:sp>
      <p:sp>
        <p:nvSpPr>
          <p:cNvPr id="21" name="TextBox 20"/>
          <p:cNvSpPr txBox="1"/>
          <p:nvPr/>
        </p:nvSpPr>
        <p:spPr>
          <a:xfrm>
            <a:off x="640080" y="4206240"/>
            <a:ext cx="5212080" cy="457200"/>
          </a:xfrm>
          <a:prstGeom prst="rect">
            <a:avLst/>
          </a:prstGeom>
          <a:noFill/>
        </p:spPr>
        <p:txBody>
          <a:bodyPr wrap="square" anchor="t">
            <a:spAutoFit/>
          </a:bodyPr>
          <a:lstStyle/>
          <a:p>
            <a:pPr algn="l"/>
            <a:r>
              <a:rPr sz="1200" b="0">
                <a:solidFill>
                  <a:srgbClr val="1A1A1A"/>
                </a:solidFill>
                <a:latin typeface="微软雅黑"/>
                <a:ea typeface="微软雅黑"/>
              </a:rPr>
              <a:t>5. 渐进式活动：踝泵→床边坐立→扶行训练</a:t>
            </a:r>
          </a:p>
        </p:txBody>
      </p:sp>
      <p:sp>
        <p:nvSpPr>
          <p:cNvPr id="22" name="TextBox 21"/>
          <p:cNvSpPr txBox="1"/>
          <p:nvPr/>
        </p:nvSpPr>
        <p:spPr>
          <a:xfrm>
            <a:off x="640080" y="4709160"/>
            <a:ext cx="5212080" cy="457200"/>
          </a:xfrm>
          <a:prstGeom prst="rect">
            <a:avLst/>
          </a:prstGeom>
          <a:noFill/>
        </p:spPr>
        <p:txBody>
          <a:bodyPr wrap="square" anchor="t">
            <a:spAutoFit/>
          </a:bodyPr>
          <a:lstStyle/>
          <a:p>
            <a:pPr algn="l"/>
            <a:r>
              <a:rPr sz="1200" b="0">
                <a:solidFill>
                  <a:srgbClr val="1A1A1A"/>
                </a:solidFill>
                <a:latin typeface="微软雅黑"/>
                <a:ea typeface="微软雅黑"/>
              </a:rPr>
              <a:t>6. 活动时监测Borg呼吸困难评分</a:t>
            </a:r>
          </a:p>
        </p:txBody>
      </p:sp>
      <p:sp>
        <p:nvSpPr>
          <p:cNvPr id="23" name="Rounded Rectangle 22"/>
          <p:cNvSpPr/>
          <p:nvPr/>
        </p:nvSpPr>
        <p:spPr>
          <a:xfrm>
            <a:off x="6309360" y="1508760"/>
            <a:ext cx="5486400" cy="2377440"/>
          </a:xfrm>
          <a:prstGeom prst="roundRect">
            <a:avLst/>
          </a:prstGeom>
          <a:solidFill>
            <a:srgbClr val="F5F8FC"/>
          </a:solidFill>
          <a:ln w="15875">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1645920"/>
            <a:ext cx="5120640" cy="365760"/>
          </a:xfrm>
          <a:prstGeom prst="rect">
            <a:avLst/>
          </a:prstGeom>
          <a:noFill/>
        </p:spPr>
        <p:txBody>
          <a:bodyPr wrap="square" anchor="t">
            <a:spAutoFit/>
          </a:bodyPr>
          <a:lstStyle/>
          <a:p>
            <a:pPr algn="l"/>
            <a:r>
              <a:rPr sz="1600" b="1">
                <a:solidFill>
                  <a:srgbClr val="1E3A8A"/>
                </a:solidFill>
                <a:latin typeface="微软雅黑"/>
                <a:ea typeface="微软雅黑"/>
              </a:rPr>
              <a:t>心肾功能监测</a:t>
            </a:r>
          </a:p>
        </p:txBody>
      </p:sp>
      <p:sp>
        <p:nvSpPr>
          <p:cNvPr id="25" name="TextBox 24"/>
          <p:cNvSpPr txBox="1"/>
          <p:nvPr/>
        </p:nvSpPr>
        <p:spPr>
          <a:xfrm>
            <a:off x="6492240" y="2148840"/>
            <a:ext cx="5120640" cy="1463040"/>
          </a:xfrm>
          <a:prstGeom prst="rect">
            <a:avLst/>
          </a:prstGeom>
          <a:noFill/>
        </p:spPr>
        <p:txBody>
          <a:bodyPr wrap="square" anchor="t">
            <a:spAutoFit/>
          </a:bodyPr>
          <a:lstStyle/>
          <a:p>
            <a:pPr algn="l"/>
            <a:r>
              <a:rPr sz="1300" b="0">
                <a:solidFill>
                  <a:srgbClr val="1A1A1A"/>
                </a:solidFill>
                <a:latin typeface="微软雅黑"/>
                <a:ea typeface="微软雅黑"/>
              </a:rPr>
              <a:t>持续心电监护，复查心电图、心超评估心功能；刻度器具记录出入量，每班汇总；低盐低脂优质蛋白饮食，维持水电解质，减轻心肾负担。</a:t>
            </a:r>
          </a:p>
        </p:txBody>
      </p:sp>
      <p:sp>
        <p:nvSpPr>
          <p:cNvPr id="26" name="Rounded Rectangle 25"/>
          <p:cNvSpPr/>
          <p:nvPr/>
        </p:nvSpPr>
        <p:spPr>
          <a:xfrm>
            <a:off x="6309360" y="4069080"/>
            <a:ext cx="5486400" cy="2011680"/>
          </a:xfrm>
          <a:prstGeom prst="roundRect">
            <a:avLst/>
          </a:prstGeom>
          <a:solidFill>
            <a:srgbClr val="FFFFFF"/>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4206240"/>
            <a:ext cx="5120640" cy="320040"/>
          </a:xfrm>
          <a:prstGeom prst="rect">
            <a:avLst/>
          </a:prstGeom>
          <a:noFill/>
        </p:spPr>
        <p:txBody>
          <a:bodyPr wrap="square" anchor="t">
            <a:spAutoFit/>
          </a:bodyPr>
          <a:lstStyle/>
          <a:p>
            <a:pPr algn="l"/>
            <a:r>
              <a:rPr sz="1500" b="1">
                <a:solidFill>
                  <a:srgbClr val="2E7D32"/>
                </a:solidFill>
                <a:latin typeface="微软雅黑"/>
                <a:ea typeface="微软雅黑"/>
              </a:rPr>
              <a:t>效果评价</a:t>
            </a:r>
          </a:p>
        </p:txBody>
      </p:sp>
      <p:sp>
        <p:nvSpPr>
          <p:cNvPr id="28" name="TextBox 27"/>
          <p:cNvSpPr txBox="1"/>
          <p:nvPr/>
        </p:nvSpPr>
        <p:spPr>
          <a:xfrm>
            <a:off x="6492240" y="4663440"/>
            <a:ext cx="5120640" cy="1188720"/>
          </a:xfrm>
          <a:prstGeom prst="rect">
            <a:avLst/>
          </a:prstGeom>
          <a:noFill/>
        </p:spPr>
        <p:txBody>
          <a:bodyPr wrap="square" anchor="t">
            <a:spAutoFit/>
          </a:bodyPr>
          <a:lstStyle/>
          <a:p>
            <a:pPr algn="l"/>
            <a:r>
              <a:rPr sz="1300" b="0">
                <a:solidFill>
                  <a:srgbClr val="1A1A1A"/>
                </a:solidFill>
                <a:latin typeface="微软雅黑"/>
                <a:ea typeface="微软雅黑"/>
              </a:rPr>
              <a:t>第3天：跌倒评分→45分，下肢周径差&lt;1 cm。
第7天：独立行走10 m，24h尿量1500 ml。护理有效。</a:t>
            </a:r>
          </a:p>
        </p:txBody>
      </p:sp>
      <p:sp>
        <p:nvSpPr>
          <p:cNvPr id="29" name="TextBox 28"/>
          <p:cNvSpPr txBox="1"/>
          <p:nvPr/>
        </p:nvSpPr>
        <p:spPr>
          <a:xfrm>
            <a:off x="365760" y="6446520"/>
            <a:ext cx="11430000" cy="365760"/>
          </a:xfrm>
          <a:prstGeom prst="rect">
            <a:avLst/>
          </a:prstGeom>
          <a:noFill/>
        </p:spPr>
        <p:txBody>
          <a:bodyPr wrap="square" anchor="t">
            <a:spAutoFit/>
          </a:bodyPr>
          <a:lstStyle/>
          <a:p>
            <a:pPr algn="l"/>
            <a:r>
              <a:rPr sz="900" b="0">
                <a:solidFill>
                  <a:srgbClr val="90A0B0"/>
                </a:solidFill>
                <a:latin typeface="微软雅黑"/>
                <a:ea typeface="微软雅黑"/>
              </a:rPr>
              <a:t>[11]张蒙等.海军医学杂志,2025,46(2):200-204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总结</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护理过程</a:t>
            </a:r>
          </a:p>
        </p:txBody>
      </p:sp>
      <p:sp>
        <p:nvSpPr>
          <p:cNvPr id="10" name="Rectangle 9"/>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总结展望</a:t>
            </a:r>
          </a:p>
        </p:txBody>
      </p:sp>
      <p:sp>
        <p:nvSpPr>
          <p:cNvPr id="12" name="Rectangle 11"/>
          <p:cNvSpPr/>
          <p:nvPr/>
        </p:nvSpPr>
        <p:spPr>
          <a:xfrm>
            <a:off x="1065276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65760" y="1097280"/>
            <a:ext cx="5669280" cy="2286000"/>
          </a:xfrm>
          <a:prstGeom prst="roundRect">
            <a:avLst/>
          </a:prstGeom>
          <a:solidFill>
            <a:srgbClr val="FFFFFF"/>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097280"/>
            <a:ext cx="5669280" cy="5943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1188720"/>
            <a:ext cx="5669280" cy="411480"/>
          </a:xfrm>
          <a:prstGeom prst="rect">
            <a:avLst/>
          </a:prstGeom>
          <a:noFill/>
        </p:spPr>
        <p:txBody>
          <a:bodyPr wrap="square" anchor="t">
            <a:spAutoFit/>
          </a:bodyPr>
          <a:lstStyle/>
          <a:p>
            <a:pPr algn="ctr"/>
            <a:r>
              <a:rPr sz="1800" b="1">
                <a:solidFill>
                  <a:srgbClr val="FFFFFF"/>
                </a:solidFill>
                <a:latin typeface="微软雅黑"/>
                <a:ea typeface="微软雅黑"/>
              </a:rPr>
              <a:t>01  动态风险评估</a:t>
            </a:r>
          </a:p>
        </p:txBody>
      </p:sp>
      <p:sp>
        <p:nvSpPr>
          <p:cNvPr id="16" name="TextBox 15"/>
          <p:cNvSpPr txBox="1"/>
          <p:nvPr/>
        </p:nvSpPr>
        <p:spPr>
          <a:xfrm>
            <a:off x="640080" y="1920240"/>
            <a:ext cx="5120640" cy="1280160"/>
          </a:xfrm>
          <a:prstGeom prst="rect">
            <a:avLst/>
          </a:prstGeom>
          <a:noFill/>
        </p:spPr>
        <p:txBody>
          <a:bodyPr wrap="square" anchor="t">
            <a:spAutoFit/>
          </a:bodyPr>
          <a:lstStyle/>
          <a:p>
            <a:pPr algn="l"/>
            <a:r>
              <a:rPr sz="1400" b="0">
                <a:solidFill>
                  <a:srgbClr val="1A1A1A"/>
                </a:solidFill>
                <a:latin typeface="微软雅黑"/>
                <a:ea typeface="微软雅黑"/>
              </a:rPr>
              <a:t>用Morse量表评估跌倒风险，Padua量表评估VTE风险，结合心肾功能指标动态判断多重并发症风险等级。</a:t>
            </a:r>
          </a:p>
        </p:txBody>
      </p:sp>
      <p:sp>
        <p:nvSpPr>
          <p:cNvPr id="17" name="Rounded Rectangle 16"/>
          <p:cNvSpPr/>
          <p:nvPr/>
        </p:nvSpPr>
        <p:spPr>
          <a:xfrm>
            <a:off x="6263640" y="1097280"/>
            <a:ext cx="5669280" cy="2286000"/>
          </a:xfrm>
          <a:prstGeom prst="roundRect">
            <a:avLst/>
          </a:prstGeom>
          <a:solidFill>
            <a:srgbClr val="FFFFFF"/>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1097280"/>
            <a:ext cx="5669280" cy="5943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1188720"/>
            <a:ext cx="5669280" cy="411480"/>
          </a:xfrm>
          <a:prstGeom prst="rect">
            <a:avLst/>
          </a:prstGeom>
          <a:noFill/>
        </p:spPr>
        <p:txBody>
          <a:bodyPr wrap="square" anchor="t">
            <a:spAutoFit/>
          </a:bodyPr>
          <a:lstStyle/>
          <a:p>
            <a:pPr algn="ctr"/>
            <a:r>
              <a:rPr sz="1800" b="1">
                <a:solidFill>
                  <a:srgbClr val="FFFFFF"/>
                </a:solidFill>
                <a:latin typeface="微软雅黑"/>
                <a:ea typeface="微软雅黑"/>
              </a:rPr>
              <a:t>02  多学科协作</a:t>
            </a:r>
          </a:p>
        </p:txBody>
      </p:sp>
      <p:sp>
        <p:nvSpPr>
          <p:cNvPr id="20" name="TextBox 19"/>
          <p:cNvSpPr txBox="1"/>
          <p:nvPr/>
        </p:nvSpPr>
        <p:spPr>
          <a:xfrm>
            <a:off x="6537960" y="1920240"/>
            <a:ext cx="5120640" cy="1280160"/>
          </a:xfrm>
          <a:prstGeom prst="rect">
            <a:avLst/>
          </a:prstGeom>
          <a:noFill/>
        </p:spPr>
        <p:txBody>
          <a:bodyPr wrap="square" anchor="t">
            <a:spAutoFit/>
          </a:bodyPr>
          <a:lstStyle/>
          <a:p>
            <a:pPr algn="l"/>
            <a:r>
              <a:rPr sz="1400" b="0">
                <a:solidFill>
                  <a:srgbClr val="1A1A1A"/>
                </a:solidFill>
                <a:latin typeface="微软雅黑"/>
                <a:ea typeface="微软雅黑"/>
              </a:rPr>
              <a:t>医护协同调整方案，强化患者及家属健康教育，营养干预助力心肾负担减轻。</a:t>
            </a:r>
          </a:p>
        </p:txBody>
      </p:sp>
      <p:sp>
        <p:nvSpPr>
          <p:cNvPr id="21" name="Rounded Rectangle 20"/>
          <p:cNvSpPr/>
          <p:nvPr/>
        </p:nvSpPr>
        <p:spPr>
          <a:xfrm>
            <a:off x="365760" y="3611880"/>
            <a:ext cx="5669280" cy="2286000"/>
          </a:xfrm>
          <a:prstGeom prst="roundRect">
            <a:avLst/>
          </a:prstGeom>
          <a:solidFill>
            <a:srgbClr val="FFFFFF"/>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3611880"/>
            <a:ext cx="5669280" cy="5943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3703320"/>
            <a:ext cx="5669280" cy="411480"/>
          </a:xfrm>
          <a:prstGeom prst="rect">
            <a:avLst/>
          </a:prstGeom>
          <a:noFill/>
        </p:spPr>
        <p:txBody>
          <a:bodyPr wrap="square" anchor="t">
            <a:spAutoFit/>
          </a:bodyPr>
          <a:lstStyle/>
          <a:p>
            <a:pPr algn="ctr"/>
            <a:r>
              <a:rPr sz="1800" b="1">
                <a:solidFill>
                  <a:srgbClr val="FFFFFF"/>
                </a:solidFill>
                <a:latin typeface="微软雅黑"/>
                <a:ea typeface="微软雅黑"/>
              </a:rPr>
              <a:t>03  精准监测管理</a:t>
            </a:r>
          </a:p>
        </p:txBody>
      </p:sp>
      <p:sp>
        <p:nvSpPr>
          <p:cNvPr id="24" name="TextBox 23"/>
          <p:cNvSpPr txBox="1"/>
          <p:nvPr/>
        </p:nvSpPr>
        <p:spPr>
          <a:xfrm>
            <a:off x="640080" y="4434840"/>
            <a:ext cx="5120640" cy="1280160"/>
          </a:xfrm>
          <a:prstGeom prst="rect">
            <a:avLst/>
          </a:prstGeom>
          <a:noFill/>
        </p:spPr>
        <p:txBody>
          <a:bodyPr wrap="square" anchor="t">
            <a:spAutoFit/>
          </a:bodyPr>
          <a:lstStyle/>
          <a:p>
            <a:pPr algn="l"/>
            <a:r>
              <a:rPr sz="1400" b="0">
                <a:solidFill>
                  <a:srgbClr val="1A1A1A"/>
                </a:solidFill>
                <a:latin typeface="微软雅黑"/>
                <a:ea typeface="微软雅黑"/>
              </a:rPr>
              <a:t>持续监护生命体征，记录出入量，复查心肾功能指标，及时发现异常变化。</a:t>
            </a:r>
          </a:p>
        </p:txBody>
      </p:sp>
      <p:sp>
        <p:nvSpPr>
          <p:cNvPr id="25" name="Rounded Rectangle 24"/>
          <p:cNvSpPr/>
          <p:nvPr/>
        </p:nvSpPr>
        <p:spPr>
          <a:xfrm>
            <a:off x="6263640" y="3611880"/>
            <a:ext cx="5669280" cy="2286000"/>
          </a:xfrm>
          <a:prstGeom prst="roundRect">
            <a:avLst/>
          </a:prstGeom>
          <a:solidFill>
            <a:srgbClr val="FFFFFF"/>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3611880"/>
            <a:ext cx="5669280" cy="5943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3703320"/>
            <a:ext cx="5669280" cy="411480"/>
          </a:xfrm>
          <a:prstGeom prst="rect">
            <a:avLst/>
          </a:prstGeom>
          <a:noFill/>
        </p:spPr>
        <p:txBody>
          <a:bodyPr wrap="square" anchor="t">
            <a:spAutoFit/>
          </a:bodyPr>
          <a:lstStyle/>
          <a:p>
            <a:pPr algn="ctr"/>
            <a:r>
              <a:rPr sz="1800" b="1">
                <a:solidFill>
                  <a:srgbClr val="FFFFFF"/>
                </a:solidFill>
                <a:latin typeface="微软雅黑"/>
                <a:ea typeface="微软雅黑"/>
              </a:rPr>
              <a:t>04  分层预防干预</a:t>
            </a:r>
          </a:p>
        </p:txBody>
      </p:sp>
      <p:sp>
        <p:nvSpPr>
          <p:cNvPr id="28" name="TextBox 27"/>
          <p:cNvSpPr txBox="1"/>
          <p:nvPr/>
        </p:nvSpPr>
        <p:spPr>
          <a:xfrm>
            <a:off x="6537960" y="4434840"/>
            <a:ext cx="5120640" cy="1280160"/>
          </a:xfrm>
          <a:prstGeom prst="rect">
            <a:avLst/>
          </a:prstGeom>
          <a:noFill/>
        </p:spPr>
        <p:txBody>
          <a:bodyPr wrap="square" anchor="t">
            <a:spAutoFit/>
          </a:bodyPr>
          <a:lstStyle/>
          <a:p>
            <a:pPr algn="l"/>
            <a:r>
              <a:rPr sz="1400" b="0">
                <a:solidFill>
                  <a:srgbClr val="1A1A1A"/>
                </a:solidFill>
                <a:latin typeface="微软雅黑"/>
                <a:ea typeface="微软雅黑"/>
              </a:rPr>
              <a:t>实施环境改造防跌倒，运用弹力袜与踝泵运动防VTE，通过控制活动与用药规避风险。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5836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109728"/>
            <a:ext cx="3840480" cy="457200"/>
          </a:xfrm>
          <a:prstGeom prst="rect">
            <a:avLst/>
          </a:prstGeom>
          <a:noFill/>
        </p:spPr>
        <p:txBody>
          <a:bodyPr wrap="square" anchor="ctr">
            <a:spAutoFit/>
          </a:bodyPr>
          <a:lstStyle/>
          <a:p>
            <a:pPr algn="l"/>
            <a:r>
              <a:rPr sz="2200" b="1">
                <a:solidFill>
                  <a:srgbClr val="FFFFFF"/>
                </a:solidFill>
                <a:latin typeface="微软雅黑"/>
                <a:ea typeface="微软雅黑"/>
              </a:rPr>
              <a:t>▶▶  参考文献</a:t>
            </a:r>
          </a:p>
        </p:txBody>
      </p:sp>
      <p:sp>
        <p:nvSpPr>
          <p:cNvPr id="5" name="TextBox 4"/>
          <p:cNvSpPr txBox="1"/>
          <p:nvPr/>
        </p:nvSpPr>
        <p:spPr>
          <a:xfrm>
            <a:off x="566928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前言背景</a:t>
            </a:r>
          </a:p>
        </p:txBody>
      </p:sp>
      <p:sp>
        <p:nvSpPr>
          <p:cNvPr id="6" name="Rectangle 5"/>
          <p:cNvSpPr/>
          <p:nvPr/>
        </p:nvSpPr>
        <p:spPr>
          <a:xfrm>
            <a:off x="720547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病例介绍</a:t>
            </a:r>
          </a:p>
        </p:txBody>
      </p:sp>
      <p:sp>
        <p:nvSpPr>
          <p:cNvPr id="8" name="Rectangle 7"/>
          <p:cNvSpPr/>
          <p:nvPr/>
        </p:nvSpPr>
        <p:spPr>
          <a:xfrm>
            <a:off x="875995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0" y="137160"/>
            <a:ext cx="1554480" cy="365760"/>
          </a:xfrm>
          <a:prstGeom prst="rect">
            <a:avLst/>
          </a:prstGeom>
          <a:noFill/>
        </p:spPr>
        <p:txBody>
          <a:bodyPr wrap="square" anchor="t">
            <a:spAutoFit/>
          </a:bodyPr>
          <a:lstStyle/>
          <a:p>
            <a:pPr algn="ctr"/>
            <a:r>
              <a:rPr sz="1200" b="0">
                <a:solidFill>
                  <a:srgbClr val="B0C4E8"/>
                </a:solidFill>
                <a:latin typeface="微软雅黑"/>
                <a:ea typeface="微软雅黑"/>
              </a:rPr>
              <a:t>护理过程</a:t>
            </a:r>
          </a:p>
        </p:txBody>
      </p:sp>
      <p:sp>
        <p:nvSpPr>
          <p:cNvPr id="10" name="Rectangle 9"/>
          <p:cNvSpPr/>
          <p:nvPr/>
        </p:nvSpPr>
        <p:spPr>
          <a:xfrm>
            <a:off x="10314432" y="201168"/>
            <a:ext cx="13716" cy="274320"/>
          </a:xfrm>
          <a:prstGeom prst="rect">
            <a:avLst/>
          </a:prstGeom>
          <a:solidFill>
            <a:srgbClr val="4A6F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0" y="137160"/>
            <a:ext cx="1554480" cy="365760"/>
          </a:xfrm>
          <a:prstGeom prst="rect">
            <a:avLst/>
          </a:prstGeom>
          <a:noFill/>
        </p:spPr>
        <p:txBody>
          <a:bodyPr wrap="square" anchor="t">
            <a:spAutoFit/>
          </a:bodyPr>
          <a:lstStyle/>
          <a:p>
            <a:pPr algn="ctr"/>
            <a:r>
              <a:rPr sz="1200" b="1">
                <a:solidFill>
                  <a:srgbClr val="FFFFFF"/>
                </a:solidFill>
                <a:latin typeface="微软雅黑"/>
                <a:ea typeface="微软雅黑"/>
              </a:rPr>
              <a:t>总结展望</a:t>
            </a:r>
          </a:p>
        </p:txBody>
      </p:sp>
      <p:sp>
        <p:nvSpPr>
          <p:cNvPr id="12" name="Rectangle 11"/>
          <p:cNvSpPr/>
          <p:nvPr/>
        </p:nvSpPr>
        <p:spPr>
          <a:xfrm>
            <a:off x="10652760" y="502920"/>
            <a:ext cx="914400" cy="54864"/>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914400"/>
            <a:ext cx="11247120" cy="5303520"/>
          </a:xfrm>
          <a:prstGeom prst="rect">
            <a:avLst/>
          </a:prstGeom>
          <a:noFill/>
        </p:spPr>
        <p:txBody>
          <a:bodyPr wrap="square" anchor="t">
            <a:spAutoFit/>
          </a:bodyPr>
          <a:lstStyle/>
          <a:p>
            <a:pPr algn="l"/>
            <a:r>
              <a:rPr sz="1100" b="0">
                <a:solidFill>
                  <a:srgbClr val="1A1A1A"/>
                </a:solidFill>
                <a:latin typeface="微软雅黑"/>
                <a:ea typeface="微软雅黑"/>
              </a:rPr>
              <a:t/>
            </a:r>
            <a:r>
              <a:rPr sz="1100" b="0">
                <a:solidFill>
                  <a:srgbClr val="1A1A1A"/>
                </a:solidFill>
                <a:latin typeface="微软雅黑"/>
                <a:ea typeface="微软雅黑"/>
              </a:rPr>
              <a:t>[1] 毛冰佳,朱玉芬,张繁.基于微信平台的家庭参与式风险管理护理模式在稳定期慢性阻塞性肺疾病中的应用[J].海南医学,2025,36(6):883-888.</a:t>
            </a:r>
          </a:p>
          <a:p>
            <a:pPr algn="l">
              <a:spcBef>
                <a:spcPts val="600"/>
              </a:spcBef>
              <a:spcAft>
                <a:spcPts val="200"/>
              </a:spcAft>
            </a:pPr>
            <a:r>
              <a:rPr sz="1100" b="0">
                <a:solidFill>
                  <a:srgbClr val="1A1A1A"/>
                </a:solidFill>
                <a:latin typeface="微软雅黑"/>
                <a:ea typeface="微软雅黑"/>
              </a:rPr>
              <a:t>[2] 张艳.在慢性阻塞性肺疾病患者中应用护理质量专科监测指标对吸入剂使用正确率的影响[J].中文科技期刊数据库(文摘版)医药卫生,2025(2):158-161.</a:t>
            </a:r>
          </a:p>
          <a:p>
            <a:pPr algn="l">
              <a:spcBef>
                <a:spcPts val="600"/>
              </a:spcBef>
              <a:spcAft>
                <a:spcPts val="200"/>
              </a:spcAft>
            </a:pPr>
            <a:r>
              <a:rPr sz="1100" b="0">
                <a:solidFill>
                  <a:srgbClr val="1A1A1A"/>
                </a:solidFill>
                <a:latin typeface="微软雅黑"/>
                <a:ea typeface="微软雅黑"/>
              </a:rPr>
              <a:t>[3] 赵丹丹,许晓霞,沈霞,等.常规护理联合呼吸操对稳定期慢性阻塞性肺疾病病人的影响[J].全科护理,2025,23(1):134-137.</a:t>
            </a:r>
          </a:p>
          <a:p>
            <a:pPr algn="l">
              <a:spcBef>
                <a:spcPts val="600"/>
              </a:spcBef>
              <a:spcAft>
                <a:spcPts val="200"/>
              </a:spcAft>
            </a:pPr>
            <a:r>
              <a:rPr sz="1100" b="0">
                <a:solidFill>
                  <a:srgbClr val="1A1A1A"/>
                </a:solidFill>
                <a:latin typeface="微软雅黑"/>
                <a:ea typeface="微软雅黑"/>
              </a:rPr>
              <a:t>[4] 李爱华,刘敏,董洁.高频振动排痰系统结合时效性激励模式在重症慢性阻塞性肺疾病伴呼吸衰竭中的应用[J].中华养生保健,2025,43(7):185-189.</a:t>
            </a:r>
          </a:p>
          <a:p>
            <a:pPr algn="l">
              <a:spcBef>
                <a:spcPts val="600"/>
              </a:spcBef>
              <a:spcAft>
                <a:spcPts val="200"/>
              </a:spcAft>
            </a:pPr>
            <a:r>
              <a:rPr sz="1100" b="0">
                <a:solidFill>
                  <a:srgbClr val="1A1A1A"/>
                </a:solidFill>
                <a:latin typeface="微软雅黑"/>
                <a:ea typeface="微软雅黑"/>
              </a:rPr>
              <a:t>[5] 赵晓花.探讨慢性阻塞性肺疾病急性加重期患者中应用体外膈肌刺激疗法联合促排痰护理的效果分析[J].中文科技期刊数据库(引文版)医药卫生,2025(5):188-191.</a:t>
            </a:r>
          </a:p>
          <a:p>
            <a:pPr algn="l">
              <a:spcBef>
                <a:spcPts val="600"/>
              </a:spcBef>
              <a:spcAft>
                <a:spcPts val="200"/>
              </a:spcAft>
            </a:pPr>
            <a:r>
              <a:rPr sz="1100" b="0">
                <a:solidFill>
                  <a:srgbClr val="1A1A1A"/>
                </a:solidFill>
                <a:latin typeface="微软雅黑"/>
                <a:ea typeface="微软雅黑"/>
              </a:rPr>
              <a:t>[6] 王亮,王保兰,姜洁,等.大剂量氨溴索联合左氧氟沙星治疗老年慢性阻塞性肺疾病合并重症肺炎的临床效果[J].临床合理用药,2025,18(16):5-7,26.</a:t>
            </a:r>
          </a:p>
          <a:p>
            <a:pPr algn="l">
              <a:spcBef>
                <a:spcPts val="600"/>
              </a:spcBef>
              <a:spcAft>
                <a:spcPts val="200"/>
              </a:spcAft>
            </a:pPr>
            <a:r>
              <a:rPr sz="1100" b="0">
                <a:solidFill>
                  <a:srgbClr val="1A1A1A"/>
                </a:solidFill>
                <a:latin typeface="微软雅黑"/>
                <a:ea typeface="微软雅黑"/>
              </a:rPr>
              <a:t>[7] 王婷婷,王海兄.基于行为转变理论的肺康复护理结合脐灸在慢性阻塞性肺疾病患者中的应用[J].中西医结合护理(中英文),2025,11(3):41-44.</a:t>
            </a:r>
          </a:p>
          <a:p>
            <a:pPr algn="l">
              <a:spcBef>
                <a:spcPts val="600"/>
              </a:spcBef>
              <a:spcAft>
                <a:spcPts val="200"/>
              </a:spcAft>
            </a:pPr>
            <a:r>
              <a:rPr sz="1100" b="0">
                <a:solidFill>
                  <a:srgbClr val="1A1A1A"/>
                </a:solidFill>
                <a:latin typeface="微软雅黑"/>
                <a:ea typeface="微软雅黑"/>
              </a:rPr>
              <a:t>[8] 王春霞.医护与家属协同护理模式对慢性阻塞性肺疾病急性加重期患者的影响分析[J].中国科技期刊数据库医药,2025(3):183-186.</a:t>
            </a:r>
          </a:p>
          <a:p>
            <a:pPr algn="l">
              <a:spcBef>
                <a:spcPts val="600"/>
              </a:spcBef>
              <a:spcAft>
                <a:spcPts val="200"/>
              </a:spcAft>
            </a:pPr>
            <a:r>
              <a:rPr sz="1100" b="0">
                <a:solidFill>
                  <a:srgbClr val="1A1A1A"/>
                </a:solidFill>
                <a:latin typeface="微软雅黑"/>
                <a:ea typeface="微软雅黑"/>
              </a:rPr>
              <a:t>[9] 苏凤华.综合护理对改善矽肺合并慢性阻塞性肺疾病患者生活质量的影响[J].中外医疗,2025,44(1):113-116.</a:t>
            </a:r>
          </a:p>
          <a:p>
            <a:pPr algn="l">
              <a:spcBef>
                <a:spcPts val="600"/>
              </a:spcBef>
              <a:spcAft>
                <a:spcPts val="200"/>
              </a:spcAft>
            </a:pPr>
            <a:r>
              <a:rPr sz="1100" b="0">
                <a:solidFill>
                  <a:srgbClr val="1A1A1A"/>
                </a:solidFill>
                <a:latin typeface="微软雅黑"/>
                <a:ea typeface="微软雅黑"/>
              </a:rPr>
              <a:t>[10] 秦娟,罗丹,韩正风.老年慢性阻塞性肺疾病患者的衰弱评估及分级护理干预[J].中文科技期刊数据库(文摘版)医药卫生,2025(6):177-180.</a:t>
            </a:r>
          </a:p>
          <a:p>
            <a:pPr algn="l">
              <a:spcBef>
                <a:spcPts val="600"/>
              </a:spcBef>
              <a:spcAft>
                <a:spcPts val="200"/>
              </a:spcAft>
            </a:pPr>
            <a:r>
              <a:rPr sz="1100" b="0">
                <a:solidFill>
                  <a:srgbClr val="1A1A1A"/>
                </a:solidFill>
                <a:latin typeface="微软雅黑"/>
                <a:ea typeface="微软雅黑"/>
              </a:rPr>
              <a:t>[11] 张蒙,张东亚,蒋波.积极心理学团体护理干预对慢性阻塞性肺疾病患者心理健康水平及主观幸福感的影响[J].海军医学杂志,2025,46(2):200-204.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0" y="731520"/>
            <a:ext cx="4114800" cy="914400"/>
          </a:xfrm>
          <a:prstGeom prst="rect">
            <a:avLst/>
          </a:prstGeom>
          <a:noFill/>
        </p:spPr>
        <p:txBody>
          <a:bodyPr wrap="square" anchor="t">
            <a:spAutoFit/>
          </a:bodyPr>
          <a:lstStyle/>
          <a:p>
            <a:pPr algn="ctr"/>
            <a:r>
              <a:rPr sz="6400" b="1">
                <a:solidFill>
                  <a:srgbClr val="D0DCF0"/>
                </a:solidFill>
                <a:latin typeface="微软雅黑"/>
                <a:ea typeface="微软雅黑"/>
              </a:rPr>
              <a:t>202X</a:t>
            </a:r>
          </a:p>
        </p:txBody>
      </p:sp>
      <p:sp>
        <p:nvSpPr>
          <p:cNvPr id="4" name="TextBox 3"/>
          <p:cNvSpPr txBox="1"/>
          <p:nvPr/>
        </p:nvSpPr>
        <p:spPr>
          <a:xfrm>
            <a:off x="1828800" y="914400"/>
            <a:ext cx="8503920" cy="640080"/>
          </a:xfrm>
          <a:prstGeom prst="rect">
            <a:avLst/>
          </a:prstGeom>
          <a:noFill/>
        </p:spPr>
        <p:txBody>
          <a:bodyPr wrap="square" anchor="t">
            <a:spAutoFit/>
          </a:bodyPr>
          <a:lstStyle/>
          <a:p>
            <a:pPr algn="ctr"/>
            <a:r>
              <a:rPr sz="3400" b="1">
                <a:solidFill>
                  <a:srgbClr val="2E7D32"/>
                </a:solidFill>
                <a:latin typeface="微软雅黑"/>
                <a:ea typeface="微软雅黑"/>
              </a:rPr>
              <a:t>循证为护  通肺康固</a:t>
            </a:r>
          </a:p>
        </p:txBody>
      </p:sp>
      <p:sp>
        <p:nvSpPr>
          <p:cNvPr id="5" name="TextBox 4"/>
          <p:cNvSpPr txBox="1"/>
          <p:nvPr/>
        </p:nvSpPr>
        <p:spPr>
          <a:xfrm>
            <a:off x="1828800" y="1600200"/>
            <a:ext cx="8503920" cy="365760"/>
          </a:xfrm>
          <a:prstGeom prst="rect">
            <a:avLst/>
          </a:prstGeom>
          <a:noFill/>
        </p:spPr>
        <p:txBody>
          <a:bodyPr wrap="square" anchor="t">
            <a:spAutoFit/>
          </a:bodyPr>
          <a:lstStyle/>
          <a:p>
            <a:pPr algn="ctr"/>
            <a:r>
              <a:rPr sz="1600" b="1">
                <a:solidFill>
                  <a:srgbClr val="D32F2F"/>
                </a:solidFill>
                <a:latin typeface="微软雅黑"/>
                <a:ea typeface="微软雅黑"/>
              </a:rPr>
              <a:t>·基于高级健康评估·</a:t>
            </a:r>
          </a:p>
        </p:txBody>
      </p:sp>
      <p:sp>
        <p:nvSpPr>
          <p:cNvPr id="6" name="Rectangle 5"/>
          <p:cNvSpPr/>
          <p:nvPr/>
        </p:nvSpPr>
        <p:spPr>
          <a:xfrm>
            <a:off x="0" y="2286000"/>
            <a:ext cx="12191695" cy="21945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43200"/>
            <a:ext cx="10332720" cy="640080"/>
          </a:xfrm>
          <a:prstGeom prst="rect">
            <a:avLst/>
          </a:prstGeom>
          <a:noFill/>
        </p:spPr>
        <p:txBody>
          <a:bodyPr wrap="square" anchor="t">
            <a:spAutoFit/>
          </a:bodyPr>
          <a:lstStyle/>
          <a:p>
            <a:pPr algn="ctr"/>
            <a:r>
              <a:rPr sz="3600" b="1">
                <a:solidFill>
                  <a:srgbClr val="FFFFFF"/>
                </a:solidFill>
                <a:latin typeface="微软雅黑"/>
                <a:ea typeface="微软雅黑"/>
              </a:rPr>
              <a:t>以循证护肺，以温情暖心</a:t>
            </a:r>
          </a:p>
        </p:txBody>
      </p:sp>
      <p:sp>
        <p:nvSpPr>
          <p:cNvPr id="8" name="TextBox 7"/>
          <p:cNvSpPr txBox="1"/>
          <p:nvPr/>
        </p:nvSpPr>
        <p:spPr>
          <a:xfrm>
            <a:off x="914400" y="3474720"/>
            <a:ext cx="10332720" cy="457200"/>
          </a:xfrm>
          <a:prstGeom prst="rect">
            <a:avLst/>
          </a:prstGeom>
          <a:noFill/>
        </p:spPr>
        <p:txBody>
          <a:bodyPr wrap="square" anchor="t">
            <a:spAutoFit/>
          </a:bodyPr>
          <a:lstStyle/>
          <a:p>
            <a:pPr algn="ctr"/>
            <a:r>
              <a:rPr sz="1800" b="0">
                <a:solidFill>
                  <a:srgbClr val="B0C4E8"/>
                </a:solidFill>
                <a:latin typeface="微软雅黑"/>
                <a:ea typeface="微软雅黑"/>
              </a:rPr>
              <a:t>感谢聆听  ·  敬请指正</a:t>
            </a:r>
          </a:p>
        </p:txBody>
      </p:sp>
      <p:sp>
        <p:nvSpPr>
          <p:cNvPr id="9" name="Rounded Rectangle 8"/>
          <p:cNvSpPr/>
          <p:nvPr/>
        </p:nvSpPr>
        <p:spPr>
          <a:xfrm>
            <a:off x="4572000" y="4754880"/>
            <a:ext cx="3017520" cy="457200"/>
          </a:xfrm>
          <a:prstGeom prst="round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4754880"/>
            <a:ext cx="3017520" cy="457200"/>
          </a:xfrm>
          <a:prstGeom prst="rect">
            <a:avLst/>
          </a:prstGeom>
          <a:noFill/>
        </p:spPr>
        <p:txBody>
          <a:bodyPr wrap="square" anchor="ctr">
            <a:spAutoFit/>
          </a:bodyPr>
          <a:lstStyle/>
          <a:p>
            <a:pPr algn="ctr"/>
            <a:r>
              <a:rPr sz="1400" b="1">
                <a:solidFill>
                  <a:srgbClr val="1E3A8A"/>
                </a:solidFill>
                <a:latin typeface="微软雅黑"/>
                <a:ea typeface="微软雅黑"/>
              </a:rPr>
              <a:t>时间：202X.XX.XX</a:t>
            </a:r>
          </a:p>
        </p:txBody>
      </p:sp>
      <p:sp>
        <p:nvSpPr>
          <p:cNvPr id="11" name="Rectangle 10"/>
          <p:cNvSpPr/>
          <p:nvPr/>
        </p:nvSpPr>
        <p:spPr>
          <a:xfrm>
            <a:off x="0" y="5486400"/>
            <a:ext cx="12191695" cy="1371600"/>
          </a:xfrm>
          <a:prstGeom prst="rect">
            <a:avLst/>
          </a:prstGeom>
          <a:solidFill>
            <a:srgbClr val="B8CB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5760720"/>
            <a:ext cx="822960" cy="109728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80" y="5486400"/>
            <a:ext cx="822960" cy="137160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103120" y="5943600"/>
            <a:ext cx="822960" cy="91440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0" y="5577840"/>
            <a:ext cx="822960" cy="128016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9120" y="5852160"/>
            <a:ext cx="822960" cy="100584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5394960"/>
            <a:ext cx="822960" cy="146304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75120" y="5760720"/>
            <a:ext cx="822960" cy="109728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863840" y="5486400"/>
            <a:ext cx="822960" cy="137160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0" y="5852160"/>
            <a:ext cx="822960" cy="100584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424160" y="5669280"/>
            <a:ext cx="822960" cy="1188720"/>
          </a:xfrm>
          <a:prstGeom prst="rect">
            <a:avLst/>
          </a:prstGeom>
          <a:solidFill>
            <a:srgbClr val="4A6A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